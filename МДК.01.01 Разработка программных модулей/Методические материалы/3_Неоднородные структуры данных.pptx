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2" r:id="rId1"/>
  </p:sldMasterIdLst>
  <p:notesMasterIdLst>
    <p:notesMasterId r:id="rId41"/>
  </p:notesMasterIdLst>
  <p:sldIdLst>
    <p:sldId id="256" r:id="rId2"/>
    <p:sldId id="304" r:id="rId3"/>
    <p:sldId id="305" r:id="rId4"/>
    <p:sldId id="310" r:id="rId5"/>
    <p:sldId id="311" r:id="rId6"/>
    <p:sldId id="312" r:id="rId7"/>
    <p:sldId id="313" r:id="rId8"/>
    <p:sldId id="314" r:id="rId9"/>
    <p:sldId id="315" r:id="rId10"/>
    <p:sldId id="319" r:id="rId11"/>
    <p:sldId id="316" r:id="rId12"/>
    <p:sldId id="320" r:id="rId13"/>
    <p:sldId id="322" r:id="rId14"/>
    <p:sldId id="337" r:id="rId15"/>
    <p:sldId id="340" r:id="rId16"/>
    <p:sldId id="339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297" r:id="rId26"/>
    <p:sldId id="298" r:id="rId27"/>
    <p:sldId id="299" r:id="rId28"/>
    <p:sldId id="301" r:id="rId29"/>
    <p:sldId id="300" r:id="rId30"/>
    <p:sldId id="302" r:id="rId31"/>
    <p:sldId id="303" r:id="rId32"/>
    <p:sldId id="329" r:id="rId33"/>
    <p:sldId id="341" r:id="rId34"/>
    <p:sldId id="331" r:id="rId35"/>
    <p:sldId id="332" r:id="rId36"/>
    <p:sldId id="333" r:id="rId37"/>
    <p:sldId id="334" r:id="rId38"/>
    <p:sldId id="335" r:id="rId39"/>
    <p:sldId id="336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98" autoAdjust="0"/>
    <p:restoredTop sz="95332" autoAdjust="0"/>
  </p:normalViewPr>
  <p:slideViewPr>
    <p:cSldViewPr snapToGrid="0">
      <p:cViewPr varScale="1">
        <p:scale>
          <a:sx n="82" d="100"/>
          <a:sy n="82" d="100"/>
        </p:scale>
        <p:origin x="610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97655C-3223-4DCF-AEA6-B4D7142DA757}" type="datetimeFigureOut">
              <a:rPr lang="ru-RU" smtClean="0"/>
              <a:pPr/>
              <a:t>07.10.2025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13581C-C697-414C-974B-B62F23E6CEC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3668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614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860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905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pPr/>
              <a:t>10/7/2025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095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178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717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218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pPr/>
              <a:t>10/7/2025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0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502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012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820808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0815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13385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293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pPr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3605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25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908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1297577"/>
            <a:ext cx="9724292" cy="2753259"/>
          </a:xfrm>
        </p:spPr>
        <p:txBody>
          <a:bodyPr/>
          <a:lstStyle/>
          <a:p>
            <a:r>
              <a:rPr lang="ru-RU" sz="4400" dirty="0"/>
              <a:t>Однородные и неоднородные структуры данных: </a:t>
            </a:r>
            <a:br>
              <a:rPr lang="ru-RU" sz="4400" dirty="0"/>
            </a:br>
            <a:r>
              <a:rPr lang="ru-RU" sz="4400" dirty="0"/>
              <a:t>структуры, перечисления, коллекции. 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07067" y="4226679"/>
            <a:ext cx="7766936" cy="1096899"/>
          </a:xfrm>
        </p:spPr>
        <p:txBody>
          <a:bodyPr>
            <a:normAutofit/>
          </a:bodyPr>
          <a:lstStyle/>
          <a:p>
            <a:r>
              <a:rPr lang="ru-RU" sz="2400" dirty="0">
                <a:latin typeface="+mj-lt"/>
              </a:rPr>
              <a:t>МДК.01.01 Разработка программных модулей</a:t>
            </a:r>
          </a:p>
        </p:txBody>
      </p:sp>
    </p:spTree>
    <p:extLst>
      <p:ext uri="{BB962C8B-B14F-4D97-AF65-F5344CB8AC3E}">
        <p14:creationId xmlns:p14="http://schemas.microsoft.com/office/powerpoint/2010/main" val="1440883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Перечисления. Структуры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latin typeface="+mj-lt"/>
              </a:rPr>
              <a:t>Раздел </a:t>
            </a:r>
            <a:r>
              <a:rPr lang="en-US" sz="2400" dirty="0">
                <a:latin typeface="+mj-lt"/>
              </a:rPr>
              <a:t>III</a:t>
            </a:r>
            <a:endParaRPr lang="ru-RU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03253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322700"/>
            <a:ext cx="8596668" cy="1320800"/>
          </a:xfrm>
        </p:spPr>
        <p:txBody>
          <a:bodyPr/>
          <a:lstStyle/>
          <a:p>
            <a:r>
              <a:rPr lang="ru-RU" dirty="0"/>
              <a:t>Перечисления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37189" y="1246190"/>
            <a:ext cx="9353356" cy="2799338"/>
          </a:xfrm>
        </p:spPr>
        <p:txBody>
          <a:bodyPr>
            <a:normAutofit/>
          </a:bodyPr>
          <a:lstStyle/>
          <a:p>
            <a:r>
              <a:rPr lang="ru-RU" sz="2400" dirty="0"/>
              <a:t>Кроме примитивных типов данных в языке программирования C# есть такой тип как </a:t>
            </a:r>
            <a:r>
              <a:rPr lang="ru-RU" sz="2400" b="1" dirty="0" err="1"/>
              <a:t>enum</a:t>
            </a:r>
            <a:r>
              <a:rPr lang="ru-RU" sz="2400" dirty="0"/>
              <a:t> или </a:t>
            </a:r>
            <a:r>
              <a:rPr lang="ru-RU" sz="2400" b="1" dirty="0"/>
              <a:t>перечисление</a:t>
            </a:r>
            <a:r>
              <a:rPr lang="ru-RU" sz="2400" dirty="0"/>
              <a:t>. </a:t>
            </a:r>
          </a:p>
          <a:p>
            <a:r>
              <a:rPr lang="ru-RU" sz="2400" dirty="0"/>
              <a:t>Перечисления представляют набор логически связанных констант.</a:t>
            </a:r>
          </a:p>
          <a:p>
            <a:r>
              <a:rPr lang="ru-RU" sz="2400" dirty="0"/>
              <a:t>Объявление перечисления происходит с помощью оператора </a:t>
            </a:r>
            <a:r>
              <a:rPr lang="ru-RU" sz="2400" b="1" dirty="0" err="1"/>
              <a:t>enum</a:t>
            </a:r>
            <a:r>
              <a:rPr lang="ru-RU" sz="2400" dirty="0"/>
              <a:t>, после которого идет название перечисления. Затем в фигурных скобках через запятую перечисляются константы перечисления.</a:t>
            </a:r>
          </a:p>
          <a:p>
            <a:endParaRPr lang="ru-RU" sz="2400" dirty="0"/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024" y="3927218"/>
            <a:ext cx="2913791" cy="2608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466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типа перечисления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449389"/>
            <a:ext cx="8596668" cy="2485302"/>
          </a:xfrm>
        </p:spPr>
        <p:txBody>
          <a:bodyPr>
            <a:normAutofit/>
          </a:bodyPr>
          <a:lstStyle/>
          <a:p>
            <a:r>
              <a:rPr lang="ru-RU" sz="2400" dirty="0"/>
              <a:t>Каждое перечисление фактически определяет </a:t>
            </a:r>
            <a:r>
              <a:rPr lang="ru-RU" sz="2400" b="1" dirty="0"/>
              <a:t>новый тип </a:t>
            </a:r>
            <a:r>
              <a:rPr lang="ru-RU" sz="2400" dirty="0"/>
              <a:t>данных, с помощью которых мы можем определять переменные, константы, параметры методов и т.д. </a:t>
            </a:r>
          </a:p>
          <a:p>
            <a:r>
              <a:rPr lang="ru-RU" sz="2400" dirty="0"/>
              <a:t>В качестве </a:t>
            </a:r>
            <a:r>
              <a:rPr lang="ru-RU" sz="2400" b="1" dirty="0"/>
              <a:t>значения</a:t>
            </a:r>
            <a:r>
              <a:rPr lang="ru-RU" sz="2400" dirty="0"/>
              <a:t> переменной, константы и параметра метода, которые представляют перечисление, должна выступать одна из констант этого перечисления, например: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460" y="4028497"/>
            <a:ext cx="5990337" cy="2556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574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3987" y="253928"/>
            <a:ext cx="4809068" cy="711200"/>
          </a:xfrm>
        </p:spPr>
        <p:txBody>
          <a:bodyPr>
            <a:normAutofit/>
          </a:bodyPr>
          <a:lstStyle/>
          <a:p>
            <a:r>
              <a:rPr lang="ru-RU" dirty="0"/>
              <a:t>Хранение состояния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1707" y="1343819"/>
            <a:ext cx="4691348" cy="3431381"/>
          </a:xfrm>
        </p:spPr>
        <p:txBody>
          <a:bodyPr>
            <a:normAutofit/>
          </a:bodyPr>
          <a:lstStyle/>
          <a:p>
            <a:r>
              <a:rPr lang="ru-RU" sz="2400" dirty="0"/>
              <a:t>Зачастую переменная перечисления выступает в качестве хранилища состояния, в зависимости от которого производятся определенные действия.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055" y="274673"/>
            <a:ext cx="6659417" cy="6417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742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0316" y="350982"/>
            <a:ext cx="8983902" cy="766618"/>
          </a:xfrm>
        </p:spPr>
        <p:txBody>
          <a:bodyPr>
            <a:normAutofit/>
          </a:bodyPr>
          <a:lstStyle/>
          <a:p>
            <a:r>
              <a:rPr lang="ru-RU" dirty="0"/>
              <a:t>Тип и значения констант перечисления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20316" y="1273900"/>
            <a:ext cx="8983902" cy="2540720"/>
          </a:xfrm>
        </p:spPr>
        <p:txBody>
          <a:bodyPr>
            <a:normAutofit/>
          </a:bodyPr>
          <a:lstStyle/>
          <a:p>
            <a:r>
              <a:rPr lang="ru-RU" sz="2400" dirty="0"/>
              <a:t>Константы перечисления могут иметь тип. Тип указывается после названия перечисления через двоеточие</a:t>
            </a:r>
          </a:p>
          <a:p>
            <a:r>
              <a:rPr lang="ru-RU" sz="2400" dirty="0"/>
              <a:t>Тип перечисления обязательно должен представлять целочисленный тип (</a:t>
            </a:r>
            <a:r>
              <a:rPr lang="ru-RU" sz="2400" dirty="0" err="1"/>
              <a:t>byte</a:t>
            </a:r>
            <a:r>
              <a:rPr lang="ru-RU" sz="2400" dirty="0"/>
              <a:t>, </a:t>
            </a:r>
            <a:r>
              <a:rPr lang="ru-RU" sz="2400" dirty="0" err="1"/>
              <a:t>sbyte</a:t>
            </a:r>
            <a:r>
              <a:rPr lang="ru-RU" sz="2400" dirty="0"/>
              <a:t>, </a:t>
            </a:r>
            <a:r>
              <a:rPr lang="ru-RU" sz="2400" dirty="0" err="1"/>
              <a:t>short</a:t>
            </a:r>
            <a:r>
              <a:rPr lang="ru-RU" sz="2400" dirty="0"/>
              <a:t>, </a:t>
            </a:r>
            <a:r>
              <a:rPr lang="ru-RU" sz="2400" dirty="0" err="1"/>
              <a:t>ushort</a:t>
            </a:r>
            <a:r>
              <a:rPr lang="ru-RU" sz="2400" dirty="0"/>
              <a:t>, </a:t>
            </a:r>
            <a:r>
              <a:rPr lang="ru-RU" sz="2400" dirty="0" err="1"/>
              <a:t>int</a:t>
            </a:r>
            <a:r>
              <a:rPr lang="ru-RU" sz="2400" dirty="0"/>
              <a:t>, </a:t>
            </a:r>
            <a:r>
              <a:rPr lang="ru-RU" sz="2400" dirty="0" err="1"/>
              <a:t>uint</a:t>
            </a:r>
            <a:r>
              <a:rPr lang="ru-RU" sz="2400" dirty="0"/>
              <a:t>, </a:t>
            </a:r>
            <a:r>
              <a:rPr lang="ru-RU" sz="2400" dirty="0" err="1"/>
              <a:t>long</a:t>
            </a:r>
            <a:r>
              <a:rPr lang="ru-RU" sz="2400" dirty="0"/>
              <a:t>, </a:t>
            </a:r>
            <a:r>
              <a:rPr lang="ru-RU" sz="2400" dirty="0" err="1"/>
              <a:t>ulong</a:t>
            </a:r>
            <a:r>
              <a:rPr lang="ru-RU" sz="2400" dirty="0"/>
              <a:t>). Если тип явным образом не указан, то по умолчанию используется тип </a:t>
            </a:r>
            <a:r>
              <a:rPr lang="ru-RU" sz="2400" b="1" dirty="0" err="1"/>
              <a:t>int</a:t>
            </a:r>
            <a:r>
              <a:rPr lang="ru-RU" sz="2400" dirty="0"/>
              <a:t>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915" y="3814620"/>
            <a:ext cx="2909367" cy="2692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387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249381"/>
            <a:ext cx="8596668" cy="1320800"/>
          </a:xfrm>
        </p:spPr>
        <p:txBody>
          <a:bodyPr/>
          <a:lstStyle/>
          <a:p>
            <a:r>
              <a:rPr lang="ru-RU" dirty="0"/>
              <a:t>Сопоставление элементов перечисления с константами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570181"/>
            <a:ext cx="9085502" cy="4701310"/>
          </a:xfrm>
        </p:spPr>
        <p:txBody>
          <a:bodyPr>
            <a:noAutofit/>
          </a:bodyPr>
          <a:lstStyle/>
          <a:p>
            <a:r>
              <a:rPr lang="ru-RU" sz="2400" dirty="0"/>
              <a:t>По умолчанию каждому элементу перечисления присваивается целочисленное значение, причем первый элемент будет иметь значение </a:t>
            </a:r>
            <a:r>
              <a:rPr lang="ru-RU" sz="2400" b="1" dirty="0"/>
              <a:t>0</a:t>
            </a:r>
            <a:r>
              <a:rPr lang="ru-RU" sz="2400" dirty="0"/>
              <a:t>, второй </a:t>
            </a:r>
            <a:r>
              <a:rPr lang="ru-RU" sz="2400" b="1" dirty="0"/>
              <a:t>1</a:t>
            </a:r>
            <a:r>
              <a:rPr lang="ru-RU" sz="2400" dirty="0"/>
              <a:t> и так далее. </a:t>
            </a:r>
          </a:p>
          <a:p>
            <a:r>
              <a:rPr lang="ru-RU" sz="2400" dirty="0"/>
              <a:t>Мы можем использовать операцию приведения, чтобы получить </a:t>
            </a:r>
            <a:r>
              <a:rPr lang="ru-RU" sz="2400" b="1" dirty="0"/>
              <a:t>целочисленное значение </a:t>
            </a:r>
            <a:r>
              <a:rPr lang="ru-RU" sz="2400" dirty="0"/>
              <a:t>константы перечисления:</a:t>
            </a:r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  <a:p>
            <a:r>
              <a:rPr lang="ru-RU" sz="2400" dirty="0"/>
              <a:t>В то же время, несмотря на то, что каждая константа сопоставляется с определенным числом, мы </a:t>
            </a:r>
            <a:r>
              <a:rPr lang="ru-RU" sz="2400" b="1" dirty="0"/>
              <a:t>НЕ можем </a:t>
            </a:r>
            <a:r>
              <a:rPr lang="ru-RU" sz="2400" dirty="0"/>
              <a:t>присвоить ей числовое значение: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696" y="3672036"/>
            <a:ext cx="6147845" cy="153696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696" y="6392145"/>
            <a:ext cx="4257866" cy="32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880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180514"/>
            <a:ext cx="8596668" cy="1320800"/>
          </a:xfrm>
        </p:spPr>
        <p:txBody>
          <a:bodyPr/>
          <a:lstStyle/>
          <a:p>
            <a:r>
              <a:rPr lang="ru-RU" dirty="0"/>
              <a:t>Указание значений элементов перечисления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640070"/>
            <a:ext cx="8596668" cy="970538"/>
          </a:xfrm>
        </p:spPr>
        <p:txBody>
          <a:bodyPr>
            <a:normAutofit/>
          </a:bodyPr>
          <a:lstStyle/>
          <a:p>
            <a:r>
              <a:rPr lang="ru-RU" sz="2400" dirty="0"/>
              <a:t>Можно также явным образом указать значения элементов, либо указав значение первого элемента: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209" y="3131507"/>
            <a:ext cx="3063074" cy="258092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9473" y="3129417"/>
            <a:ext cx="2744112" cy="2580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158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291726"/>
            <a:ext cx="8596668" cy="1010601"/>
          </a:xfrm>
        </p:spPr>
        <p:txBody>
          <a:bodyPr/>
          <a:lstStyle/>
          <a:p>
            <a:r>
              <a:rPr lang="ru-RU" dirty="0"/>
              <a:t>Структуры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107176"/>
            <a:ext cx="9334884" cy="1405116"/>
          </a:xfrm>
        </p:spPr>
        <p:txBody>
          <a:bodyPr>
            <a:normAutofit/>
          </a:bodyPr>
          <a:lstStyle/>
          <a:p>
            <a:r>
              <a:rPr lang="ru-RU" sz="2400" dirty="0"/>
              <a:t>Структуры представляют еще один способ создания собственных типов данных в C#. </a:t>
            </a:r>
            <a:endParaRPr lang="en-US" sz="2400" dirty="0"/>
          </a:p>
          <a:p>
            <a:r>
              <a:rPr lang="ru-RU" sz="2400" dirty="0"/>
              <a:t>Для определения структуры применяется ключевое слово </a:t>
            </a:r>
            <a:r>
              <a:rPr lang="ru-RU" sz="2400" b="1" dirty="0" err="1"/>
              <a:t>struct</a:t>
            </a:r>
            <a:r>
              <a:rPr lang="ru-RU" sz="2400" dirty="0"/>
              <a:t>: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489" y="2844853"/>
            <a:ext cx="3902226" cy="150085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376" y="2512292"/>
            <a:ext cx="5630680" cy="4209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077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25236"/>
          </a:xfrm>
        </p:spPr>
        <p:txBody>
          <a:bodyPr/>
          <a:lstStyle/>
          <a:p>
            <a:r>
              <a:rPr lang="ru-RU" dirty="0"/>
              <a:t>Описание структуры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634836"/>
            <a:ext cx="8596668" cy="1016720"/>
          </a:xfrm>
        </p:spPr>
        <p:txBody>
          <a:bodyPr>
            <a:normAutofit/>
          </a:bodyPr>
          <a:lstStyle/>
          <a:p>
            <a:r>
              <a:rPr lang="ru-RU" sz="2400" dirty="0"/>
              <a:t>Как и классы, структуры могут хранить состояние в виде полей (переменных) и определять поведение в виде методов. 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629" y="2660072"/>
            <a:ext cx="7677888" cy="350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436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Для чего используются структуры?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671062"/>
            <a:ext cx="8596668" cy="3880773"/>
          </a:xfrm>
        </p:spPr>
        <p:txBody>
          <a:bodyPr>
            <a:normAutofit/>
          </a:bodyPr>
          <a:lstStyle/>
          <a:p>
            <a:r>
              <a:rPr lang="ru-RU" sz="2400" dirty="0"/>
              <a:t>Тип структуры представляет собой </a:t>
            </a:r>
            <a:r>
              <a:rPr lang="ru-RU" sz="2400" b="1" dirty="0"/>
              <a:t>тип значения</a:t>
            </a:r>
            <a:r>
              <a:rPr lang="ru-RU" sz="2400" dirty="0"/>
              <a:t>, который может инкапсулировать данные и связанные функции. </a:t>
            </a:r>
            <a:br>
              <a:rPr lang="ru-RU" sz="2400" dirty="0"/>
            </a:br>
            <a:r>
              <a:rPr lang="ru-RU" sz="2400" dirty="0"/>
              <a:t>То есть переменная типа структуры содержит экземпляр этого типа.</a:t>
            </a:r>
          </a:p>
          <a:p>
            <a:r>
              <a:rPr lang="ru-RU" sz="2400" dirty="0"/>
              <a:t>Как правило, типы структуры используются для проектирования небольших </a:t>
            </a:r>
            <a:r>
              <a:rPr lang="ru-RU" sz="2400" b="1" dirty="0"/>
              <a:t>ориентированных на данные </a:t>
            </a:r>
            <a:r>
              <a:rPr lang="ru-RU" sz="2400" dirty="0"/>
              <a:t>типов, которые предоставляют минимум поведения или не предоставляют его вовсе.</a:t>
            </a:r>
          </a:p>
        </p:txBody>
      </p:sp>
    </p:spTree>
    <p:extLst>
      <p:ext uri="{BB962C8B-B14F-4D97-AF65-F5344CB8AC3E}">
        <p14:creationId xmlns:p14="http://schemas.microsoft.com/office/powerpoint/2010/main" val="1934111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25236"/>
          </a:xfrm>
        </p:spPr>
        <p:txBody>
          <a:bodyPr/>
          <a:lstStyle/>
          <a:p>
            <a:r>
              <a:rPr lang="ru-RU" dirty="0"/>
              <a:t>Обращение к элементам структуры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1771" y="1310908"/>
            <a:ext cx="8596668" cy="1746393"/>
          </a:xfrm>
        </p:spPr>
        <p:txBody>
          <a:bodyPr>
            <a:normAutofit/>
          </a:bodyPr>
          <a:lstStyle/>
          <a:p>
            <a:r>
              <a:rPr lang="ru-RU" sz="2400" dirty="0"/>
              <a:t>Для обращения к функциональности структуры - полям, методам и другим компонентам структуры применяется точечная нотация - после объекта структуры ставится точка, а затем указывается компонент структуры: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4455917"/>
            <a:ext cx="6288729" cy="218235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/>
          <a:srcRect b="6439"/>
          <a:stretch/>
        </p:blipFill>
        <p:spPr>
          <a:xfrm>
            <a:off x="677334" y="4302097"/>
            <a:ext cx="8301105" cy="239097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34" y="2879632"/>
            <a:ext cx="7198072" cy="126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079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C00000"/>
                </a:solidFill>
              </a:rPr>
              <a:t>Задача 1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675680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Опишите структуру для хранения данных о товарах (название товара, цена, бренд). Опишите массив товаров и заполните его сведениями о нескольких товарах.</a:t>
            </a:r>
          </a:p>
          <a:p>
            <a:pPr lvl="1"/>
            <a:r>
              <a:rPr lang="ru-RU" sz="2400" dirty="0"/>
              <a:t>Определите среднюю цену имеющихся в массиве товаров;</a:t>
            </a:r>
          </a:p>
          <a:p>
            <a:pPr lvl="1"/>
            <a:r>
              <a:rPr lang="ru-RU" sz="2400" dirty="0"/>
              <a:t>Организуйте выборку товаров определенного бренда;</a:t>
            </a:r>
            <a:endParaRPr lang="en-US" sz="2400" dirty="0"/>
          </a:p>
          <a:p>
            <a:pPr lvl="1"/>
            <a:r>
              <a:rPr lang="ru-RU" sz="2400" dirty="0"/>
              <a:t>Найдите товар с наименьшей ценой.</a:t>
            </a:r>
          </a:p>
        </p:txBody>
      </p:sp>
    </p:spTree>
    <p:extLst>
      <p:ext uri="{BB962C8B-B14F-4D97-AF65-F5344CB8AC3E}">
        <p14:creationId xmlns:p14="http://schemas.microsoft.com/office/powerpoint/2010/main" val="127405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5414805-B115-47E9-8C5E-A6EA2DCD47C0}"/>
              </a:ext>
            </a:extLst>
          </p:cNvPr>
          <p:cNvSpPr txBox="1"/>
          <p:nvPr/>
        </p:nvSpPr>
        <p:spPr>
          <a:xfrm>
            <a:off x="1285396" y="196881"/>
            <a:ext cx="10720874" cy="6661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22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public </a:t>
            </a:r>
            <a:r>
              <a:rPr lang="en-US" sz="22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enum</a:t>
            </a:r>
            <a:r>
              <a:rPr lang="en-US" sz="22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Brand</a:t>
            </a:r>
            <a:endParaRPr lang="ru-RU" sz="11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22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22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ru-RU" sz="22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Коровка = 1,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ru-RU" sz="22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Арнаут,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ru-RU" sz="22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Простоквашино,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ru-RU" sz="22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Колос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22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22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2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ublic struct Tovar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22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22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public string name;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22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public double price;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ru-RU" sz="22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22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public </a:t>
            </a:r>
            <a:r>
              <a:rPr lang="en-US" sz="2200" b="1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Brand</a:t>
            </a:r>
            <a:r>
              <a:rPr lang="en-US" sz="22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brand</a:t>
            </a:r>
            <a:r>
              <a:rPr lang="en-US" sz="22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2200" dirty="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endParaRPr lang="ru-RU" sz="2200" dirty="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indent="0" fontAlgn="auto">
              <a:lnSpc>
                <a:spcPct val="107000"/>
              </a:lnSpc>
              <a:buClrTx/>
              <a:buSzTx/>
              <a:buFontTx/>
              <a:buNone/>
              <a:tabLst/>
              <a:defRPr/>
            </a:pPr>
            <a:r>
              <a:rPr lang="en-US" sz="2200" dirty="0">
                <a:latin typeface="Consolas" panose="020B0609020204030204" pitchFamily="49" charset="0"/>
                <a:cs typeface="Times New Roman" panose="02020603050405020304" pitchFamily="18" charset="0"/>
              </a:rPr>
              <a:t>void Print(){</a:t>
            </a:r>
            <a:endParaRPr lang="ru-RU" sz="220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R="0" lvl="0" indent="0" fontAlgn="auto">
              <a:lnSpc>
                <a:spcPct val="107000"/>
              </a:lnSpc>
              <a:buClrTx/>
              <a:buSzTx/>
              <a:buFontTx/>
              <a:buNone/>
              <a:tabLst/>
              <a:defRPr/>
            </a:pPr>
            <a:r>
              <a:rPr lang="en-US" sz="2200" dirty="0">
                <a:latin typeface="Consolas" panose="020B0609020204030204" pitchFamily="49" charset="0"/>
                <a:cs typeface="Times New Roman" panose="02020603050405020304" pitchFamily="18" charset="0"/>
              </a:rPr>
              <a:t>     </a:t>
            </a:r>
            <a:r>
              <a:rPr lang="en-US" sz="22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Console.WriteLine</a:t>
            </a:r>
            <a:r>
              <a:rPr lang="en-US" sz="2200" dirty="0">
                <a:latin typeface="Consolas" panose="020B0609020204030204" pitchFamily="49" charset="0"/>
                <a:cs typeface="Times New Roman" panose="02020603050405020304" pitchFamily="18" charset="0"/>
              </a:rPr>
              <a:t>($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latin typeface="Consolas" panose="020B0609020204030204" pitchFamily="49" charset="0"/>
              </a:rPr>
              <a:t>Товар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:</a:t>
            </a:r>
            <a:r>
              <a:rPr lang="en-US" sz="2200" dirty="0">
                <a:latin typeface="Consolas" panose="020B0609020204030204" pitchFamily="49" charset="0"/>
                <a:cs typeface="Times New Roman" panose="02020603050405020304" pitchFamily="18" charset="0"/>
              </a:rPr>
              <a:t> {name} </a:t>
            </a:r>
            <a:r>
              <a:rPr lang="ru-RU" sz="2400" dirty="0">
                <a:solidFill>
                  <a:srgbClr val="A31515"/>
                </a:solidFill>
                <a:latin typeface="Consolas" panose="020B0609020204030204" pitchFamily="49" charset="0"/>
              </a:rPr>
              <a:t>Цена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:</a:t>
            </a:r>
            <a:r>
              <a:rPr lang="en-US" sz="2200" dirty="0">
                <a:latin typeface="Consolas" panose="020B0609020204030204" pitchFamily="49" charset="0"/>
                <a:cs typeface="Times New Roman" panose="02020603050405020304" pitchFamily="18" charset="0"/>
              </a:rPr>
              <a:t> {price} </a:t>
            </a:r>
            <a:br>
              <a:rPr lang="ru-RU" sz="2200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ru-RU" sz="2200" dirty="0">
                <a:latin typeface="Consolas" panose="020B0609020204030204" pitchFamily="49" charset="0"/>
                <a:cs typeface="Times New Roman" panose="02020603050405020304" pitchFamily="18" charset="0"/>
              </a:rPr>
              <a:t>     </a:t>
            </a:r>
            <a:r>
              <a:rPr lang="ru-RU" sz="2400" dirty="0">
                <a:solidFill>
                  <a:srgbClr val="A31515"/>
                </a:solidFill>
                <a:latin typeface="Consolas" panose="020B0609020204030204" pitchFamily="49" charset="0"/>
              </a:rPr>
              <a:t>Бренд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:</a:t>
            </a:r>
            <a:r>
              <a:rPr lang="en-US" sz="2200" dirty="0">
                <a:latin typeface="Consolas" panose="020B0609020204030204" pitchFamily="49" charset="0"/>
                <a:cs typeface="Times New Roman" panose="02020603050405020304" pitchFamily="18" charset="0"/>
              </a:rPr>
              <a:t> {brand}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200" dirty="0">
                <a:latin typeface="Consolas" panose="020B0609020204030204" pitchFamily="49" charset="0"/>
                <a:cs typeface="Times New Roman" panose="02020603050405020304" pitchFamily="18" charset="0"/>
              </a:rPr>
              <a:t>);</a:t>
            </a:r>
            <a:endParaRPr lang="ru-RU" sz="220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R="0" lvl="0" indent="0" fontAlgn="auto">
              <a:lnSpc>
                <a:spcPct val="107000"/>
              </a:lnSpc>
              <a:buClrTx/>
              <a:buSzTx/>
              <a:buFontTx/>
              <a:buNone/>
              <a:tabLst/>
              <a:defRPr/>
            </a:pPr>
            <a:r>
              <a:rPr lang="en-US" sz="2200" dirty="0">
                <a:latin typeface="Consolas" panose="020B0609020204030204" pitchFamily="49" charset="0"/>
                <a:cs typeface="Times New Roman" panose="02020603050405020304" pitchFamily="18" charset="0"/>
              </a:rPr>
              <a:t>   }</a:t>
            </a:r>
            <a:endParaRPr lang="ru-RU" sz="220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R="0" lvl="0" indent="0" fontAlgn="auto">
              <a:lnSpc>
                <a:spcPct val="107000"/>
              </a:lnSpc>
              <a:buClrTx/>
              <a:buSzTx/>
              <a:buFontTx/>
              <a:buNone/>
              <a:tabLst/>
              <a:defRPr/>
            </a:pPr>
            <a:r>
              <a:rPr lang="en-US" sz="2200" dirty="0">
                <a:latin typeface="Consolas" panose="020B0609020204030204" pitchFamily="49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65578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AD5C79-62BE-4E3F-9D4B-8B7E03BE3AFE}"/>
              </a:ext>
            </a:extLst>
          </p:cNvPr>
          <p:cNvSpPr txBox="1"/>
          <p:nvPr/>
        </p:nvSpPr>
        <p:spPr>
          <a:xfrm>
            <a:off x="608641" y="836346"/>
            <a:ext cx="8780107" cy="4844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Tovar[] T = new Tovar[4];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T[0] = new Tovar </a:t>
            </a:r>
            <a:r>
              <a:rPr lang="en-US" sz="2200" dirty="0">
                <a:solidFill>
                  <a:prstClr val="black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{name =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latin typeface="Consolas" panose="020B0609020204030204" pitchFamily="49" charset="0"/>
              </a:rPr>
              <a:t>Хлеб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price = 45.50, </a:t>
            </a: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brand = Brand.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Арнаут</a:t>
            </a:r>
            <a:r>
              <a:rPr lang="en-US" sz="2200" dirty="0">
                <a:solidFill>
                  <a:prstClr val="black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…</a:t>
            </a:r>
            <a:endParaRPr kumimoji="0" lang="ru-RU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double S = 0;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foreach (Tovar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el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in T) 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S +=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el.price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double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Averange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S/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T.Length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0331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27F0A1-1BF0-47B5-8881-49D20B5F07E2}"/>
              </a:ext>
            </a:extLst>
          </p:cNvPr>
          <p:cNvSpPr txBox="1"/>
          <p:nvPr/>
        </p:nvSpPr>
        <p:spPr>
          <a:xfrm>
            <a:off x="1119673" y="955341"/>
            <a:ext cx="6102220" cy="4154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 k = 0;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foreach (Tovar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el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in T) 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if (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el.brand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== Brand.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Арнаут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{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el.Print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k++;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}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19178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Коллекции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latin typeface="+mj-lt"/>
              </a:rPr>
              <a:t>Раздел </a:t>
            </a:r>
            <a:r>
              <a:rPr lang="en-US" sz="2400" dirty="0">
                <a:latin typeface="+mj-lt"/>
              </a:rPr>
              <a:t>IV</a:t>
            </a:r>
            <a:endParaRPr lang="ru-RU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03560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Коллекции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770171"/>
            <a:ext cx="8596668" cy="3880773"/>
          </a:xfrm>
        </p:spPr>
        <p:txBody>
          <a:bodyPr>
            <a:normAutofit/>
          </a:bodyPr>
          <a:lstStyle/>
          <a:p>
            <a:r>
              <a:rPr lang="ru-RU" sz="2400" dirty="0"/>
              <a:t>Хотя в языке C# есть массивы, которые хранят в себе наборы однотипных объектов, но работать с ними не всегда удобно. Например, массив хранит фиксированное количество объектов, однако что если мы заранее не знаем, сколько нам потребуется объектов? В этом случае намного удобнее применять коллекции. </a:t>
            </a:r>
          </a:p>
          <a:p>
            <a:r>
              <a:rPr lang="ru-RU" sz="2400" dirty="0"/>
              <a:t>Еще один плюс коллекций состоит в том, что некоторые из них реализуют стандартные структуры данных, например, </a:t>
            </a:r>
            <a:r>
              <a:rPr lang="ru-RU" sz="2400" b="1" dirty="0"/>
              <a:t>список,</a:t>
            </a:r>
            <a:r>
              <a:rPr lang="ru-RU" sz="2400" dirty="0"/>
              <a:t> </a:t>
            </a:r>
            <a:r>
              <a:rPr lang="ru-RU" sz="2400" b="1" dirty="0"/>
              <a:t>стек, очередь, словарь,</a:t>
            </a:r>
            <a:r>
              <a:rPr lang="ru-RU" sz="2400" dirty="0"/>
              <a:t> которые могут пригодиться для решения различных специальных задач.</a:t>
            </a:r>
          </a:p>
        </p:txBody>
      </p:sp>
    </p:spTree>
    <p:extLst>
      <p:ext uri="{BB962C8B-B14F-4D97-AF65-F5344CB8AC3E}">
        <p14:creationId xmlns:p14="http://schemas.microsoft.com/office/powerpoint/2010/main" val="34482848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3" y="508410"/>
            <a:ext cx="8596668" cy="645595"/>
          </a:xfrm>
        </p:spPr>
        <p:txBody>
          <a:bodyPr/>
          <a:lstStyle/>
          <a:p>
            <a:r>
              <a:rPr lang="ru-RU" dirty="0"/>
              <a:t>Объявление списка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3" y="1343621"/>
            <a:ext cx="8956193" cy="3214254"/>
          </a:xfrm>
        </p:spPr>
        <p:txBody>
          <a:bodyPr>
            <a:normAutofit lnSpcReduction="10000"/>
          </a:bodyPr>
          <a:lstStyle/>
          <a:p>
            <a:r>
              <a:rPr lang="ru-RU" sz="2400" dirty="0"/>
              <a:t>Класс </a:t>
            </a:r>
            <a:r>
              <a:rPr lang="ru-RU" sz="2400" b="1" dirty="0" err="1"/>
              <a:t>List</a:t>
            </a:r>
            <a:r>
              <a:rPr lang="ru-RU" sz="2400" b="1" dirty="0"/>
              <a:t>&lt;T&gt; </a:t>
            </a:r>
            <a:r>
              <a:rPr lang="ru-RU" sz="2400" dirty="0"/>
              <a:t>из пространства имен </a:t>
            </a:r>
            <a:r>
              <a:rPr lang="ru-RU" sz="2400" dirty="0" err="1"/>
              <a:t>System.Collections.Generic</a:t>
            </a:r>
            <a:r>
              <a:rPr lang="ru-RU" sz="2400" dirty="0"/>
              <a:t> представляет простейший список однотипных объектов. </a:t>
            </a:r>
          </a:p>
          <a:p>
            <a:r>
              <a:rPr lang="ru-RU" sz="2400" dirty="0"/>
              <a:t>Класс </a:t>
            </a:r>
            <a:r>
              <a:rPr lang="ru-RU" sz="2400" b="1" dirty="0" err="1"/>
              <a:t>List</a:t>
            </a:r>
            <a:r>
              <a:rPr lang="ru-RU" sz="2400" b="1" dirty="0"/>
              <a:t> </a:t>
            </a:r>
            <a:r>
              <a:rPr lang="ru-RU" sz="2400" dirty="0"/>
              <a:t>типизируется типом, объекты которого будут хранится в списке.</a:t>
            </a:r>
          </a:p>
          <a:p>
            <a:r>
              <a:rPr lang="ru-RU" sz="2600" dirty="0"/>
              <a:t>Можно сразу при создании списка инициализировать его начальными значениями. В этом случае элементы списка помещаются после вызова конструктора в фигурных скобках.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964" y="4747491"/>
            <a:ext cx="5481781" cy="35162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964" y="5377160"/>
            <a:ext cx="8779163" cy="32683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964" y="5981239"/>
            <a:ext cx="6162675" cy="3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8992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Обращение к элементам списка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677013"/>
            <a:ext cx="8596668" cy="1256866"/>
          </a:xfrm>
        </p:spPr>
        <p:txBody>
          <a:bodyPr>
            <a:normAutofit/>
          </a:bodyPr>
          <a:lstStyle/>
          <a:p>
            <a:r>
              <a:rPr lang="ru-RU" sz="2400" dirty="0"/>
              <a:t>Как и массивы, списки поддерживают индексы, с помощью которых можно обратиться к определенным элементам.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687" y="2846384"/>
            <a:ext cx="8324596" cy="2155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5410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Длина списка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624881"/>
            <a:ext cx="8596668" cy="961302"/>
          </a:xfrm>
        </p:spPr>
        <p:txBody>
          <a:bodyPr>
            <a:normAutofit/>
          </a:bodyPr>
          <a:lstStyle/>
          <a:p>
            <a:r>
              <a:rPr lang="ru-RU" sz="2400" dirty="0"/>
              <a:t>С помощью свойства </a:t>
            </a:r>
            <a:r>
              <a:rPr lang="ru-RU" sz="2400" b="1" dirty="0" err="1"/>
              <a:t>Count</a:t>
            </a:r>
            <a:r>
              <a:rPr lang="ru-RU" sz="2400" dirty="0"/>
              <a:t> можно получить длину списка.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12" y="2417634"/>
            <a:ext cx="8047660" cy="71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6513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265279"/>
            <a:ext cx="8596668" cy="861557"/>
          </a:xfrm>
        </p:spPr>
        <p:txBody>
          <a:bodyPr/>
          <a:lstStyle/>
          <a:p>
            <a:r>
              <a:rPr lang="ru-RU" dirty="0"/>
              <a:t>Перебор элементов списка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265743"/>
            <a:ext cx="8596668" cy="933593"/>
          </a:xfrm>
        </p:spPr>
        <p:txBody>
          <a:bodyPr>
            <a:normAutofit/>
          </a:bodyPr>
          <a:lstStyle/>
          <a:p>
            <a:r>
              <a:rPr lang="ru-RU" sz="2400" dirty="0"/>
              <a:t>C# позволяет осуществить перебор списка с помощью стандартного цикла </a:t>
            </a:r>
            <a:r>
              <a:rPr lang="ru-RU" sz="2400" b="1" dirty="0" err="1"/>
              <a:t>foreach</a:t>
            </a:r>
            <a:r>
              <a:rPr lang="ru-RU" sz="2400" b="1" dirty="0"/>
              <a:t> </a:t>
            </a:r>
            <a:r>
              <a:rPr lang="ru-RU" sz="2400" dirty="0"/>
              <a:t>и других операторов цикла.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686" y="2338242"/>
            <a:ext cx="7683896" cy="210468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685" y="4651045"/>
            <a:ext cx="7683895" cy="2130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1691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Добавление в список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221" y="1590668"/>
            <a:ext cx="9091018" cy="4460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2246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120072"/>
            <a:ext cx="8596668" cy="757382"/>
          </a:xfrm>
        </p:spPr>
        <p:txBody>
          <a:bodyPr/>
          <a:lstStyle/>
          <a:p>
            <a:r>
              <a:rPr lang="ru-RU" dirty="0"/>
              <a:t>Удаление из списка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822037"/>
            <a:ext cx="11992211" cy="591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1721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44826" y="193965"/>
            <a:ext cx="8596668" cy="831273"/>
          </a:xfrm>
        </p:spPr>
        <p:txBody>
          <a:bodyPr/>
          <a:lstStyle/>
          <a:p>
            <a:r>
              <a:rPr lang="ru-RU" dirty="0"/>
              <a:t>Поиск и проверка элементов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444" y="1115396"/>
            <a:ext cx="10874520" cy="574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3422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Словари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441043"/>
            <a:ext cx="8596668" cy="2319046"/>
          </a:xfrm>
        </p:spPr>
        <p:txBody>
          <a:bodyPr>
            <a:normAutofit lnSpcReduction="10000"/>
          </a:bodyPr>
          <a:lstStyle/>
          <a:p>
            <a:r>
              <a:rPr lang="ru-RU" sz="2400" dirty="0"/>
              <a:t>Еще один распространенный тип коллекции представляют словари. Словарь хранит объекты, которые представляют пару ключ-значение. </a:t>
            </a:r>
          </a:p>
          <a:p>
            <a:r>
              <a:rPr lang="ru-RU" sz="2400" dirty="0"/>
              <a:t>Класс словаря </a:t>
            </a:r>
            <a:r>
              <a:rPr lang="ru-RU" sz="2400" b="1" dirty="0" err="1"/>
              <a:t>Dictionary</a:t>
            </a:r>
            <a:r>
              <a:rPr lang="ru-RU" sz="2400" b="1" dirty="0"/>
              <a:t>&lt;K, V&gt; </a:t>
            </a:r>
            <a:r>
              <a:rPr lang="ru-RU" sz="2400" dirty="0"/>
              <a:t>типизируется двумя типами: параметр </a:t>
            </a:r>
            <a:r>
              <a:rPr lang="ru-RU" sz="2400" b="1" dirty="0"/>
              <a:t>K</a:t>
            </a:r>
            <a:r>
              <a:rPr lang="ru-RU" sz="2400" dirty="0"/>
              <a:t> представляет тип ключей, а параметр </a:t>
            </a:r>
            <a:r>
              <a:rPr lang="ru-RU" sz="2400" b="1" dirty="0"/>
              <a:t>V</a:t>
            </a:r>
            <a:r>
              <a:rPr lang="ru-RU" sz="2400" dirty="0"/>
              <a:t> предоставляет тип значений.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137" y="4068590"/>
            <a:ext cx="9494779" cy="36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0996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406400"/>
            <a:ext cx="8596668" cy="766618"/>
          </a:xfrm>
        </p:spPr>
        <p:txBody>
          <a:bodyPr/>
          <a:lstStyle/>
          <a:p>
            <a:r>
              <a:rPr lang="ru-RU" dirty="0"/>
              <a:t>Инициализация словаря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173018"/>
            <a:ext cx="8596668" cy="2891702"/>
          </a:xfrm>
        </p:spPr>
        <p:txBody>
          <a:bodyPr>
            <a:normAutofit lnSpcReduction="10000"/>
          </a:bodyPr>
          <a:lstStyle/>
          <a:p>
            <a:r>
              <a:rPr lang="ru-RU" sz="2400" dirty="0"/>
              <a:t>Каждый элемент представляет два значения: первое значение представляет ключ, а второе значение - собственно значение элемента. </a:t>
            </a:r>
          </a:p>
          <a:p>
            <a:r>
              <a:rPr lang="ru-RU" sz="2400" dirty="0"/>
              <a:t>Поскольку при объявлении словаря </a:t>
            </a:r>
            <a:r>
              <a:rPr lang="ru-RU" sz="2400" dirty="0" err="1"/>
              <a:t>people</a:t>
            </a:r>
            <a:r>
              <a:rPr lang="ru-RU" sz="2400" dirty="0"/>
              <a:t> для ключей указан тип </a:t>
            </a:r>
            <a:r>
              <a:rPr lang="ru-RU" sz="2400" dirty="0" err="1"/>
              <a:t>int</a:t>
            </a:r>
            <a:r>
              <a:rPr lang="ru-RU" sz="2400" dirty="0"/>
              <a:t>, а для значений - тип </a:t>
            </a:r>
            <a:r>
              <a:rPr lang="ru-RU" sz="2400" dirty="0" err="1"/>
              <a:t>string</a:t>
            </a:r>
            <a:r>
              <a:rPr lang="ru-RU" sz="2400" dirty="0"/>
              <a:t>, то в элементе словаря сначала указывается число </a:t>
            </a:r>
            <a:r>
              <a:rPr lang="ru-RU" sz="2400" dirty="0" err="1"/>
              <a:t>int</a:t>
            </a:r>
            <a:r>
              <a:rPr lang="ru-RU" sz="2400" dirty="0"/>
              <a:t>, а затем строка. </a:t>
            </a:r>
          </a:p>
          <a:p>
            <a:r>
              <a:rPr lang="ru-RU" sz="2400" dirty="0"/>
              <a:t>Затем по ключу элемента мы сможем получить его значение. 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59" y="4064720"/>
            <a:ext cx="7221220" cy="238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1762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406400"/>
            <a:ext cx="8596668" cy="766618"/>
          </a:xfrm>
        </p:spPr>
        <p:txBody>
          <a:bodyPr/>
          <a:lstStyle/>
          <a:p>
            <a:r>
              <a:rPr lang="ru-RU" dirty="0"/>
              <a:t>Инициализация словаря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347790"/>
            <a:ext cx="8596668" cy="647266"/>
          </a:xfrm>
        </p:spPr>
        <p:txBody>
          <a:bodyPr>
            <a:normAutofit/>
          </a:bodyPr>
          <a:lstStyle/>
          <a:p>
            <a:r>
              <a:rPr lang="ru-RU" sz="2400" dirty="0"/>
              <a:t>Также мы можем применять другой способ инициализации: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241" y="1995056"/>
            <a:ext cx="6625359" cy="216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0998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341745"/>
            <a:ext cx="8596668" cy="775855"/>
          </a:xfrm>
        </p:spPr>
        <p:txBody>
          <a:bodyPr/>
          <a:lstStyle/>
          <a:p>
            <a:r>
              <a:rPr lang="ru-RU" dirty="0"/>
              <a:t>Перебор словаря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3" y="1366261"/>
            <a:ext cx="9002375" cy="1450830"/>
          </a:xfrm>
        </p:spPr>
        <p:txBody>
          <a:bodyPr>
            <a:noAutofit/>
          </a:bodyPr>
          <a:lstStyle/>
          <a:p>
            <a:r>
              <a:rPr lang="ru-RU" sz="2400" dirty="0"/>
              <a:t>При переборе каждый элемент будет помещаться в переменную, которая представляет тип </a:t>
            </a:r>
            <a:r>
              <a:rPr lang="ru-RU" sz="2400" b="1" dirty="0" err="1"/>
              <a:t>KeyValuePair</a:t>
            </a:r>
            <a:r>
              <a:rPr lang="ru-RU" sz="2400" dirty="0"/>
              <a:t>, соответственно с помощью свойств </a:t>
            </a:r>
            <a:r>
              <a:rPr lang="ru-RU" sz="2400" b="1" dirty="0" err="1"/>
              <a:t>Key</a:t>
            </a:r>
            <a:r>
              <a:rPr lang="ru-RU" sz="2400" dirty="0"/>
              <a:t> и </a:t>
            </a:r>
            <a:r>
              <a:rPr lang="ru-RU" sz="2400" b="1" dirty="0" err="1"/>
              <a:t>Value</a:t>
            </a:r>
            <a:r>
              <a:rPr lang="ru-RU" sz="2400" dirty="0"/>
              <a:t> мы сможем получить ключ и значение элемента. 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432" y="3065752"/>
            <a:ext cx="8596708" cy="328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6007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212437"/>
            <a:ext cx="8596668" cy="655782"/>
          </a:xfrm>
        </p:spPr>
        <p:txBody>
          <a:bodyPr/>
          <a:lstStyle/>
          <a:p>
            <a:r>
              <a:rPr lang="ru-RU" dirty="0"/>
              <a:t>Обращение к элементам словаря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933" y="1109806"/>
            <a:ext cx="6009793" cy="553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7498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50" y="212435"/>
            <a:ext cx="11874550" cy="6645565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70141" y="480291"/>
            <a:ext cx="4285817" cy="748145"/>
          </a:xfrm>
        </p:spPr>
        <p:txBody>
          <a:bodyPr/>
          <a:lstStyle/>
          <a:p>
            <a:r>
              <a:rPr lang="ru-RU" dirty="0"/>
              <a:t>Методы словаря</a:t>
            </a:r>
          </a:p>
        </p:txBody>
      </p:sp>
    </p:spTree>
    <p:extLst>
      <p:ext uri="{BB962C8B-B14F-4D97-AF65-F5344CB8AC3E}">
        <p14:creationId xmlns:p14="http://schemas.microsoft.com/office/powerpoint/2010/main" val="26180952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92727"/>
          </a:xfrm>
        </p:spPr>
        <p:txBody>
          <a:bodyPr/>
          <a:lstStyle/>
          <a:p>
            <a:r>
              <a:rPr lang="ru-RU" b="1" dirty="0">
                <a:solidFill>
                  <a:srgbClr val="C00000"/>
                </a:solidFill>
              </a:rPr>
              <a:t>Задача 2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550989"/>
            <a:ext cx="8596668" cy="3880773"/>
          </a:xfrm>
        </p:spPr>
        <p:txBody>
          <a:bodyPr>
            <a:normAutofit/>
          </a:bodyPr>
          <a:lstStyle/>
          <a:p>
            <a:r>
              <a:rPr lang="ru-RU" sz="2400" dirty="0"/>
              <a:t>Описать структуру </a:t>
            </a:r>
            <a:r>
              <a:rPr lang="en-US" sz="2400" dirty="0">
                <a:latin typeface="Consolas" panose="020B0609020204030204" pitchFamily="49" charset="0"/>
              </a:rPr>
              <a:t>Student</a:t>
            </a:r>
            <a:r>
              <a:rPr lang="ru-RU" sz="2400" dirty="0"/>
              <a:t>, имеющую поля: ФИО, номер группы, успеваемость (массив оценок за три экзамена текущей сессии);</a:t>
            </a:r>
          </a:p>
          <a:p>
            <a:r>
              <a:rPr lang="ru-RU" sz="2400" dirty="0"/>
              <a:t>Объявить список студентов и организовать добавление данных в список с клавиатуры;</a:t>
            </a:r>
          </a:p>
          <a:p>
            <a:r>
              <a:rPr lang="ru-RU" sz="2400" dirty="0"/>
              <a:t>Рассчитать средний балл каждого студента и найти студента с наибольшим средним баллом;</a:t>
            </a:r>
          </a:p>
          <a:p>
            <a:r>
              <a:rPr lang="ru-RU" sz="2400" dirty="0"/>
              <a:t>Организовать выборку студентов, которым необходимо назначить стипендию (сессия сдана без двоек и троек).</a:t>
            </a:r>
          </a:p>
        </p:txBody>
      </p:sp>
    </p:spTree>
    <p:extLst>
      <p:ext uri="{BB962C8B-B14F-4D97-AF65-F5344CB8AC3E}">
        <p14:creationId xmlns:p14="http://schemas.microsoft.com/office/powerpoint/2010/main" val="28942262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F5510DD-C021-4E4B-B9D4-D603BA86D2BA}"/>
              </a:ext>
            </a:extLst>
          </p:cNvPr>
          <p:cNvSpPr txBox="1"/>
          <p:nvPr/>
        </p:nvSpPr>
        <p:spPr>
          <a:xfrm>
            <a:off x="1268963" y="891125"/>
            <a:ext cx="6102220" cy="4805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List&lt;Student&gt; Stud = new List&lt;</a:t>
            </a:r>
            <a:r>
              <a:rPr lang="en-US" sz="1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Stdent</a:t>
            </a: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&gt;();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Student temp = new Student();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Console</a:t>
            </a:r>
            <a:r>
              <a:rPr lang="ru-RU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WriteLine</a:t>
            </a:r>
            <a:r>
              <a:rPr lang="ru-RU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(“Введите фамилию студента:”);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temp.fio</a:t>
            </a: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1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Console.ReadLine</a:t>
            </a: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Console</a:t>
            </a:r>
            <a:r>
              <a:rPr lang="ru-RU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WriteLine</a:t>
            </a:r>
            <a:r>
              <a:rPr lang="ru-RU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(“Выбрать номер группы из списка групп”);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 n = </a:t>
            </a:r>
            <a:r>
              <a:rPr lang="en-US" sz="1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int.Parse</a:t>
            </a: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Console.ReadLine</a:t>
            </a: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());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temp.group</a:t>
            </a: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(Group)n;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…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Stud.Add</a:t>
            </a: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(temp);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 Sum = 0;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foreach (var student in Stud)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 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Sum = </a:t>
            </a:r>
            <a:r>
              <a:rPr lang="en-US" sz="1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student.ball</a:t>
            </a: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[0] + </a:t>
            </a:r>
            <a:r>
              <a:rPr lang="en-US" sz="1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student.ball</a:t>
            </a: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+ </a:t>
            </a:r>
            <a:r>
              <a:rPr lang="en-US" sz="1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student.ball</a:t>
            </a: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[2];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Double Sr = Sum/3.0;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Console.WriteLine</a:t>
            </a: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($“</a:t>
            </a:r>
            <a:r>
              <a:rPr lang="ru-RU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Средний балл студента</a:t>
            </a: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{ </a:t>
            </a:r>
            <a:r>
              <a:rPr lang="en-US" sz="1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student.fio</a:t>
            </a: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 {Sr}”);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77204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6878EA-A837-4D7E-9D85-F262B03F8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20919"/>
            <a:ext cx="8596668" cy="577362"/>
          </a:xfrm>
        </p:spPr>
        <p:txBody>
          <a:bodyPr>
            <a:noAutofit/>
          </a:bodyPr>
          <a:lstStyle/>
          <a:p>
            <a:r>
              <a:rPr lang="ru-RU" dirty="0"/>
              <a:t>LINQ – язык запросов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866E88-561D-4F24-9076-E51668BBC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007" y="1228605"/>
            <a:ext cx="9039321" cy="5629395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ru-RU" sz="2400" b="1" i="0" dirty="0">
                <a:solidFill>
                  <a:srgbClr val="000000"/>
                </a:solidFill>
                <a:effectLst/>
                <a:latin typeface="-apple-system"/>
              </a:rPr>
              <a:t>LINQ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-apple-system"/>
              </a:rPr>
              <a:t> (Language-Integrated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-apple-system"/>
              </a:rPr>
              <a:t>Query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-apple-system"/>
              </a:rPr>
              <a:t>) представляет простой и удобный язык запросов к источнику данных. В качестве источника данных может выступать объект, реализующий интерфейс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-apple-system"/>
              </a:rPr>
              <a:t>IEnumerable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-apple-system"/>
              </a:rPr>
              <a:t> (например, стандартные коллекции, массивы), набор данных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-apple-system"/>
              </a:rPr>
              <a:t>DataSet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-apple-system"/>
              </a:rPr>
              <a:t>, документ XML. Но вне зависимости от типа источника LINQ позволяет применить ко всем один и тот же подход для выборки данных.</a:t>
            </a:r>
          </a:p>
          <a:p>
            <a:pPr marL="0" indent="0" algn="l">
              <a:buNone/>
            </a:pPr>
            <a:r>
              <a:rPr lang="ru-RU" sz="2400" b="1" i="0" dirty="0">
                <a:solidFill>
                  <a:srgbClr val="C00000"/>
                </a:solidFill>
                <a:effectLst/>
                <a:latin typeface="-apple-system"/>
              </a:rPr>
              <a:t>Существует несколько разновидностей LINQ: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ru-RU" sz="2400" b="1" i="0" dirty="0">
                <a:solidFill>
                  <a:srgbClr val="000000"/>
                </a:solidFill>
                <a:effectLst/>
                <a:latin typeface="-apple-system"/>
              </a:rPr>
              <a:t>LINQ </a:t>
            </a:r>
            <a:r>
              <a:rPr lang="ru-RU" sz="2400" b="1" i="0" dirty="0" err="1">
                <a:solidFill>
                  <a:srgbClr val="000000"/>
                </a:solidFill>
                <a:effectLst/>
                <a:latin typeface="-apple-system"/>
              </a:rPr>
              <a:t>to</a:t>
            </a:r>
            <a:r>
              <a:rPr lang="ru-RU" sz="2400" b="1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ru-RU" sz="2400" b="1" i="0" dirty="0" err="1">
                <a:solidFill>
                  <a:srgbClr val="000000"/>
                </a:solidFill>
                <a:effectLst/>
                <a:latin typeface="-apple-system"/>
              </a:rPr>
              <a:t>Objects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-apple-system"/>
              </a:rPr>
              <a:t>: применяется для работы с массивами и коллекциями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ru-RU" sz="2400" b="1" i="0" dirty="0">
                <a:solidFill>
                  <a:srgbClr val="000000"/>
                </a:solidFill>
                <a:effectLst/>
                <a:latin typeface="-apple-system"/>
              </a:rPr>
              <a:t>LINQ </a:t>
            </a:r>
            <a:r>
              <a:rPr lang="ru-RU" sz="2400" b="1" i="0" dirty="0" err="1">
                <a:solidFill>
                  <a:srgbClr val="000000"/>
                </a:solidFill>
                <a:effectLst/>
                <a:latin typeface="-apple-system"/>
              </a:rPr>
              <a:t>to</a:t>
            </a:r>
            <a:r>
              <a:rPr lang="ru-RU" sz="2400" b="1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ru-RU" sz="2400" b="1" i="0" dirty="0" err="1">
                <a:solidFill>
                  <a:srgbClr val="000000"/>
                </a:solidFill>
                <a:effectLst/>
                <a:latin typeface="-apple-system"/>
              </a:rPr>
              <a:t>Entities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-apple-system"/>
              </a:rPr>
              <a:t>: используется при обращении к базам данных через технологию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-apple-system"/>
              </a:rPr>
              <a:t>Entity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-apple-system"/>
              </a:rPr>
              <a:t> Framework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ru-RU" sz="2400" b="1" i="0" dirty="0">
                <a:solidFill>
                  <a:srgbClr val="000000"/>
                </a:solidFill>
                <a:effectLst/>
                <a:latin typeface="-apple-system"/>
              </a:rPr>
              <a:t>LINQ </a:t>
            </a:r>
            <a:r>
              <a:rPr lang="ru-RU" sz="2400" b="1" i="0" dirty="0" err="1">
                <a:solidFill>
                  <a:srgbClr val="000000"/>
                </a:solidFill>
                <a:effectLst/>
                <a:latin typeface="-apple-system"/>
              </a:rPr>
              <a:t>to</a:t>
            </a:r>
            <a:r>
              <a:rPr lang="ru-RU" sz="2400" b="1" i="0" dirty="0">
                <a:solidFill>
                  <a:srgbClr val="000000"/>
                </a:solidFill>
                <a:effectLst/>
                <a:latin typeface="-apple-system"/>
              </a:rPr>
              <a:t> XML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-apple-system"/>
              </a:rPr>
              <a:t>: применяется при работе с файлами XML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ru-RU" sz="2400" b="1" i="0" dirty="0">
                <a:solidFill>
                  <a:srgbClr val="000000"/>
                </a:solidFill>
                <a:effectLst/>
                <a:latin typeface="-apple-system"/>
              </a:rPr>
              <a:t>LINQ </a:t>
            </a:r>
            <a:r>
              <a:rPr lang="ru-RU" sz="2400" b="1" i="0" dirty="0" err="1">
                <a:solidFill>
                  <a:srgbClr val="000000"/>
                </a:solidFill>
                <a:effectLst/>
                <a:latin typeface="-apple-system"/>
              </a:rPr>
              <a:t>to</a:t>
            </a:r>
            <a:r>
              <a:rPr lang="ru-RU" sz="2400" b="1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ru-RU" sz="2400" b="1" i="0" dirty="0" err="1">
                <a:solidFill>
                  <a:srgbClr val="000000"/>
                </a:solidFill>
                <a:effectLst/>
                <a:latin typeface="-apple-system"/>
              </a:rPr>
              <a:t>DataSet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-apple-system"/>
              </a:rPr>
              <a:t>: применяется при работе с объектом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-apple-system"/>
              </a:rPr>
              <a:t>DataSet</a:t>
            </a:r>
            <a:endParaRPr lang="ru-RU" sz="2400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Font typeface="Wingdings" panose="05000000000000000000" pitchFamily="2" charset="2"/>
              <a:buChar char="§"/>
            </a:pPr>
            <a:r>
              <a:rPr lang="ru-RU" sz="2400" b="1" i="0" dirty="0" err="1">
                <a:solidFill>
                  <a:srgbClr val="000000"/>
                </a:solidFill>
                <a:effectLst/>
                <a:latin typeface="-apple-system"/>
              </a:rPr>
              <a:t>Parallel</a:t>
            </a:r>
            <a:r>
              <a:rPr lang="ru-RU" sz="2400" b="1" i="0" dirty="0">
                <a:solidFill>
                  <a:srgbClr val="000000"/>
                </a:solidFill>
                <a:effectLst/>
                <a:latin typeface="-apple-system"/>
              </a:rPr>
              <a:t> LINQ (PLINQ)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-apple-system"/>
              </a:rPr>
              <a:t>: используется для выполнения параллельных запросов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14021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C47AD8-CD15-45BF-B629-4DC02BF28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897" y="413851"/>
            <a:ext cx="8596668" cy="1022226"/>
          </a:xfrm>
        </p:spPr>
        <p:txBody>
          <a:bodyPr/>
          <a:lstStyle/>
          <a:p>
            <a:r>
              <a:rPr lang="ru-RU" dirty="0"/>
              <a:t>Стандартный способ поиска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16C5F0-6C18-4259-8D06-0248D525F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952" y="1184031"/>
            <a:ext cx="8695266" cy="875678"/>
          </a:xfrm>
        </p:spPr>
        <p:txBody>
          <a:bodyPr>
            <a:normAutofit/>
          </a:bodyPr>
          <a:lstStyle/>
          <a:p>
            <a:r>
              <a:rPr lang="ru-RU" sz="2400" b="0" i="0" dirty="0">
                <a:solidFill>
                  <a:srgbClr val="000000"/>
                </a:solidFill>
                <a:effectLst/>
                <a:latin typeface="-apple-system"/>
              </a:rPr>
              <a:t>Выберем из массива строки, которые начинаются букву "T", и отсортируем полученный список:</a:t>
            </a:r>
            <a:endParaRPr lang="ru-RU"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C77EBCD-A009-41C4-9B2B-DEE6CDFBA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897" y="2035566"/>
            <a:ext cx="8780881" cy="4822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4758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25582C-6B94-49EB-B5E0-B6D646D6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Способы работы с коллекциями с помощью </a:t>
            </a:r>
            <a:r>
              <a:rPr lang="en-US" dirty="0"/>
              <a:t>LINQ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C22D9C-48FA-4953-A25D-4F3CAB0F6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ru-RU" sz="2400" b="0" i="0" dirty="0">
                <a:solidFill>
                  <a:srgbClr val="000000"/>
                </a:solidFill>
                <a:effectLst/>
                <a:latin typeface="-apple-system"/>
              </a:rPr>
              <a:t>Для работы с коллекциями можно использовать два способа:</a:t>
            </a:r>
          </a:p>
          <a:p>
            <a:r>
              <a:rPr lang="ru-RU" sz="2400" b="0" i="0" dirty="0">
                <a:solidFill>
                  <a:srgbClr val="000000"/>
                </a:solidFill>
                <a:effectLst/>
                <a:latin typeface="-apple-system"/>
              </a:rPr>
              <a:t>Операторы запросов LINQ</a:t>
            </a:r>
          </a:p>
          <a:p>
            <a:r>
              <a:rPr lang="ru-RU" sz="2400" b="0" i="0" dirty="0">
                <a:solidFill>
                  <a:srgbClr val="000000"/>
                </a:solidFill>
                <a:effectLst/>
                <a:latin typeface="-apple-system"/>
              </a:rPr>
              <a:t>Методы расширений LINQ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33649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43FD5F-700E-4AB5-BD6D-BE00ACBF4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/>
              <a:t>Операторы запросов LINQ</a:t>
            </a:r>
            <a:b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F9CFBA-A4BE-4E76-8325-C6E7F7F78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155" y="1463248"/>
            <a:ext cx="8596668" cy="934303"/>
          </a:xfrm>
        </p:spPr>
        <p:txBody>
          <a:bodyPr>
            <a:normAutofit/>
          </a:bodyPr>
          <a:lstStyle/>
          <a:p>
            <a:r>
              <a:rPr lang="ru-RU" sz="2400" b="0" i="0" dirty="0">
                <a:solidFill>
                  <a:srgbClr val="000000"/>
                </a:solidFill>
                <a:effectLst/>
              </a:rPr>
              <a:t>Выберем из массива строки, которые начинаются на букву "T", и отсортируем полученный список:</a:t>
            </a:r>
            <a:endParaRPr lang="ru-RU"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7410513-A1E3-4DDF-96CE-E4DA3899B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563" y="2486011"/>
            <a:ext cx="11239583" cy="3142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0094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AC94F4-04E9-4E41-A5AA-0D985E2A7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35638"/>
            <a:ext cx="8596668" cy="762000"/>
          </a:xfrm>
        </p:spPr>
        <p:txBody>
          <a:bodyPr/>
          <a:lstStyle/>
          <a:p>
            <a:r>
              <a:rPr lang="ru-RU" dirty="0"/>
              <a:t>Итак, что делает этот запрос LINQ?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BDE4ED-6A60-401E-B9D2-63266B9CA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181" y="1396992"/>
            <a:ext cx="9100973" cy="4917218"/>
          </a:xfrm>
        </p:spPr>
        <p:txBody>
          <a:bodyPr>
            <a:normAutofit/>
          </a:bodyPr>
          <a:lstStyle/>
          <a:p>
            <a:r>
              <a:rPr lang="ru-RU" sz="2000" dirty="0"/>
              <a:t>Выражение </a:t>
            </a:r>
            <a:r>
              <a:rPr lang="ru-RU" sz="2000" dirty="0" err="1">
                <a:latin typeface="Consolas" panose="020B0609020204030204" pitchFamily="49" charset="0"/>
              </a:rPr>
              <a:t>from</a:t>
            </a:r>
            <a:r>
              <a:rPr lang="ru-RU" sz="2000" dirty="0">
                <a:latin typeface="Consolas" panose="020B0609020204030204" pitchFamily="49" charset="0"/>
              </a:rPr>
              <a:t> p </a:t>
            </a:r>
            <a:r>
              <a:rPr lang="ru-RU" sz="2000" dirty="0" err="1">
                <a:latin typeface="Consolas" panose="020B0609020204030204" pitchFamily="49" charset="0"/>
              </a:rPr>
              <a:t>in</a:t>
            </a:r>
            <a:r>
              <a:rPr lang="ru-RU" sz="2000" dirty="0">
                <a:latin typeface="Consolas" panose="020B0609020204030204" pitchFamily="49" charset="0"/>
              </a:rPr>
              <a:t> </a:t>
            </a:r>
            <a:r>
              <a:rPr lang="ru-RU" sz="2000" dirty="0" err="1">
                <a:latin typeface="Consolas" panose="020B0609020204030204" pitchFamily="49" charset="0"/>
              </a:rPr>
              <a:t>people</a:t>
            </a:r>
            <a:r>
              <a:rPr lang="ru-RU" sz="2000" dirty="0">
                <a:latin typeface="Consolas" panose="020B0609020204030204" pitchFamily="49" charset="0"/>
              </a:rPr>
              <a:t> </a:t>
            </a:r>
            <a:r>
              <a:rPr lang="ru-RU" sz="2000" dirty="0"/>
              <a:t>проходит по всем элементам массива </a:t>
            </a:r>
            <a:r>
              <a:rPr lang="ru-RU" sz="2000" dirty="0" err="1"/>
              <a:t>people</a:t>
            </a:r>
            <a:r>
              <a:rPr lang="ru-RU" sz="2000" dirty="0"/>
              <a:t> и определяет каждый элемент как </a:t>
            </a:r>
            <a:r>
              <a:rPr lang="ru-RU" sz="2000" dirty="0">
                <a:latin typeface="Consolas" panose="020B0609020204030204" pitchFamily="49" charset="0"/>
              </a:rPr>
              <a:t>p</a:t>
            </a:r>
            <a:r>
              <a:rPr lang="ru-RU" sz="2000" dirty="0"/>
              <a:t>. Используя переменную p мы можем проводить над ней разные операции.</a:t>
            </a:r>
          </a:p>
          <a:p>
            <a:r>
              <a:rPr lang="ru-RU" sz="2000" dirty="0"/>
              <a:t>Несмотря на то, что мы не указываем тип переменной p, выражения LINQ являются строго типизированными. То есть среда автоматически распознает, что набор </a:t>
            </a:r>
            <a:r>
              <a:rPr lang="ru-RU" sz="2000" dirty="0" err="1">
                <a:latin typeface="Consolas" panose="020B0609020204030204" pitchFamily="49" charset="0"/>
              </a:rPr>
              <a:t>people</a:t>
            </a:r>
            <a:r>
              <a:rPr lang="ru-RU" sz="2000" dirty="0"/>
              <a:t> состоит из объектов </a:t>
            </a:r>
            <a:r>
              <a:rPr lang="ru-RU" sz="2000" dirty="0" err="1"/>
              <a:t>string</a:t>
            </a:r>
            <a:r>
              <a:rPr lang="ru-RU" sz="2000" dirty="0"/>
              <a:t>, поэтому переменная p будет рассматриваться в качестве строки.</a:t>
            </a:r>
          </a:p>
          <a:p>
            <a:r>
              <a:rPr lang="ru-RU" sz="2000" dirty="0"/>
              <a:t>Далее с помощью оператора </a:t>
            </a:r>
            <a:r>
              <a:rPr lang="ru-RU" sz="2000" dirty="0" err="1">
                <a:latin typeface="Consolas" panose="020B0609020204030204" pitchFamily="49" charset="0"/>
              </a:rPr>
              <a:t>where</a:t>
            </a:r>
            <a:r>
              <a:rPr lang="ru-RU" sz="2000" dirty="0"/>
              <a:t> проводится фильтрация объектов, и если объект соответствует критерию (в данном случае начальная буква должна быть "T"), то этот объект передается в выборку.</a:t>
            </a:r>
          </a:p>
          <a:p>
            <a:r>
              <a:rPr lang="ru-RU" sz="2000" dirty="0"/>
              <a:t>Оператор </a:t>
            </a:r>
            <a:r>
              <a:rPr lang="ru-RU" sz="2000" dirty="0" err="1">
                <a:latin typeface="Consolas" panose="020B0609020204030204" pitchFamily="49" charset="0"/>
              </a:rPr>
              <a:t>orderby</a:t>
            </a:r>
            <a:r>
              <a:rPr lang="ru-RU" sz="2000" dirty="0"/>
              <a:t> упорядочивает по возрастанию, то есть сортирует выбранные объекты.</a:t>
            </a:r>
          </a:p>
          <a:p>
            <a:r>
              <a:rPr lang="ru-RU" sz="2000" dirty="0"/>
              <a:t>Оператор </a:t>
            </a:r>
            <a:r>
              <a:rPr lang="ru-RU" sz="2000" dirty="0" err="1">
                <a:latin typeface="Consolas" panose="020B0609020204030204" pitchFamily="49" charset="0"/>
              </a:rPr>
              <a:t>select</a:t>
            </a:r>
            <a:r>
              <a:rPr lang="ru-RU" sz="2000" dirty="0"/>
              <a:t> передает выбранные значения в результирующую выборку, которая возвращается LINQ-выражением.</a:t>
            </a:r>
          </a:p>
        </p:txBody>
      </p:sp>
    </p:spTree>
    <p:extLst>
      <p:ext uri="{BB962C8B-B14F-4D97-AF65-F5344CB8AC3E}">
        <p14:creationId xmlns:p14="http://schemas.microsoft.com/office/powerpoint/2010/main" val="23273775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CE20BD-B839-4248-A1B2-3CB5FCD0D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57909"/>
            <a:ext cx="8596668" cy="1008185"/>
          </a:xfrm>
        </p:spPr>
        <p:txBody>
          <a:bodyPr>
            <a:normAutofit fontScale="90000"/>
          </a:bodyPr>
          <a:lstStyle/>
          <a:p>
            <a:r>
              <a:rPr lang="ru-RU" dirty="0"/>
              <a:t>Методы расширения </a:t>
            </a:r>
            <a:r>
              <a:rPr lang="en-US" dirty="0"/>
              <a:t>LINQ</a:t>
            </a:r>
            <a:br>
              <a:rPr lang="en-US" b="1" i="0" dirty="0">
                <a:solidFill>
                  <a:srgbClr val="000000"/>
                </a:solidFill>
                <a:effectLst/>
                <a:latin typeface="-apple-system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3F5359-315B-4F0F-91E6-6A56A227B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734" y="1099306"/>
            <a:ext cx="8596668" cy="2426409"/>
          </a:xfrm>
        </p:spPr>
        <p:txBody>
          <a:bodyPr>
            <a:noAutofit/>
          </a:bodyPr>
          <a:lstStyle/>
          <a:p>
            <a:r>
              <a:rPr lang="ru-RU" sz="2400" dirty="0"/>
              <a:t>Кроме стандартного синтаксиса </a:t>
            </a:r>
            <a:r>
              <a:rPr lang="ru-RU" sz="2400" dirty="0" err="1"/>
              <a:t>from</a:t>
            </a:r>
            <a:r>
              <a:rPr lang="ru-RU" sz="2400" dirty="0"/>
              <a:t> .. </a:t>
            </a:r>
            <a:r>
              <a:rPr lang="ru-RU" sz="2400" dirty="0" err="1"/>
              <a:t>in</a:t>
            </a:r>
            <a:r>
              <a:rPr lang="ru-RU" sz="2400" dirty="0"/>
              <a:t> .. </a:t>
            </a:r>
            <a:r>
              <a:rPr lang="ru-RU" sz="2400" dirty="0" err="1"/>
              <a:t>select</a:t>
            </a:r>
            <a:r>
              <a:rPr lang="ru-RU" sz="2400" dirty="0"/>
              <a:t> для создания запроса LINQ мы можем применять </a:t>
            </a:r>
            <a:r>
              <a:rPr lang="ru-RU" sz="2400" b="1" dirty="0"/>
              <a:t>специальные методы расширения</a:t>
            </a:r>
            <a:r>
              <a:rPr lang="ru-RU" sz="2400" dirty="0"/>
              <a:t>, которые определены для интерфейса </a:t>
            </a:r>
            <a:r>
              <a:rPr lang="ru-RU" sz="2400" dirty="0" err="1"/>
              <a:t>IEnumerable</a:t>
            </a:r>
            <a:r>
              <a:rPr lang="ru-RU" sz="2400" dirty="0"/>
              <a:t>. </a:t>
            </a:r>
          </a:p>
          <a:p>
            <a:r>
              <a:rPr lang="ru-RU" sz="2400" dirty="0"/>
              <a:t>Как правило, эти методы реализуют ту же функциональность, что и операторы LINQ типа </a:t>
            </a:r>
            <a:r>
              <a:rPr lang="ru-RU" sz="2400" dirty="0" err="1"/>
              <a:t>where</a:t>
            </a:r>
            <a:r>
              <a:rPr lang="ru-RU" sz="2400" dirty="0"/>
              <a:t> или </a:t>
            </a:r>
            <a:r>
              <a:rPr lang="ru-RU" sz="2400" dirty="0" err="1"/>
              <a:t>orderby</a:t>
            </a:r>
            <a:r>
              <a:rPr lang="ru-RU" sz="2400" dirty="0"/>
              <a:t>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AF650EC-C5DD-4DB1-B51D-D92D42B7D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26" y="3631221"/>
            <a:ext cx="10431064" cy="191010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71698BC-F258-4B95-87D2-FF1BE3517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26" y="5890842"/>
            <a:ext cx="10388220" cy="69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887040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Теплый синий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Другая 2">
      <a:majorFont>
        <a:latin typeface="Trebuchet MS"/>
        <a:ea typeface=""/>
        <a:cs typeface=""/>
      </a:majorFont>
      <a:minorFont>
        <a:latin typeface="Times New Roman"/>
        <a:ea typeface=""/>
        <a:cs typeface="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1979</TotalTime>
  <Words>1559</Words>
  <Application>Microsoft Office PowerPoint</Application>
  <PresentationFormat>Широкоэкранный</PresentationFormat>
  <Paragraphs>153</Paragraphs>
  <Slides>39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39</vt:i4>
      </vt:variant>
    </vt:vector>
  </HeadingPairs>
  <TitlesOfParts>
    <vt:vector size="48" baseType="lpstr">
      <vt:lpstr>-apple-system</vt:lpstr>
      <vt:lpstr>Arial</vt:lpstr>
      <vt:lpstr>Calibri</vt:lpstr>
      <vt:lpstr>Consolas</vt:lpstr>
      <vt:lpstr>Times New Roman</vt:lpstr>
      <vt:lpstr>Trebuchet MS</vt:lpstr>
      <vt:lpstr>Wingdings</vt:lpstr>
      <vt:lpstr>Wingdings 3</vt:lpstr>
      <vt:lpstr>Аспект</vt:lpstr>
      <vt:lpstr>Однородные и неоднородные структуры данных:  структуры, перечисления, коллекции. </vt:lpstr>
      <vt:lpstr>Перечисления. Структуры</vt:lpstr>
      <vt:lpstr>Перечисления</vt:lpstr>
      <vt:lpstr>Использование типа перечисления</vt:lpstr>
      <vt:lpstr>Хранение состояния</vt:lpstr>
      <vt:lpstr>Тип и значения констант перечисления</vt:lpstr>
      <vt:lpstr>Сопоставление элементов перечисления с константами</vt:lpstr>
      <vt:lpstr>Указание значений элементов перечисления</vt:lpstr>
      <vt:lpstr>Структуры</vt:lpstr>
      <vt:lpstr>Описание структуры</vt:lpstr>
      <vt:lpstr>Для чего используются структуры?</vt:lpstr>
      <vt:lpstr>Обращение к элементам структуры</vt:lpstr>
      <vt:lpstr>Задача 1</vt:lpstr>
      <vt:lpstr>Презентация PowerPoint</vt:lpstr>
      <vt:lpstr>Презентация PowerPoint</vt:lpstr>
      <vt:lpstr>Презентация PowerPoint</vt:lpstr>
      <vt:lpstr>Коллекции</vt:lpstr>
      <vt:lpstr>Коллекции</vt:lpstr>
      <vt:lpstr>Объявление списка</vt:lpstr>
      <vt:lpstr>Обращение к элементам списка </vt:lpstr>
      <vt:lpstr>Длина списка</vt:lpstr>
      <vt:lpstr>Перебор элементов списка</vt:lpstr>
      <vt:lpstr>Добавление в список</vt:lpstr>
      <vt:lpstr>Удаление из списка</vt:lpstr>
      <vt:lpstr>Поиск и проверка элементов</vt:lpstr>
      <vt:lpstr>Словари</vt:lpstr>
      <vt:lpstr>Инициализация словаря</vt:lpstr>
      <vt:lpstr>Инициализация словаря</vt:lpstr>
      <vt:lpstr>Перебор словаря</vt:lpstr>
      <vt:lpstr>Обращение к элементам словаря</vt:lpstr>
      <vt:lpstr>Методы словаря</vt:lpstr>
      <vt:lpstr>Задача 2</vt:lpstr>
      <vt:lpstr>Презентация PowerPoint</vt:lpstr>
      <vt:lpstr>LINQ – язык запросов</vt:lpstr>
      <vt:lpstr>Стандартный способ поиска</vt:lpstr>
      <vt:lpstr>Способы работы с коллекциями с помощью LINQ</vt:lpstr>
      <vt:lpstr>Операторы запросов LINQ </vt:lpstr>
      <vt:lpstr>Итак, что делает этот запрос LINQ?</vt:lpstr>
      <vt:lpstr>Методы расширения LINQ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Наталья</dc:creator>
  <cp:lastModifiedBy>user</cp:lastModifiedBy>
  <cp:revision>79</cp:revision>
  <dcterms:created xsi:type="dcterms:W3CDTF">2022-09-14T20:29:10Z</dcterms:created>
  <dcterms:modified xsi:type="dcterms:W3CDTF">2025-10-07T11:42:40Z</dcterms:modified>
</cp:coreProperties>
</file>