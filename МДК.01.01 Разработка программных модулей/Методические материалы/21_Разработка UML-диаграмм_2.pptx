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38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375" r:id="rId19"/>
    <p:sldId id="335" r:id="rId20"/>
    <p:sldId id="293" r:id="rId21"/>
    <p:sldId id="262" r:id="rId22"/>
    <p:sldId id="376" r:id="rId23"/>
    <p:sldId id="363" r:id="rId24"/>
    <p:sldId id="378" r:id="rId25"/>
    <p:sldId id="294" r:id="rId26"/>
    <p:sldId id="295" r:id="rId27"/>
    <p:sldId id="315" r:id="rId28"/>
    <p:sldId id="296" r:id="rId29"/>
    <p:sldId id="297" r:id="rId30"/>
    <p:sldId id="298" r:id="rId31"/>
    <p:sldId id="299" r:id="rId32"/>
    <p:sldId id="379" r:id="rId33"/>
    <p:sldId id="366" r:id="rId34"/>
    <p:sldId id="380" r:id="rId35"/>
    <p:sldId id="388" r:id="rId36"/>
    <p:sldId id="389" r:id="rId37"/>
    <p:sldId id="390" r:id="rId38"/>
    <p:sldId id="328" r:id="rId39"/>
    <p:sldId id="327" r:id="rId40"/>
    <p:sldId id="309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84" r:id="rId50"/>
    <p:sldId id="332" r:id="rId51"/>
    <p:sldId id="385" r:id="rId52"/>
    <p:sldId id="386" r:id="rId53"/>
    <p:sldId id="300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782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44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5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99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2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88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24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58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11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12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460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11435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955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54454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490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060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338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2017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936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249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4869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022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67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D6D1FB6-515A-4E95-913A-C3DCF0257E25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D2FFF73-DBF9-45D0-BB7B-9B20E5499A9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8286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58208" y="1335382"/>
            <a:ext cx="6889712" cy="2624222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ru-RU" sz="4400" dirty="0"/>
              <a:t>Унифицированный язык моделирования</a:t>
            </a:r>
            <a:br>
              <a:rPr lang="ru-RU" sz="4400" dirty="0"/>
            </a:br>
            <a:r>
              <a:rPr lang="ru-RU" sz="3600" dirty="0">
                <a:latin typeface="Consolas" panose="020B0609020204030204" pitchFamily="49" charset="0"/>
              </a:rPr>
              <a:t>Раздел 2</a:t>
            </a:r>
            <a:endParaRPr lang="ru-RU" sz="44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72748" y="4039307"/>
            <a:ext cx="8550265" cy="585918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МДК 01.01 Разработка программных модулей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9347EE-FA87-4892-8FB1-9A5370040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715" y="2681750"/>
            <a:ext cx="8803634" cy="3035158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Структурные модели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8B6A770-5EB9-4451-939A-6D45D4954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392" y="1476402"/>
            <a:ext cx="10058400" cy="1384244"/>
          </a:xfrm>
        </p:spPr>
        <p:txBody>
          <a:bodyPr>
            <a:normAutofit fontScale="25000" lnSpcReduction="20000"/>
          </a:bodyPr>
          <a:lstStyle/>
          <a:p>
            <a:r>
              <a:rPr lang="ru-RU" sz="7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Цели: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7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определение архитектуры системы;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7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определение структур хранения данных.</a:t>
            </a:r>
          </a:p>
          <a:p>
            <a:r>
              <a:rPr lang="ru-RU" sz="7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 классов UML: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812750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08AF47-725B-4AEC-BB2D-2BAB868EE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14" y="2541864"/>
            <a:ext cx="9032744" cy="317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0893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C44EB4-44C1-4C02-92CD-A4D5855E3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929" y="2331167"/>
            <a:ext cx="9350142" cy="319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8044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8706A2-358A-4ED7-BEFA-9BE2F2CD8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852" y="2392409"/>
            <a:ext cx="9089384" cy="311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0247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6EBF24-8ACB-407B-A0EF-412C9882E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27" y="2218801"/>
            <a:ext cx="9140549" cy="322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5069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A0E2B6-935D-44FD-8940-E80BD4C4B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32" y="2445357"/>
            <a:ext cx="9097495" cy="309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1127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9F1EF8-0854-4427-9AD2-658F6F643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091" y="2350215"/>
            <a:ext cx="9177818" cy="30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7710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31166B-4CD9-4405-86F0-F59B3719D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998" y="2157716"/>
            <a:ext cx="9322004" cy="320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9570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6F153C-42CC-4262-8E47-3B9AE6AF6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193" y="2345920"/>
            <a:ext cx="9034506" cy="313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6511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0627" y="571690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Диаграмма для нескольких классов предметной области «Библиотека». Курсив = другие классы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691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D6CA13-0BD2-4F86-AA43-C5867F042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52" y="2189528"/>
            <a:ext cx="9595528" cy="327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3448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9016" y="580079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классов,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демонстрирующая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отношения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обобщения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i="1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g</a:t>
            </a:r>
            <a:r>
              <a:rPr lang="ru-RU" sz="1800" i="1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eneralization</a:t>
            </a:r>
            <a:r>
              <a:rPr lang="ru-RU" sz="1800" i="1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286604"/>
            <a:ext cx="10576840" cy="854300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классов – отношение обобщения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C33E9D-63BC-4107-AEE0-B877745F9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22" y="1225527"/>
            <a:ext cx="10176458" cy="449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665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9016" y="580079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классов,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демонстрирующая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отношения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обобщения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i="1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g</a:t>
            </a:r>
            <a:r>
              <a:rPr lang="ru-RU" sz="1800" i="1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eneralization</a:t>
            </a:r>
            <a:r>
              <a:rPr lang="ru-RU" sz="1800" i="1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286604"/>
            <a:ext cx="10576840" cy="854300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классов – отношение обобщения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5D1CBE-052C-484D-BD8F-26C0D09F1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99" y="1306803"/>
            <a:ext cx="10011981" cy="432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276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9016" y="580079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классов,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демонстрирующая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отношения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обобщения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i="1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g</a:t>
            </a:r>
            <a:r>
              <a:rPr lang="ru-RU" sz="1800" i="1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eneralization</a:t>
            </a:r>
            <a:r>
              <a:rPr lang="ru-RU" sz="1800" i="1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286604"/>
            <a:ext cx="10576840" cy="854300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классов – отношение обобщения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0AB174-BA45-4DA1-8B3F-371552DF8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44" y="1166644"/>
            <a:ext cx="10259736" cy="460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4544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9016" y="580079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классов,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демонстрирующая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отношения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обобщения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i="1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g</a:t>
            </a:r>
            <a:r>
              <a:rPr lang="ru-RU" sz="1800" i="1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eneralization</a:t>
            </a:r>
            <a:r>
              <a:rPr lang="ru-RU" sz="1800" i="1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286604"/>
            <a:ext cx="10576840" cy="854300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классов – отношение обобщения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D3115A-B269-4328-83A8-2018D2025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15" y="1471038"/>
            <a:ext cx="10013065" cy="423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0638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E8F0D-0A91-4C64-B05D-0AC9118F972D}"/>
              </a:ext>
            </a:extLst>
          </p:cNvPr>
          <p:cNvSpPr txBox="1"/>
          <p:nvPr/>
        </p:nvSpPr>
        <p:spPr>
          <a:xfrm>
            <a:off x="1359016" y="5800798"/>
            <a:ext cx="1025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классов,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демонстрирующая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отношения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обобщения</a:t>
            </a:r>
            <a:r>
              <a:rPr lang="ru-RU" sz="18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i="1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g</a:t>
            </a:r>
            <a:r>
              <a:rPr lang="ru-RU" sz="1800" i="1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eneralization</a:t>
            </a:r>
            <a:r>
              <a:rPr lang="ru-RU" sz="1800" i="1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61F4CA7-37C1-4823-A55E-5CAF04B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286604"/>
            <a:ext cx="10576840" cy="854300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классов – отношение обобщения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BF43FF-3A14-4CD7-B0F4-416D831B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26" y="1306163"/>
            <a:ext cx="9956054" cy="441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8580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45511"/>
          </a:xfrm>
        </p:spPr>
        <p:txBody>
          <a:bodyPr/>
          <a:lstStyle/>
          <a:p>
            <a:r>
              <a:rPr lang="ru-RU" dirty="0"/>
              <a:t>Виды отношений между классами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097280" y="2164702"/>
            <a:ext cx="9805851" cy="355683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ru-RU" sz="2800" dirty="0"/>
              <a:t> Ассоциация (связи между объектами)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800" dirty="0"/>
              <a:t> Зависимость (отображает влияние одного класса на другой)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800" dirty="0"/>
              <a:t> Обобщение-специализация («</a:t>
            </a:r>
            <a:r>
              <a:rPr lang="en-US" sz="2800" dirty="0"/>
              <a:t>is a</a:t>
            </a:r>
            <a:r>
              <a:rPr lang="ru-RU" sz="2800" dirty="0"/>
              <a:t>»</a:t>
            </a:r>
            <a:r>
              <a:rPr lang="en-US" sz="2800" dirty="0"/>
              <a:t> </a:t>
            </a:r>
            <a:r>
              <a:rPr lang="ru-RU" sz="2800" dirty="0"/>
              <a:t>отношение)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800" dirty="0"/>
              <a:t> Целое-часть («</a:t>
            </a:r>
            <a:r>
              <a:rPr lang="en-US" sz="2800" dirty="0"/>
              <a:t>part of</a:t>
            </a:r>
            <a:r>
              <a:rPr lang="ru-RU" sz="2800" dirty="0"/>
              <a:t>»</a:t>
            </a:r>
            <a:r>
              <a:rPr lang="en-US" sz="2800" dirty="0"/>
              <a:t> </a:t>
            </a:r>
            <a:r>
              <a:rPr lang="ru-RU" sz="2800" dirty="0"/>
              <a:t>отношение)</a:t>
            </a:r>
          </a:p>
          <a:p>
            <a:pPr lvl="1" algn="just"/>
            <a:r>
              <a:rPr lang="ru-RU" sz="2500" dirty="0"/>
              <a:t>Агрегация</a:t>
            </a:r>
          </a:p>
          <a:p>
            <a:pPr lvl="1" algn="just"/>
            <a:r>
              <a:rPr lang="ru-RU" sz="2500" dirty="0"/>
              <a:t>Композиция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BB692-8107-4CD6-AAB7-8F4467EF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344941"/>
            <a:ext cx="9923417" cy="617160"/>
          </a:xfrm>
        </p:spPr>
        <p:txBody>
          <a:bodyPr>
            <a:normAutofit fontScale="90000"/>
          </a:bodyPr>
          <a:lstStyle/>
          <a:p>
            <a:r>
              <a:rPr lang="ru-RU" dirty="0"/>
              <a:t>Виды отношений между классами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73F70B-76E4-4E56-85CF-548E06AF98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33606" y="2175018"/>
            <a:ext cx="2746648" cy="3364107"/>
          </a:xfrm>
        </p:spPr>
        <p:txBody>
          <a:bodyPr>
            <a:normAutofit/>
          </a:bodyPr>
          <a:lstStyle/>
          <a:p>
            <a:r>
              <a:rPr lang="ru-RU" dirty="0"/>
              <a:t>Наследование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Ассоциация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Агрегация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20" name="Объект 19">
            <a:extLst>
              <a:ext uri="{FF2B5EF4-FFF2-40B4-BE49-F238E27FC236}">
                <a16:creationId xmlns:a16="http://schemas.microsoft.com/office/drawing/2014/main" id="{7B2C8B1C-EFDB-45EC-A99D-A53E3F6285C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054966" y="2158906"/>
            <a:ext cx="2600575" cy="3807296"/>
          </a:xfrm>
        </p:spPr>
        <p:txBody>
          <a:bodyPr>
            <a:normAutofit/>
          </a:bodyPr>
          <a:lstStyle/>
          <a:p>
            <a:r>
              <a:rPr lang="ru-RU" dirty="0"/>
              <a:t>Композиция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Реализация интерфейса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800" dirty="0"/>
          </a:p>
          <a:p>
            <a:r>
              <a:rPr lang="ru-RU" dirty="0"/>
              <a:t>Зависимость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04500D-0CDA-4300-9678-2855214D5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590" y="1906681"/>
            <a:ext cx="952500" cy="10096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BB028D-B7A7-4044-AFF3-D87370985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540" y="3266230"/>
            <a:ext cx="990600" cy="9525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841848-5114-4C72-9578-5DB32426D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253" y="4568629"/>
            <a:ext cx="1019175" cy="9906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EE4CC75-3D58-4B8D-98D9-FDA8A4102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1796" y="1823319"/>
            <a:ext cx="1104900" cy="9715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8B067CA-B037-4D63-BF28-15C39E22E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5828" y="3146567"/>
            <a:ext cx="952500" cy="10096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D89A7FF-9A6C-4134-82C4-6283E71D23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5828" y="4529474"/>
            <a:ext cx="952500" cy="1009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D574DC-00B8-4BE9-BCC6-EC2643986F3E}"/>
              </a:ext>
            </a:extLst>
          </p:cNvPr>
          <p:cNvSpPr txBox="1"/>
          <p:nvPr/>
        </p:nvSpPr>
        <p:spPr>
          <a:xfrm>
            <a:off x="866505" y="1236581"/>
            <a:ext cx="10563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Open Sans" panose="020B0606030504020204" pitchFamily="34" charset="0"/>
              </a:rPr>
              <a:t>Тогда мы приходим к пониманию конкретного содержания классовых отношений.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143791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4E267-B477-4394-A6BD-B818FD032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96245"/>
          </a:xfrm>
        </p:spPr>
        <p:txBody>
          <a:bodyPr/>
          <a:lstStyle/>
          <a:p>
            <a:r>
              <a:rPr lang="ru-RU" dirty="0"/>
              <a:t>Отношение агрегации и композиции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4C8A35-7485-4E37-8448-3DB0362A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40525"/>
            <a:ext cx="10058400" cy="475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6838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324201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Контекстные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ru-RU" sz="1800" spc="-10" dirty="0">
                <a:solidFill>
                  <a:srgbClr val="7F7F7F"/>
                </a:solidFill>
                <a:effectLst/>
                <a:latin typeface="Arial Black" panose="020B0A040201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Пример:</a:t>
            </a:r>
            <a:r>
              <a:rPr lang="ru-RU" sz="1800" spc="15" dirty="0">
                <a:solidFill>
                  <a:srgbClr val="7F7F7F"/>
                </a:solidFill>
                <a:effectLst/>
                <a:latin typeface="Arial Black" panose="020B0A040201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контекст</a:t>
            </a:r>
            <a:r>
              <a:rPr lang="ru-RU" sz="1800" spc="5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электронной</a:t>
            </a:r>
            <a:r>
              <a:rPr lang="ru-RU" sz="1800" spc="5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библиотечной</a:t>
            </a:r>
            <a:r>
              <a:rPr lang="ru-RU" sz="1800" spc="5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системы</a:t>
            </a:r>
            <a:endParaRPr lang="ru-RU" sz="1800" dirty="0"/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3DBF1A64-2836-4EF2-B2CE-848597CCA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221" y="2290195"/>
            <a:ext cx="9575551" cy="332606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E23FE31-1ECC-41AC-AA7E-9E7D0E217953}"/>
              </a:ext>
            </a:extLst>
          </p:cNvPr>
          <p:cNvSpPr txBox="1"/>
          <p:nvPr/>
        </p:nvSpPr>
        <p:spPr>
          <a:xfrm>
            <a:off x="679508" y="1132514"/>
            <a:ext cx="106456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Цель:</a:t>
            </a:r>
          </a:p>
          <a:p>
            <a:pPr marL="285750" indent="-285750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разграничение функций системы и ее окружения</a:t>
            </a:r>
          </a:p>
          <a:p>
            <a:pPr marL="285750" indent="-285750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определение компонентов и используемых интерфейсов.</a:t>
            </a:r>
          </a:p>
        </p:txBody>
      </p:sp>
    </p:spTree>
    <p:extLst>
      <p:ext uri="{BB962C8B-B14F-4D97-AF65-F5344CB8AC3E}">
        <p14:creationId xmlns:p14="http://schemas.microsoft.com/office/powerpoint/2010/main" val="331906586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9795832" cy="706090"/>
          </a:xfrm>
        </p:spPr>
        <p:txBody>
          <a:bodyPr>
            <a:normAutofit fontScale="90000"/>
          </a:bodyPr>
          <a:lstStyle/>
          <a:p>
            <a:r>
              <a:rPr lang="ru-RU" i="1" dirty="0"/>
              <a:t>Диаграмма объектов (</a:t>
            </a:r>
            <a:r>
              <a:rPr lang="ru-RU" i="1" dirty="0" err="1">
                <a:solidFill>
                  <a:schemeClr val="tx1"/>
                </a:solidFill>
              </a:rPr>
              <a:t>object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diagram</a:t>
            </a:r>
            <a:r>
              <a:rPr lang="ru-RU" i="1" dirty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87977" y="1959428"/>
            <a:ext cx="10458994" cy="3117669"/>
          </a:xfrm>
        </p:spPr>
        <p:txBody>
          <a:bodyPr>
            <a:normAutofit/>
          </a:bodyPr>
          <a:lstStyle/>
          <a:p>
            <a:pPr algn="l"/>
            <a:r>
              <a:rPr lang="ru-RU" sz="2200" b="1" dirty="0"/>
              <a:t>Диаграмма объектов </a:t>
            </a:r>
            <a:r>
              <a:rPr lang="ru-RU" sz="2200" dirty="0"/>
              <a:t>- это структурная диаграмма, которая показывает объекты, их атрибуты и взаимосвязи с другими объектами.</a:t>
            </a:r>
          </a:p>
          <a:p>
            <a:pPr algn="l"/>
            <a:r>
              <a:rPr lang="ru-RU" sz="2200" b="1" dirty="0"/>
              <a:t>Объект</a:t>
            </a:r>
            <a:r>
              <a:rPr lang="ru-RU" sz="2200" dirty="0"/>
              <a:t> - это экземпляр класса в определенный момент времени выполнения, который может иметь свое собственное состояние и значения данных.</a:t>
            </a:r>
          </a:p>
          <a:p>
            <a:pPr algn="l"/>
            <a:r>
              <a:rPr lang="ru-RU" sz="2200" dirty="0"/>
              <a:t>Диаграмма объектов UML является экземпляром диаграммы классов, она показывает моментальный снимок подробного состояния системы в определенный момент времени.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5C5DD0-4B1C-4815-9DCB-AA26DAE0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029" y="931817"/>
            <a:ext cx="7058086" cy="340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80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bstudy.net/htm/img/18/14586/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692696"/>
            <a:ext cx="6419442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4ABB0-0A29-4897-A3C8-FF219CDA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56303"/>
          </a:xfrm>
        </p:spPr>
        <p:txBody>
          <a:bodyPr/>
          <a:lstStyle/>
          <a:p>
            <a:r>
              <a:rPr lang="ru-RU" dirty="0"/>
              <a:t>Модели поведения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8E69A2-3C93-4F0B-AD18-03AE0F611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Цель: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определение реакции системы на внешние и внутренние входные сигналы.</a:t>
            </a:r>
          </a:p>
          <a:p>
            <a:r>
              <a:rPr lang="ru-RU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Виды сигналов:</a:t>
            </a:r>
          </a:p>
          <a:p>
            <a:pPr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данные (</a:t>
            </a:r>
            <a:r>
              <a:rPr lang="ru-RU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data-driven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modeling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</a:t>
            </a:r>
          </a:p>
          <a:p>
            <a:pPr lvl="1">
              <a:lnSpc>
                <a:spcPct val="100000"/>
              </a:lnSpc>
              <a:buSzPct val="120000"/>
              <a:buFont typeface="Wingdings" panose="05000000000000000000" pitchFamily="2" charset="2"/>
              <a:buChar char="Ø"/>
            </a:pP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Область применения: 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системы обработки данных (напр., транзакций). </a:t>
            </a:r>
          </a:p>
          <a:p>
            <a:pPr lvl="1">
              <a:lnSpc>
                <a:spcPct val="100000"/>
              </a:lnSpc>
              <a:buSzPct val="120000"/>
              <a:buFont typeface="Wingdings" panose="05000000000000000000" pitchFamily="2" charset="2"/>
              <a:buChar char="Ø"/>
            </a:pP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Диаграммы UML: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диаграмма деятельности, диаграмма последовательности.</a:t>
            </a:r>
          </a:p>
          <a:p>
            <a:pPr>
              <a:lnSpc>
                <a:spcPct val="100000"/>
              </a:lnSpc>
              <a:buClr>
                <a:schemeClr val="bg2">
                  <a:lumMod val="50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события (</a:t>
            </a:r>
            <a:r>
              <a:rPr lang="ru-RU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event-driven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modeling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</a:t>
            </a:r>
          </a:p>
          <a:p>
            <a:pPr lvl="1">
              <a:lnSpc>
                <a:spcPct val="100000"/>
              </a:lnSpc>
              <a:buSzPct val="120000"/>
              <a:buFont typeface="Wingdings" panose="05000000000000000000" pitchFamily="2" charset="2"/>
              <a:buChar char="Ø"/>
            </a:pPr>
            <a:r>
              <a:rPr lang="ru-RU" dirty="0">
                <a:latin typeface="Arial" panose="020B0604020202020204" pitchFamily="34" charset="0"/>
              </a:rPr>
              <a:t> </a:t>
            </a:r>
            <a:r>
              <a:rPr lang="ru-RU" i="1" dirty="0">
                <a:latin typeface="Arial" panose="020B0604020202020204" pitchFamily="34" charset="0"/>
              </a:rPr>
              <a:t>Область применения: </a:t>
            </a:r>
            <a:r>
              <a:rPr lang="ru-RU" dirty="0">
                <a:latin typeface="Arial" panose="020B0604020202020204" pitchFamily="34" charset="0"/>
              </a:rPr>
              <a:t>системы реального времени (напр., микроконтроллеры). </a:t>
            </a:r>
          </a:p>
          <a:p>
            <a:pPr lvl="1">
              <a:lnSpc>
                <a:spcPct val="100000"/>
              </a:lnSpc>
              <a:buSzPct val="120000"/>
              <a:buFont typeface="Wingdings" panose="05000000000000000000" pitchFamily="2" charset="2"/>
              <a:buChar char="Ø"/>
            </a:pPr>
            <a:r>
              <a:rPr lang="ru-RU" dirty="0">
                <a:latin typeface="Arial" panose="020B0604020202020204" pitchFamily="34" charset="0"/>
              </a:rPr>
              <a:t> </a:t>
            </a:r>
            <a:r>
              <a:rPr lang="ru-RU" i="1" dirty="0">
                <a:latin typeface="Arial" panose="020B0604020202020204" pitchFamily="34" charset="0"/>
              </a:rPr>
              <a:t>Диаграммы UML: </a:t>
            </a:r>
            <a:r>
              <a:rPr lang="ru-RU" dirty="0">
                <a:latin typeface="Arial" panose="020B0604020202020204" pitchFamily="34" charset="0"/>
              </a:rPr>
              <a:t>диаграмма состояний.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82747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79C7-39F4-423F-9165-286DD210D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Диаграммы состояний </a:t>
            </a:r>
            <a:br>
              <a:rPr lang="ru-RU" dirty="0"/>
            </a:br>
            <a:r>
              <a:rPr lang="ru-RU" dirty="0"/>
              <a:t>(</a:t>
            </a:r>
            <a:r>
              <a:rPr lang="ru-RU" i="1" dirty="0" err="1">
                <a:solidFill>
                  <a:schemeClr val="tx1"/>
                </a:solidFill>
              </a:rPr>
              <a:t>statechart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diagram</a:t>
            </a:r>
            <a:r>
              <a:rPr lang="ru-RU" i="1" dirty="0">
                <a:solidFill>
                  <a:schemeClr val="tx1"/>
                </a:solidFill>
              </a:rPr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A7681-9C9B-454B-8D13-B9DBEE7E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55459"/>
            <a:ext cx="10058400" cy="1711198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/>
              <a:t>Диаграммы состояний</a:t>
            </a:r>
            <a:r>
              <a:rPr lang="ru-RU" sz="2400" dirty="0"/>
              <a:t> применяются для того, чтобы объяснить, каким образом работают сложные объекты. </a:t>
            </a:r>
          </a:p>
          <a:p>
            <a:pPr algn="just"/>
            <a:r>
              <a:rPr lang="ru-RU" sz="2400" dirty="0"/>
              <a:t>Диаграмма состояний показывает, как объект переходит из одного состояния в другое.</a:t>
            </a:r>
          </a:p>
          <a:p>
            <a:endParaRPr lang="ru-RU" sz="1800" dirty="0"/>
          </a:p>
        </p:txBody>
      </p:sp>
      <p:pic>
        <p:nvPicPr>
          <p:cNvPr id="4" name="Содержимое 3" descr="http://baumanki.net/uploads/lectures/informatika-i-programmirovanie/uml/files/18-2-vidy-diagramm-uml.gif">
            <a:extLst>
              <a:ext uri="{FF2B5EF4-FFF2-40B4-BE49-F238E27FC236}">
                <a16:creationId xmlns:a16="http://schemas.microsoft.com/office/drawing/2014/main" id="{F9BC77CD-DD90-4EFC-8ADF-6F19125AC7CF}"/>
              </a:ext>
            </a:extLst>
          </p:cNvPr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21574" y="4023359"/>
            <a:ext cx="4763889" cy="79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276339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79C7-39F4-423F-9165-286DD210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5577"/>
          </a:xfrm>
        </p:spPr>
        <p:txBody>
          <a:bodyPr/>
          <a:lstStyle/>
          <a:p>
            <a:r>
              <a:rPr lang="ru-RU" dirty="0"/>
              <a:t>Диаграммы состояний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A7681-9C9B-454B-8D13-B9DBEE7E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930" y="5817188"/>
            <a:ext cx="10058400" cy="240081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Упрощенная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состояний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жизненного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цикла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программы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ru-RU" sz="18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Android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4EA9AF-40E3-4D14-8B1B-67B563109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30" y="1224793"/>
            <a:ext cx="9965750" cy="4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3738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79C7-39F4-423F-9165-286DD210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5577"/>
          </a:xfrm>
        </p:spPr>
        <p:txBody>
          <a:bodyPr/>
          <a:lstStyle/>
          <a:p>
            <a:r>
              <a:rPr lang="ru-RU" dirty="0"/>
              <a:t>Диаграммы состояний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A7681-9C9B-454B-8D13-B9DBEE7E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930" y="5817188"/>
            <a:ext cx="10058400" cy="240081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Упрощенная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состояний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жизненного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цикла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программы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ru-RU" sz="18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Android</a:t>
            </a: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55ECCC-EDF8-4A46-83FC-6F8E57B0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31" y="1290347"/>
            <a:ext cx="10058400" cy="438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38937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79C7-39F4-423F-9165-286DD210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5577"/>
          </a:xfrm>
        </p:spPr>
        <p:txBody>
          <a:bodyPr/>
          <a:lstStyle/>
          <a:p>
            <a:r>
              <a:rPr lang="ru-RU" dirty="0"/>
              <a:t>Диаграммы состояний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A7681-9C9B-454B-8D13-B9DBEE7E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930" y="5817188"/>
            <a:ext cx="10058400" cy="240081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Упрощенная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состояний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жизненного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цикла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программы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ru-RU" sz="18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Android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A2B2F8-624A-4344-A6AF-B3837BABF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67406"/>
            <a:ext cx="10063931" cy="449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49680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79C7-39F4-423F-9165-286DD210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5577"/>
          </a:xfrm>
        </p:spPr>
        <p:txBody>
          <a:bodyPr/>
          <a:lstStyle/>
          <a:p>
            <a:r>
              <a:rPr lang="ru-RU" dirty="0"/>
              <a:t>Диаграммы состояний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A7681-9C9B-454B-8D13-B9DBEE7E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930" y="5817188"/>
            <a:ext cx="10058400" cy="240081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Упрощенная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состояний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жизненного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цикла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программы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ru-RU" sz="18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Android</a:t>
            </a: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BEBBAB-E552-4382-A988-0B8D13C7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82" y="1409350"/>
            <a:ext cx="10012195" cy="433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4069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79C7-39F4-423F-9165-286DD210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5577"/>
          </a:xfrm>
        </p:spPr>
        <p:txBody>
          <a:bodyPr/>
          <a:lstStyle/>
          <a:p>
            <a:r>
              <a:rPr lang="ru-RU" dirty="0"/>
              <a:t>Диаграммы состояний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A7681-9C9B-454B-8D13-B9DBEE7E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930" y="5817188"/>
            <a:ext cx="10058400" cy="240081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Упрощенная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состояний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жизненного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цикла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программы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ru-RU" sz="18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800" spc="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</a:t>
            </a:r>
            <a:r>
              <a:rPr lang="ru-RU" sz="1800" spc="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Android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95A2D0-DEDE-4F4F-B640-A01499106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29" y="1353921"/>
            <a:ext cx="10058401" cy="439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78425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D1B5F04-5393-42E5-BE7F-F36C8D96BC33}"/>
              </a:ext>
            </a:extLst>
          </p:cNvPr>
          <p:cNvGrpSpPr/>
          <p:nvPr/>
        </p:nvGrpSpPr>
        <p:grpSpPr>
          <a:xfrm>
            <a:off x="1301857" y="247973"/>
            <a:ext cx="8710047" cy="5377912"/>
            <a:chOff x="1259632" y="3068960"/>
            <a:chExt cx="5544616" cy="3290021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8E06AF07-676B-4AD7-A684-FDFCD853A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3068960"/>
              <a:ext cx="5400601" cy="3290021"/>
            </a:xfrm>
            <a:prstGeom prst="rect">
              <a:avLst/>
            </a:prstGeom>
          </p:spPr>
        </p:pic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A0208BE-F02A-460C-94B1-C37AF8F23E3A}"/>
                </a:ext>
              </a:extLst>
            </p:cNvPr>
            <p:cNvSpPr/>
            <p:nvPr/>
          </p:nvSpPr>
          <p:spPr>
            <a:xfrm>
              <a:off x="6012160" y="5877272"/>
              <a:ext cx="792088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://baumanki.net/uploads/lectures/informatika-i-programmirovanie/uml/files/20-2-vidy-diagramm-uml.jpg">
            <a:extLst>
              <a:ext uri="{FF2B5EF4-FFF2-40B4-BE49-F238E27FC236}">
                <a16:creationId xmlns:a16="http://schemas.microsoft.com/office/drawing/2014/main" id="{31398460-B2F3-4BB4-A60B-285AF3A48432}"/>
              </a:ext>
            </a:extLst>
          </p:cNvPr>
          <p:cNvPicPr/>
          <p:nvPr/>
        </p:nvPicPr>
        <p:blipFill>
          <a:blip r:embed="rId2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1379349" y="542441"/>
            <a:ext cx="8090115" cy="4664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59327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Содержимое 5" descr="http://baumanki.net/uploads/lectures/informatika-i-programmirovanie/uml/files/19-2-vidy-diagramm-uml.jpg"/>
          <p:cNvPicPr>
            <a:picLocks noGrp="1"/>
          </p:cNvPicPr>
          <p:nvPr>
            <p:ph sz="quarter" idx="4294967295"/>
          </p:nvPr>
        </p:nvPicPr>
        <p:blipFill>
          <a:blip r:embed="rId2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1379349" y="387458"/>
            <a:ext cx="9391973" cy="562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D8D549D-9BD5-4AC1-AF5A-5165CF3D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активности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i="1" dirty="0">
                <a:solidFill>
                  <a:schemeClr val="tx1"/>
                </a:solidFill>
              </a:rPr>
              <a:t>(деятельности, </a:t>
            </a:r>
            <a:r>
              <a:rPr lang="ru-RU" i="1" dirty="0" err="1">
                <a:solidFill>
                  <a:schemeClr val="tx1"/>
                </a:solidFill>
              </a:rPr>
              <a:t>activity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diagram</a:t>
            </a:r>
            <a:r>
              <a:rPr lang="ru-RU" i="1" dirty="0">
                <a:solidFill>
                  <a:schemeClr val="tx1"/>
                </a:solidFill>
              </a:rPr>
              <a:t>)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F69F9AA-6925-4840-B8CA-70E569525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726" y="2189683"/>
            <a:ext cx="8793340" cy="197125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ru-RU" sz="2200" dirty="0"/>
              <a:t> В UML существуют </a:t>
            </a:r>
            <a:r>
              <a:rPr lang="ru-RU" sz="2200" b="1" dirty="0"/>
              <a:t>диаграммы активности (деятельности)</a:t>
            </a:r>
            <a:r>
              <a:rPr lang="ru-RU" sz="2200" dirty="0"/>
              <a:t>, являющиеся частным случаем диаграмм состояний.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200" dirty="0"/>
              <a:t> Диаграммы деятельности удобно применять для визуализации алгоритмов, по которым работают операции классов.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382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963051C-CD89-4F1E-B2CC-6D70B117043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15861" y="587914"/>
            <a:ext cx="7329182" cy="728662"/>
          </a:xfrm>
        </p:spPr>
        <p:txBody>
          <a:bodyPr/>
          <a:lstStyle/>
          <a:p>
            <a:r>
              <a:rPr lang="ru-RU" b="1" dirty="0"/>
              <a:t>Пример: </a:t>
            </a:r>
            <a:r>
              <a:rPr lang="ru-RU" dirty="0"/>
              <a:t>деятельность студента каждое утро</a:t>
            </a:r>
          </a:p>
        </p:txBody>
      </p:sp>
      <p:pic>
        <p:nvPicPr>
          <p:cNvPr id="4" name="Рисунок 3" descr="http://baumanki.net/uploads/lectures/informatika-i-programmirovanie/uml/files/21-2-vidy-diagramm-uml.jpg">
            <a:extLst>
              <a:ext uri="{FF2B5EF4-FFF2-40B4-BE49-F238E27FC236}">
                <a16:creationId xmlns:a16="http://schemas.microsoft.com/office/drawing/2014/main" id="{A68394C5-BA16-4C27-A5EE-C2BEB5FAE9D7}"/>
              </a:ext>
            </a:extLst>
          </p:cNvPr>
          <p:cNvPicPr/>
          <p:nvPr/>
        </p:nvPicPr>
        <p:blipFill>
          <a:blip r:embed="rId2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4044120" y="1557246"/>
            <a:ext cx="4000923" cy="43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73588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ok-t.ru/studopediaru/baza10/435442169490.files/image049.jpg">
            <a:extLst>
              <a:ext uri="{FF2B5EF4-FFF2-40B4-BE49-F238E27FC236}">
                <a16:creationId xmlns:a16="http://schemas.microsoft.com/office/drawing/2014/main" id="{84D9F31C-50F2-4F2A-8200-6CB838BCC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983" y="162447"/>
            <a:ext cx="4949623" cy="610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D81E45F3-2236-42FA-A377-43591268CA5A}"/>
              </a:ext>
            </a:extLst>
          </p:cNvPr>
          <p:cNvSpPr txBox="1">
            <a:spLocks/>
          </p:cNvSpPr>
          <p:nvPr/>
        </p:nvSpPr>
        <p:spPr>
          <a:xfrm>
            <a:off x="489358" y="378190"/>
            <a:ext cx="4678259" cy="7286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Пример: </a:t>
            </a:r>
            <a:r>
              <a:rPr lang="ru-RU" dirty="0"/>
              <a:t>диаграмма деятельности по формированию заказа</a:t>
            </a:r>
          </a:p>
        </p:txBody>
      </p:sp>
    </p:spTree>
    <p:extLst>
      <p:ext uri="{BB962C8B-B14F-4D97-AF65-F5344CB8AC3E}">
        <p14:creationId xmlns:p14="http://schemas.microsoft.com/office/powerpoint/2010/main" val="2620756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://baumanki.net/uploads/lectures/informatika-i-programmirovanie/uml/files/23-2-vidy-diagramm-um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36618" y="557070"/>
            <a:ext cx="4998842" cy="5625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944E4AC-D964-4108-8B5D-5325B97023F9}"/>
              </a:ext>
            </a:extLst>
          </p:cNvPr>
          <p:cNvSpPr txBox="1">
            <a:spLocks/>
          </p:cNvSpPr>
          <p:nvPr/>
        </p:nvSpPr>
        <p:spPr>
          <a:xfrm>
            <a:off x="489358" y="378190"/>
            <a:ext cx="4678259" cy="7286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Пример: </a:t>
            </a:r>
            <a:r>
              <a:rPr lang="ru-RU" dirty="0"/>
              <a:t>диаграмма деятельности по формированию заказа</a:t>
            </a:r>
          </a:p>
        </p:txBody>
      </p:sp>
    </p:spTree>
    <p:extLst>
      <p:ext uri="{BB962C8B-B14F-4D97-AF65-F5344CB8AC3E}">
        <p14:creationId xmlns:p14="http://schemas.microsoft.com/office/powerpoint/2010/main" val="29815845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900igr.net/up/datas/65763/01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29192" r="20230" b="-1"/>
          <a:stretch/>
        </p:blipFill>
        <p:spPr bwMode="auto">
          <a:xfrm>
            <a:off x="2541938" y="287220"/>
            <a:ext cx="5914724" cy="568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9BA6BF6-74E2-408B-9A85-370EF41A2586}"/>
              </a:ext>
            </a:extLst>
          </p:cNvPr>
          <p:cNvSpPr txBox="1">
            <a:spLocks/>
          </p:cNvSpPr>
          <p:nvPr/>
        </p:nvSpPr>
        <p:spPr>
          <a:xfrm>
            <a:off x="1149291" y="6085521"/>
            <a:ext cx="10058400" cy="27305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при входе пользователя в </a:t>
            </a:r>
            <a:r>
              <a:rPr lang="en-US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Web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-приложение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7744494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86E6A81F-07A1-4DBE-AD2A-7C618E620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694" y="1105689"/>
            <a:ext cx="8446316" cy="460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60386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678DD7-D56D-4D56-8BCB-48ECEAD71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515" y="1072852"/>
            <a:ext cx="8623883" cy="465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68794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83619F-797F-46FB-9919-3D1A4C04F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47" y="1013337"/>
            <a:ext cx="8822421" cy="483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11109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76B7A9-164B-40C5-8669-8CD5DE5A5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27" y="880046"/>
            <a:ext cx="8749717" cy="482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08469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92B0DA-181A-403F-88F5-D500CA54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47" y="924362"/>
            <a:ext cx="8355260" cy="47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71598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B92D66-EE97-44C8-B622-E46535053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04" y="989012"/>
            <a:ext cx="8632311" cy="47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75010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A4A893-6795-4673-BAE6-49A161A1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47" y="989013"/>
            <a:ext cx="8610163" cy="480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20328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DDB3C1-B04A-4614-8F9B-8F4701D19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47" y="989013"/>
            <a:ext cx="8722541" cy="48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9270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E3979-B808-4F86-A66E-358EE17BB0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2847" y="287338"/>
            <a:ext cx="10058400" cy="701675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F97B7-3330-4E51-86C8-A77A5D9E9B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2847" y="5832124"/>
            <a:ext cx="10058400" cy="2730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деятельности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обработки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запроса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выдачу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документ</a:t>
            </a:r>
            <a:r>
              <a:rPr lang="ru-RU" sz="1600" spc="-1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а</a:t>
            </a: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3210B69-8FB3-4601-B1EA-9E0D88FAE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34" y="989013"/>
            <a:ext cx="8766495" cy="481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26633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5604" y="243060"/>
            <a:ext cx="10058400" cy="1450757"/>
          </a:xfrm>
        </p:spPr>
        <p:txBody>
          <a:bodyPr/>
          <a:lstStyle/>
          <a:p>
            <a:r>
              <a:rPr lang="ru-RU" dirty="0"/>
              <a:t>Диаграмма развертывания </a:t>
            </a:r>
            <a:r>
              <a:rPr lang="ru-RU" i="1" dirty="0"/>
              <a:t>(</a:t>
            </a:r>
            <a:r>
              <a:rPr lang="ru-RU" i="1" dirty="0" err="1"/>
              <a:t>deployment</a:t>
            </a:r>
            <a:r>
              <a:rPr lang="ru-RU" i="1" dirty="0"/>
              <a:t> </a:t>
            </a:r>
            <a:r>
              <a:rPr lang="ru-RU" i="1" dirty="0" err="1"/>
              <a:t>diagram</a:t>
            </a:r>
            <a:r>
              <a:rPr lang="ru-RU" i="1" dirty="0"/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87679" y="2238102"/>
            <a:ext cx="10058401" cy="2778035"/>
          </a:xfrm>
        </p:spPr>
        <p:txBody>
          <a:bodyPr/>
          <a:lstStyle/>
          <a:p>
            <a:pPr algn="just"/>
            <a:r>
              <a:rPr lang="ru-RU" sz="2200" dirty="0"/>
              <a:t>Корпоративные приложения часто требуют для своей работы некоторой </a:t>
            </a:r>
            <a:br>
              <a:rPr lang="ru-RU" sz="2200" dirty="0"/>
            </a:br>
            <a:r>
              <a:rPr lang="ru-RU" sz="2200" i="1" dirty="0"/>
              <a:t>ИТ-инфраструктуры</a:t>
            </a:r>
            <a:r>
              <a:rPr lang="ru-RU" sz="2200" dirty="0"/>
              <a:t>, хранят информацию в базах данных, расположенных где-то на серверах компании, вызывают веб-сервисы, используют общие ресурсы и т.д. </a:t>
            </a:r>
          </a:p>
          <a:p>
            <a:pPr algn="just"/>
            <a:r>
              <a:rPr lang="ru-RU" sz="2200" dirty="0"/>
              <a:t>В таких случаях неплохо бы иметь графическое представление инфраструктуры, на которую будет развернуто приложение.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konspekta.net/lektsianew/baza6/595070259066.files/image13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30"/>
          <a:stretch/>
        </p:blipFill>
        <p:spPr bwMode="auto">
          <a:xfrm>
            <a:off x="793399" y="1306327"/>
            <a:ext cx="4658167" cy="353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konspekta.net/lektsianew/baza6/595070259066.files/image133.jpg">
            <a:extLst>
              <a:ext uri="{FF2B5EF4-FFF2-40B4-BE49-F238E27FC236}">
                <a16:creationId xmlns:a16="http://schemas.microsoft.com/office/drawing/2014/main" id="{48720F33-3063-4943-BD30-03824BFBD7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11"/>
          <a:stretch/>
        </p:blipFill>
        <p:spPr bwMode="auto">
          <a:xfrm>
            <a:off x="6278880" y="1472232"/>
            <a:ext cx="5287295" cy="342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5889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http://baumanki.net/uploads/lectures/informatika-i-programmirovanie/uml/files/24-2-vidy-diagramm-uml.jpg"/>
          <p:cNvPicPr>
            <a:picLocks noGrp="1"/>
          </p:cNvPicPr>
          <p:nvPr>
            <p:ph sz="quarter"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32298" y="1393371"/>
            <a:ext cx="4214422" cy="345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8C65672-B102-488A-A38C-D2219BB0FDD3}"/>
              </a:ext>
            </a:extLst>
          </p:cNvPr>
          <p:cNvSpPr txBox="1">
            <a:spLocks/>
          </p:cNvSpPr>
          <p:nvPr/>
        </p:nvSpPr>
        <p:spPr>
          <a:xfrm>
            <a:off x="1216403" y="5328104"/>
            <a:ext cx="10058400" cy="27305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развертывания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информационной системы управления продажами</a:t>
            </a:r>
            <a:endParaRPr lang="ru-RU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3DA78C-AC63-46CC-90C7-9F5F8AD1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77" y="192684"/>
            <a:ext cx="9829800" cy="531495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C960C15-B699-4E92-AEE3-E2B6E413C088}"/>
              </a:ext>
            </a:extLst>
          </p:cNvPr>
          <p:cNvSpPr txBox="1">
            <a:spLocks/>
          </p:cNvSpPr>
          <p:nvPr/>
        </p:nvSpPr>
        <p:spPr>
          <a:xfrm>
            <a:off x="1182847" y="5832124"/>
            <a:ext cx="10058400" cy="27305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4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развертывания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UML</a:t>
            </a:r>
            <a:r>
              <a:rPr lang="ru-RU" sz="1600" spc="-35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4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информационной системы сети магазинов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732304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B6D57-8DB6-4AA1-9CA1-77FB093CC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39525"/>
          </a:xfrm>
        </p:spPr>
        <p:txBody>
          <a:bodyPr/>
          <a:lstStyle/>
          <a:p>
            <a:r>
              <a:rPr lang="ru-RU" dirty="0"/>
              <a:t>Выводы: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E6445-2E80-4CDC-B918-C66017C14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97404"/>
            <a:ext cx="10058400" cy="4023360"/>
          </a:xfrm>
        </p:spPr>
        <p:txBody>
          <a:bodyPr/>
          <a:lstStyle/>
          <a:p>
            <a:pPr marL="457200" indent="-457200">
              <a:buSzPct val="120000"/>
              <a:buFont typeface="+mj-lt"/>
              <a:buAutoNum type="arabicPeriod"/>
            </a:pP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Модели нужны для разработки отдельных аспектов программных систем: контекста выполнения, взаимодействий, структуры и поведения системы. </a:t>
            </a:r>
          </a:p>
          <a:p>
            <a:pPr marL="457200" indent="-457200">
              <a:buSzPct val="120000"/>
              <a:buFont typeface="+mj-lt"/>
              <a:buAutoNum type="arabicPeriod"/>
            </a:pP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Моделирование важно для детализации требований к программному обеспечению, а также для проектирования общей архитектуры системы и отдельных элементов. </a:t>
            </a:r>
          </a:p>
          <a:p>
            <a:pPr marL="457200" indent="-457200">
              <a:buSzPct val="120000"/>
              <a:buFont typeface="+mj-lt"/>
              <a:buAutoNum type="arabicPeriod"/>
            </a:pP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Одним из стандартов моделирования являются графические модели на основе языка UML. </a:t>
            </a:r>
          </a:p>
          <a:p>
            <a:pPr marL="457200" indent="-457200">
              <a:buSzPct val="120000"/>
              <a:buFont typeface="+mj-lt"/>
              <a:buAutoNum type="arabicPeriod"/>
            </a:pP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 прикладном моделировании используются 5 основных типов диаграмм UML: </a:t>
            </a:r>
            <a:r>
              <a:rPr lang="ru-RU" dirty="0">
                <a:latin typeface="Arial" panose="020B0604020202020204" pitchFamily="34" charset="0"/>
                <a:ea typeface="Arial" panose="020B0604020202020204" pitchFamily="34" charset="0"/>
              </a:rPr>
              <a:t>вариантов использования, 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последовательности (</a:t>
            </a:r>
            <a:r>
              <a:rPr lang="ru-RU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или сотрудничества),</a:t>
            </a:r>
            <a:r>
              <a:rPr lang="ru-RU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ea typeface="Arial" panose="020B0604020202020204" pitchFamily="34" charset="0"/>
              </a:rPr>
              <a:t>диаграммы деятельности,  </a:t>
            </a:r>
            <a:r>
              <a:rPr lang="ru-RU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классов и состояний.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890028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Эмблем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</TotalTime>
  <Words>964</Words>
  <Application>Microsoft Office PowerPoint</Application>
  <PresentationFormat>Широкоэкранный</PresentationFormat>
  <Paragraphs>129</Paragraphs>
  <Slides>52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52</vt:i4>
      </vt:variant>
    </vt:vector>
  </HeadingPairs>
  <TitlesOfParts>
    <vt:vector size="64" baseType="lpstr">
      <vt:lpstr>Arial</vt:lpstr>
      <vt:lpstr>Arial Black</vt:lpstr>
      <vt:lpstr>Calibri</vt:lpstr>
      <vt:lpstr>Calibri Light</vt:lpstr>
      <vt:lpstr>Consolas</vt:lpstr>
      <vt:lpstr>Corbel</vt:lpstr>
      <vt:lpstr>Gill Sans MT</vt:lpstr>
      <vt:lpstr>Impact</vt:lpstr>
      <vt:lpstr>Open Sans</vt:lpstr>
      <vt:lpstr>Wingdings</vt:lpstr>
      <vt:lpstr>Ретро</vt:lpstr>
      <vt:lpstr>Эмблема</vt:lpstr>
      <vt:lpstr>Унифицированный язык моделирования Раздел 2</vt:lpstr>
      <vt:lpstr>Структурные модели</vt:lpstr>
      <vt:lpstr>Диаграмма классов</vt:lpstr>
      <vt:lpstr>Диаграмма классов</vt:lpstr>
      <vt:lpstr>Диаграмма классов</vt:lpstr>
      <vt:lpstr>Диаграмма классов</vt:lpstr>
      <vt:lpstr>Диаграмма классов</vt:lpstr>
      <vt:lpstr>Диаграмма классов</vt:lpstr>
      <vt:lpstr>Диаграмма классов</vt:lpstr>
      <vt:lpstr>Диаграмма классов</vt:lpstr>
      <vt:lpstr>Диаграмма классов</vt:lpstr>
      <vt:lpstr>Диаграмма классов – отношение обобщения</vt:lpstr>
      <vt:lpstr>Диаграмма классов – отношение обобщения</vt:lpstr>
      <vt:lpstr>Диаграмма классов – отношение обобщения</vt:lpstr>
      <vt:lpstr>Диаграмма классов – отношение обобщения</vt:lpstr>
      <vt:lpstr>Диаграмма классов – отношение обобщения</vt:lpstr>
      <vt:lpstr>Виды отношений между классами</vt:lpstr>
      <vt:lpstr>Виды отношений между классами</vt:lpstr>
      <vt:lpstr>Отношение агрегации и композиции</vt:lpstr>
      <vt:lpstr>Контекстные модели</vt:lpstr>
      <vt:lpstr>Диаграмма объектов (object diagram)</vt:lpstr>
      <vt:lpstr>Презентация PowerPoint</vt:lpstr>
      <vt:lpstr>Презентация PowerPoint</vt:lpstr>
      <vt:lpstr>Модели поведения</vt:lpstr>
      <vt:lpstr>Диаграммы состояний  (statechart diagram)</vt:lpstr>
      <vt:lpstr>Диаграммы состояний</vt:lpstr>
      <vt:lpstr>Диаграммы состояний</vt:lpstr>
      <vt:lpstr>Диаграммы состояний</vt:lpstr>
      <vt:lpstr>Диаграммы состояний</vt:lpstr>
      <vt:lpstr>Диаграммы состояний</vt:lpstr>
      <vt:lpstr>Презентация PowerPoint</vt:lpstr>
      <vt:lpstr>Презентация PowerPoint</vt:lpstr>
      <vt:lpstr>Презентация PowerPoint</vt:lpstr>
      <vt:lpstr>Диаграмма активности (деятельности, activity diagram)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деятельности</vt:lpstr>
      <vt:lpstr>Диаграмма деятельности</vt:lpstr>
      <vt:lpstr>Диаграмма деятельности</vt:lpstr>
      <vt:lpstr>Диаграмма деятельности</vt:lpstr>
      <vt:lpstr>Диаграмма деятельности</vt:lpstr>
      <vt:lpstr>Диаграмма деятельности</vt:lpstr>
      <vt:lpstr>Диаграмма деятельности</vt:lpstr>
      <vt:lpstr>Диаграмма деятельности</vt:lpstr>
      <vt:lpstr>Диаграмма деятельности</vt:lpstr>
      <vt:lpstr>Диаграмма развертывания (deployment diagram)</vt:lpstr>
      <vt:lpstr>Презентация PowerPoint</vt:lpstr>
      <vt:lpstr>Презентация PowerPoint</vt:lpstr>
      <vt:lpstr>Презентация PowerPoint</vt:lpstr>
      <vt:lpstr>Выводы: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Унифицированный язык моделирования Раздел 2</dc:title>
  <dc:creator>242909073111</dc:creator>
  <cp:lastModifiedBy>242909073111</cp:lastModifiedBy>
  <cp:revision>5</cp:revision>
  <dcterms:created xsi:type="dcterms:W3CDTF">2025-12-12T10:47:18Z</dcterms:created>
  <dcterms:modified xsi:type="dcterms:W3CDTF">2025-12-12T11:52:22Z</dcterms:modified>
</cp:coreProperties>
</file>