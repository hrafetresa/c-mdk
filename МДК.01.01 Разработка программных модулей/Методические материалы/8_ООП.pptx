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55" r:id="rId2"/>
    <p:sldMasterId id="2147483675" r:id="rId3"/>
    <p:sldMasterId id="2147483827" r:id="rId4"/>
  </p:sldMasterIdLst>
  <p:notesMasterIdLst>
    <p:notesMasterId r:id="rId48"/>
  </p:notesMasterIdLst>
  <p:sldIdLst>
    <p:sldId id="256" r:id="rId5"/>
    <p:sldId id="257" r:id="rId6"/>
    <p:sldId id="307" r:id="rId7"/>
    <p:sldId id="259" r:id="rId8"/>
    <p:sldId id="260" r:id="rId9"/>
    <p:sldId id="261" r:id="rId10"/>
    <p:sldId id="262" r:id="rId11"/>
    <p:sldId id="308" r:id="rId12"/>
    <p:sldId id="309" r:id="rId13"/>
    <p:sldId id="319" r:id="rId14"/>
    <p:sldId id="311" r:id="rId15"/>
    <p:sldId id="312" r:id="rId16"/>
    <p:sldId id="317" r:id="rId17"/>
    <p:sldId id="313" r:id="rId18"/>
    <p:sldId id="310" r:id="rId19"/>
    <p:sldId id="318" r:id="rId20"/>
    <p:sldId id="322" r:id="rId21"/>
    <p:sldId id="320" r:id="rId22"/>
    <p:sldId id="323" r:id="rId23"/>
    <p:sldId id="265" r:id="rId24"/>
    <p:sldId id="266" r:id="rId25"/>
    <p:sldId id="269" r:id="rId26"/>
    <p:sldId id="270" r:id="rId27"/>
    <p:sldId id="321" r:id="rId28"/>
    <p:sldId id="271" r:id="rId29"/>
    <p:sldId id="272" r:id="rId30"/>
    <p:sldId id="296" r:id="rId31"/>
    <p:sldId id="273" r:id="rId32"/>
    <p:sldId id="315" r:id="rId33"/>
    <p:sldId id="275" r:id="rId34"/>
    <p:sldId id="276" r:id="rId35"/>
    <p:sldId id="292" r:id="rId36"/>
    <p:sldId id="297" r:id="rId37"/>
    <p:sldId id="298" r:id="rId38"/>
    <p:sldId id="300" r:id="rId39"/>
    <p:sldId id="301" r:id="rId40"/>
    <p:sldId id="302" r:id="rId41"/>
    <p:sldId id="303" r:id="rId42"/>
    <p:sldId id="304" r:id="rId43"/>
    <p:sldId id="278" r:id="rId44"/>
    <p:sldId id="316" r:id="rId45"/>
    <p:sldId id="299" r:id="rId46"/>
    <p:sldId id="314" r:id="rId47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00"/>
    <a:srgbClr val="00CC99"/>
    <a:srgbClr val="0000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8" autoAdjust="0"/>
    <p:restoredTop sz="89894" autoAdjust="0"/>
  </p:normalViewPr>
  <p:slideViewPr>
    <p:cSldViewPr>
      <p:cViewPr varScale="1">
        <p:scale>
          <a:sx n="63" d="100"/>
          <a:sy n="63" d="100"/>
        </p:scale>
        <p:origin x="1512" y="7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5D11EA-DA28-4C31-9DFE-F909A363A9AF}" type="doc">
      <dgm:prSet loTypeId="urn:microsoft.com/office/officeart/2005/8/layout/hierarchy6" loCatId="hierarchy" qsTypeId="urn:microsoft.com/office/officeart/2005/8/quickstyle/simple3" qsCatId="simple" csTypeId="urn:microsoft.com/office/officeart/2005/8/colors/accent6_3" csCatId="accent6" phldr="1"/>
      <dgm:spPr/>
      <dgm:t>
        <a:bodyPr/>
        <a:lstStyle/>
        <a:p>
          <a:endParaRPr lang="ru-RU"/>
        </a:p>
      </dgm:t>
    </dgm:pt>
    <dgm:pt modelId="{4F9D97D4-8C55-49A4-BCEA-D8CBC12ADCED}">
      <dgm:prSet phldrT="[Текст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ru-RU" b="1" dirty="0">
              <a:effectLst/>
            </a:rPr>
            <a:t>Человек </a:t>
          </a:r>
          <a:br>
            <a:rPr lang="ru-RU" b="1" dirty="0">
              <a:effectLst/>
            </a:rPr>
          </a:br>
          <a:r>
            <a:rPr lang="ru-RU" b="1" dirty="0">
              <a:effectLst/>
            </a:rPr>
            <a:t>(класс </a:t>
          </a:r>
          <a:r>
            <a:rPr lang="en-US" b="1" dirty="0">
              <a:effectLst/>
            </a:rPr>
            <a:t>Person)</a:t>
          </a:r>
          <a:endParaRPr lang="ru-RU" b="1" dirty="0">
            <a:effectLst/>
          </a:endParaRPr>
        </a:p>
      </dgm:t>
    </dgm:pt>
    <dgm:pt modelId="{90240FE5-DD54-4077-9BA9-75F67AD0A821}" type="parTrans" cxnId="{DE286C5C-E0DE-461C-9FAD-F5127BB62E9B}">
      <dgm:prSet/>
      <dgm:spPr/>
      <dgm:t>
        <a:bodyPr/>
        <a:lstStyle/>
        <a:p>
          <a:endParaRPr lang="ru-RU"/>
        </a:p>
      </dgm:t>
    </dgm:pt>
    <dgm:pt modelId="{73B013F3-91C1-4D5B-9A2E-6D754FA56EC1}" type="sibTrans" cxnId="{DE286C5C-E0DE-461C-9FAD-F5127BB62E9B}">
      <dgm:prSet/>
      <dgm:spPr/>
      <dgm:t>
        <a:bodyPr/>
        <a:lstStyle/>
        <a:p>
          <a:endParaRPr lang="ru-RU"/>
        </a:p>
      </dgm:t>
    </dgm:pt>
    <dgm:pt modelId="{666C56C0-021D-4D3C-86A7-5CF751B20D13}">
      <dgm:prSet phldrT="[Текст]"/>
      <dgm:spPr/>
      <dgm:t>
        <a:bodyPr/>
        <a:lstStyle/>
        <a:p>
          <a:r>
            <a:rPr lang="ru-RU" b="1" dirty="0"/>
            <a:t>Студент (класс </a:t>
          </a:r>
          <a:r>
            <a:rPr lang="en-US" b="1" dirty="0"/>
            <a:t>Student)</a:t>
          </a:r>
          <a:endParaRPr lang="ru-RU" b="1" dirty="0"/>
        </a:p>
      </dgm:t>
    </dgm:pt>
    <dgm:pt modelId="{FD29EF8D-E136-4F39-AD42-3A8FD3B257FC}" type="parTrans" cxnId="{89750A70-435A-44A4-9DF7-A853CEA2B6AD}">
      <dgm:prSet/>
      <dgm:spPr/>
      <dgm:t>
        <a:bodyPr/>
        <a:lstStyle/>
        <a:p>
          <a:endParaRPr lang="ru-RU"/>
        </a:p>
      </dgm:t>
    </dgm:pt>
    <dgm:pt modelId="{8C3E9DD8-6A06-43B0-9291-F854BA50DFB8}" type="sibTrans" cxnId="{89750A70-435A-44A4-9DF7-A853CEA2B6AD}">
      <dgm:prSet/>
      <dgm:spPr/>
      <dgm:t>
        <a:bodyPr/>
        <a:lstStyle/>
        <a:p>
          <a:endParaRPr lang="ru-RU"/>
        </a:p>
      </dgm:t>
    </dgm:pt>
    <dgm:pt modelId="{6490924B-7BC9-4B8C-9163-DA30B806D5DF}">
      <dgm:prSet phldrT="[Текст]" custT="1"/>
      <dgm:spPr/>
      <dgm:t>
        <a:bodyPr/>
        <a:lstStyle/>
        <a:p>
          <a:r>
            <a:rPr lang="ru-RU" sz="1800" dirty="0"/>
            <a:t>Очная форма (класс </a:t>
          </a:r>
          <a:r>
            <a:rPr lang="en-US" sz="2000" dirty="0" err="1"/>
            <a:t>RealStudent</a:t>
          </a:r>
          <a:r>
            <a:rPr lang="en-US" sz="2000" dirty="0"/>
            <a:t>)</a:t>
          </a:r>
          <a:endParaRPr lang="ru-RU" sz="2000" dirty="0"/>
        </a:p>
      </dgm:t>
    </dgm:pt>
    <dgm:pt modelId="{41ED3E7C-B40A-4E0D-A32A-2794F0A47F73}" type="parTrans" cxnId="{1B7C4020-6A1D-461C-A935-514B1594625F}">
      <dgm:prSet/>
      <dgm:spPr/>
      <dgm:t>
        <a:bodyPr/>
        <a:lstStyle/>
        <a:p>
          <a:endParaRPr lang="ru-RU"/>
        </a:p>
      </dgm:t>
    </dgm:pt>
    <dgm:pt modelId="{A7CC696E-963F-4E21-990A-2500449D3284}" type="sibTrans" cxnId="{1B7C4020-6A1D-461C-A935-514B1594625F}">
      <dgm:prSet/>
      <dgm:spPr/>
      <dgm:t>
        <a:bodyPr/>
        <a:lstStyle/>
        <a:p>
          <a:endParaRPr lang="ru-RU"/>
        </a:p>
      </dgm:t>
    </dgm:pt>
    <dgm:pt modelId="{47E6D833-3528-488C-B315-609C636CDDC0}">
      <dgm:prSet phldrT="[Текст]" custT="1"/>
      <dgm:spPr/>
      <dgm:t>
        <a:bodyPr/>
        <a:lstStyle/>
        <a:p>
          <a:r>
            <a:rPr lang="ru-RU" sz="1800" dirty="0"/>
            <a:t>Заочная форма</a:t>
          </a:r>
          <a:r>
            <a:rPr lang="en-US" sz="1800" dirty="0"/>
            <a:t> (</a:t>
          </a:r>
          <a:r>
            <a:rPr lang="ru-RU" sz="1800" dirty="0"/>
            <a:t>класс</a:t>
          </a:r>
          <a:br>
            <a:rPr lang="ru-RU" sz="1800" dirty="0"/>
          </a:br>
          <a:r>
            <a:rPr lang="en-US" sz="2000" dirty="0" err="1"/>
            <a:t>VirtualStudent</a:t>
          </a:r>
          <a:r>
            <a:rPr lang="en-US" sz="2000" dirty="0"/>
            <a:t>)</a:t>
          </a:r>
          <a:endParaRPr lang="ru-RU" sz="2200" dirty="0"/>
        </a:p>
      </dgm:t>
    </dgm:pt>
    <dgm:pt modelId="{9D0F06CA-9A66-4D99-B8D4-9FB13DF32797}" type="parTrans" cxnId="{4907D60B-C5B9-478A-ADA8-32BBB4BEF1F7}">
      <dgm:prSet/>
      <dgm:spPr/>
      <dgm:t>
        <a:bodyPr/>
        <a:lstStyle/>
        <a:p>
          <a:endParaRPr lang="ru-RU"/>
        </a:p>
      </dgm:t>
    </dgm:pt>
    <dgm:pt modelId="{B60A3DFF-B3E0-4E79-8D66-09C1DE54207B}" type="sibTrans" cxnId="{4907D60B-C5B9-478A-ADA8-32BBB4BEF1F7}">
      <dgm:prSet/>
      <dgm:spPr/>
      <dgm:t>
        <a:bodyPr/>
        <a:lstStyle/>
        <a:p>
          <a:endParaRPr lang="ru-RU"/>
        </a:p>
      </dgm:t>
    </dgm:pt>
    <dgm:pt modelId="{360F78C4-2B88-4A84-B422-743AE103EB14}">
      <dgm:prSet phldrT="[Текст]"/>
      <dgm:spPr/>
      <dgm:t>
        <a:bodyPr/>
        <a:lstStyle/>
        <a:p>
          <a:r>
            <a:rPr lang="ru-RU" b="1" dirty="0"/>
            <a:t>Профессор (класс  </a:t>
          </a:r>
          <a:r>
            <a:rPr lang="en-US" b="1" dirty="0"/>
            <a:t>Professor)</a:t>
          </a:r>
          <a:endParaRPr lang="ru-RU" b="1" dirty="0"/>
        </a:p>
      </dgm:t>
    </dgm:pt>
    <dgm:pt modelId="{CD66916A-5A78-462E-940F-0ECAB51FAE93}" type="parTrans" cxnId="{10915F0F-651A-4941-9BC6-8A7DD37A49BA}">
      <dgm:prSet/>
      <dgm:spPr/>
      <dgm:t>
        <a:bodyPr/>
        <a:lstStyle/>
        <a:p>
          <a:endParaRPr lang="ru-RU"/>
        </a:p>
      </dgm:t>
    </dgm:pt>
    <dgm:pt modelId="{52CB28C3-4163-4CEF-B7EF-F8F39574F22D}" type="sibTrans" cxnId="{10915F0F-651A-4941-9BC6-8A7DD37A49BA}">
      <dgm:prSet/>
      <dgm:spPr/>
      <dgm:t>
        <a:bodyPr/>
        <a:lstStyle/>
        <a:p>
          <a:endParaRPr lang="ru-RU"/>
        </a:p>
      </dgm:t>
    </dgm:pt>
    <dgm:pt modelId="{D2240E44-26CC-4E4E-91CB-81410EB5D9BF}" type="pres">
      <dgm:prSet presAssocID="{2D5D11EA-DA28-4C31-9DFE-F909A363A9A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2D9B7ED-0835-4EFD-A9D6-6BF32285D904}" type="pres">
      <dgm:prSet presAssocID="{2D5D11EA-DA28-4C31-9DFE-F909A363A9AF}" presName="hierFlow" presStyleCnt="0"/>
      <dgm:spPr/>
    </dgm:pt>
    <dgm:pt modelId="{C2293D15-76D3-40E4-AB22-B9F14F9CAD54}" type="pres">
      <dgm:prSet presAssocID="{2D5D11EA-DA28-4C31-9DFE-F909A363A9A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7F31297-1286-45E4-BA14-EC3B97D15FC5}" type="pres">
      <dgm:prSet presAssocID="{4F9D97D4-8C55-49A4-BCEA-D8CBC12ADCED}" presName="Name14" presStyleCnt="0"/>
      <dgm:spPr/>
    </dgm:pt>
    <dgm:pt modelId="{C9DD0777-C87F-400E-BA64-DCABABFF5C7F}" type="pres">
      <dgm:prSet presAssocID="{4F9D97D4-8C55-49A4-BCEA-D8CBC12ADCED}" presName="level1Shape" presStyleLbl="node0" presStyleIdx="0" presStyleCnt="1" custScaleX="122567" custLinFactNeighborX="7602" custLinFactNeighborY="609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447D264-CCC8-48CD-91F5-1CD2A3AAC36E}" type="pres">
      <dgm:prSet presAssocID="{4F9D97D4-8C55-49A4-BCEA-D8CBC12ADCED}" presName="hierChild2" presStyleCnt="0"/>
      <dgm:spPr/>
    </dgm:pt>
    <dgm:pt modelId="{F68A1935-2164-4CAC-8FA1-6DCC3D505B0E}" type="pres">
      <dgm:prSet presAssocID="{FD29EF8D-E136-4F39-AD42-3A8FD3B257FC}" presName="Name19" presStyleLbl="parChTrans1D2" presStyleIdx="0" presStyleCnt="2"/>
      <dgm:spPr/>
      <dgm:t>
        <a:bodyPr/>
        <a:lstStyle/>
        <a:p>
          <a:endParaRPr lang="ru-RU"/>
        </a:p>
      </dgm:t>
    </dgm:pt>
    <dgm:pt modelId="{8421D597-AB2A-4320-A78E-E6293204ABC1}" type="pres">
      <dgm:prSet presAssocID="{666C56C0-021D-4D3C-86A7-5CF751B20D13}" presName="Name21" presStyleCnt="0"/>
      <dgm:spPr/>
    </dgm:pt>
    <dgm:pt modelId="{650E8B67-5693-478E-B7C4-BDFDBA3F0B58}" type="pres">
      <dgm:prSet presAssocID="{666C56C0-021D-4D3C-86A7-5CF751B20D13}" presName="level2Shape" presStyleLbl="node2" presStyleIdx="0" presStyleCnt="2" custScaleX="118638"/>
      <dgm:spPr/>
      <dgm:t>
        <a:bodyPr/>
        <a:lstStyle/>
        <a:p>
          <a:endParaRPr lang="ru-RU"/>
        </a:p>
      </dgm:t>
    </dgm:pt>
    <dgm:pt modelId="{8C5BF4B4-D544-4E1F-92F8-66FF85F870DE}" type="pres">
      <dgm:prSet presAssocID="{666C56C0-021D-4D3C-86A7-5CF751B20D13}" presName="hierChild3" presStyleCnt="0"/>
      <dgm:spPr/>
    </dgm:pt>
    <dgm:pt modelId="{0F874057-39D9-47BD-B828-2307AD04942E}" type="pres">
      <dgm:prSet presAssocID="{41ED3E7C-B40A-4E0D-A32A-2794F0A47F73}" presName="Name19" presStyleLbl="parChTrans1D3" presStyleIdx="0" presStyleCnt="2"/>
      <dgm:spPr/>
      <dgm:t>
        <a:bodyPr/>
        <a:lstStyle/>
        <a:p>
          <a:endParaRPr lang="ru-RU"/>
        </a:p>
      </dgm:t>
    </dgm:pt>
    <dgm:pt modelId="{2D566C13-5D74-41A3-B262-6D85CEE1C168}" type="pres">
      <dgm:prSet presAssocID="{6490924B-7BC9-4B8C-9163-DA30B806D5DF}" presName="Name21" presStyleCnt="0"/>
      <dgm:spPr/>
    </dgm:pt>
    <dgm:pt modelId="{0683236E-44AC-488E-9ED1-E7D943BF1F79}" type="pres">
      <dgm:prSet presAssocID="{6490924B-7BC9-4B8C-9163-DA30B806D5DF}" presName="level2Shape" presStyleLbl="node3" presStyleIdx="0" presStyleCnt="2" custScaleX="128039"/>
      <dgm:spPr/>
      <dgm:t>
        <a:bodyPr/>
        <a:lstStyle/>
        <a:p>
          <a:endParaRPr lang="ru-RU"/>
        </a:p>
      </dgm:t>
    </dgm:pt>
    <dgm:pt modelId="{DE893880-3D92-412A-A698-1C3B1E784E34}" type="pres">
      <dgm:prSet presAssocID="{6490924B-7BC9-4B8C-9163-DA30B806D5DF}" presName="hierChild3" presStyleCnt="0"/>
      <dgm:spPr/>
    </dgm:pt>
    <dgm:pt modelId="{4B04E99D-06EA-4492-B023-8ADAE81702ED}" type="pres">
      <dgm:prSet presAssocID="{9D0F06CA-9A66-4D99-B8D4-9FB13DF32797}" presName="Name19" presStyleLbl="parChTrans1D3" presStyleIdx="1" presStyleCnt="2"/>
      <dgm:spPr/>
      <dgm:t>
        <a:bodyPr/>
        <a:lstStyle/>
        <a:p>
          <a:endParaRPr lang="ru-RU"/>
        </a:p>
      </dgm:t>
    </dgm:pt>
    <dgm:pt modelId="{01A2F2CE-9B64-4D16-BF2E-28A73CF929E6}" type="pres">
      <dgm:prSet presAssocID="{47E6D833-3528-488C-B315-609C636CDDC0}" presName="Name21" presStyleCnt="0"/>
      <dgm:spPr/>
    </dgm:pt>
    <dgm:pt modelId="{B04FC36C-1496-4673-AAFF-5EB4F15ED46E}" type="pres">
      <dgm:prSet presAssocID="{47E6D833-3528-488C-B315-609C636CDDC0}" presName="level2Shape" presStyleLbl="node3" presStyleIdx="1" presStyleCnt="2" custScaleX="125107"/>
      <dgm:spPr/>
      <dgm:t>
        <a:bodyPr/>
        <a:lstStyle/>
        <a:p>
          <a:endParaRPr lang="ru-RU"/>
        </a:p>
      </dgm:t>
    </dgm:pt>
    <dgm:pt modelId="{26E06685-C88C-4625-AC9B-15A1677AFDF8}" type="pres">
      <dgm:prSet presAssocID="{47E6D833-3528-488C-B315-609C636CDDC0}" presName="hierChild3" presStyleCnt="0"/>
      <dgm:spPr/>
    </dgm:pt>
    <dgm:pt modelId="{86F1EB9E-8F87-49A8-868C-03DC2571A941}" type="pres">
      <dgm:prSet presAssocID="{CD66916A-5A78-462E-940F-0ECAB51FAE93}" presName="Name19" presStyleLbl="parChTrans1D2" presStyleIdx="1" presStyleCnt="2"/>
      <dgm:spPr/>
      <dgm:t>
        <a:bodyPr/>
        <a:lstStyle/>
        <a:p>
          <a:endParaRPr lang="ru-RU"/>
        </a:p>
      </dgm:t>
    </dgm:pt>
    <dgm:pt modelId="{ACEC3B43-4CAD-4C9B-8C57-1A670203F632}" type="pres">
      <dgm:prSet presAssocID="{360F78C4-2B88-4A84-B422-743AE103EB14}" presName="Name21" presStyleCnt="0"/>
      <dgm:spPr/>
    </dgm:pt>
    <dgm:pt modelId="{04CABE13-6706-49F2-9C35-A93F5829ED38}" type="pres">
      <dgm:prSet presAssocID="{360F78C4-2B88-4A84-B422-743AE103EB14}" presName="level2Shape" presStyleLbl="node2" presStyleIdx="1" presStyleCnt="2" custScaleX="116274"/>
      <dgm:spPr/>
      <dgm:t>
        <a:bodyPr/>
        <a:lstStyle/>
        <a:p>
          <a:endParaRPr lang="ru-RU"/>
        </a:p>
      </dgm:t>
    </dgm:pt>
    <dgm:pt modelId="{833A805D-F676-41CF-A41B-FFA3C55BB712}" type="pres">
      <dgm:prSet presAssocID="{360F78C4-2B88-4A84-B422-743AE103EB14}" presName="hierChild3" presStyleCnt="0"/>
      <dgm:spPr/>
    </dgm:pt>
    <dgm:pt modelId="{E52DD9A8-21E5-4641-8479-8CCB616427CD}" type="pres">
      <dgm:prSet presAssocID="{2D5D11EA-DA28-4C31-9DFE-F909A363A9AF}" presName="bgShapesFlow" presStyleCnt="0"/>
      <dgm:spPr/>
    </dgm:pt>
  </dgm:ptLst>
  <dgm:cxnLst>
    <dgm:cxn modelId="{156B00AF-DEC3-45A1-9107-A2E8EE8FA0ED}" type="presOf" srcId="{6490924B-7BC9-4B8C-9163-DA30B806D5DF}" destId="{0683236E-44AC-488E-9ED1-E7D943BF1F79}" srcOrd="0" destOrd="0" presId="urn:microsoft.com/office/officeart/2005/8/layout/hierarchy6"/>
    <dgm:cxn modelId="{852B1BDD-75E9-4878-A5F3-9D0A14F90307}" type="presOf" srcId="{47E6D833-3528-488C-B315-609C636CDDC0}" destId="{B04FC36C-1496-4673-AAFF-5EB4F15ED46E}" srcOrd="0" destOrd="0" presId="urn:microsoft.com/office/officeart/2005/8/layout/hierarchy6"/>
    <dgm:cxn modelId="{38B45900-2684-4225-8E7B-040CC2297837}" type="presOf" srcId="{666C56C0-021D-4D3C-86A7-5CF751B20D13}" destId="{650E8B67-5693-478E-B7C4-BDFDBA3F0B58}" srcOrd="0" destOrd="0" presId="urn:microsoft.com/office/officeart/2005/8/layout/hierarchy6"/>
    <dgm:cxn modelId="{57B25C89-6BF4-4033-879A-AC39D6109CAC}" type="presOf" srcId="{41ED3E7C-B40A-4E0D-A32A-2794F0A47F73}" destId="{0F874057-39D9-47BD-B828-2307AD04942E}" srcOrd="0" destOrd="0" presId="urn:microsoft.com/office/officeart/2005/8/layout/hierarchy6"/>
    <dgm:cxn modelId="{1B7C4020-6A1D-461C-A935-514B1594625F}" srcId="{666C56C0-021D-4D3C-86A7-5CF751B20D13}" destId="{6490924B-7BC9-4B8C-9163-DA30B806D5DF}" srcOrd="0" destOrd="0" parTransId="{41ED3E7C-B40A-4E0D-A32A-2794F0A47F73}" sibTransId="{A7CC696E-963F-4E21-990A-2500449D3284}"/>
    <dgm:cxn modelId="{0FE77DEA-98E1-4716-9F41-1A309BBF6540}" type="presOf" srcId="{360F78C4-2B88-4A84-B422-743AE103EB14}" destId="{04CABE13-6706-49F2-9C35-A93F5829ED38}" srcOrd="0" destOrd="0" presId="urn:microsoft.com/office/officeart/2005/8/layout/hierarchy6"/>
    <dgm:cxn modelId="{4907D60B-C5B9-478A-ADA8-32BBB4BEF1F7}" srcId="{666C56C0-021D-4D3C-86A7-5CF751B20D13}" destId="{47E6D833-3528-488C-B315-609C636CDDC0}" srcOrd="1" destOrd="0" parTransId="{9D0F06CA-9A66-4D99-B8D4-9FB13DF32797}" sibTransId="{B60A3DFF-B3E0-4E79-8D66-09C1DE54207B}"/>
    <dgm:cxn modelId="{AEC7E451-2912-4616-9127-343D83D80D46}" type="presOf" srcId="{9D0F06CA-9A66-4D99-B8D4-9FB13DF32797}" destId="{4B04E99D-06EA-4492-B023-8ADAE81702ED}" srcOrd="0" destOrd="0" presId="urn:microsoft.com/office/officeart/2005/8/layout/hierarchy6"/>
    <dgm:cxn modelId="{10915F0F-651A-4941-9BC6-8A7DD37A49BA}" srcId="{4F9D97D4-8C55-49A4-BCEA-D8CBC12ADCED}" destId="{360F78C4-2B88-4A84-B422-743AE103EB14}" srcOrd="1" destOrd="0" parTransId="{CD66916A-5A78-462E-940F-0ECAB51FAE93}" sibTransId="{52CB28C3-4163-4CEF-B7EF-F8F39574F22D}"/>
    <dgm:cxn modelId="{696602C5-5C10-4213-9D8A-32725F8B4883}" type="presOf" srcId="{4F9D97D4-8C55-49A4-BCEA-D8CBC12ADCED}" destId="{C9DD0777-C87F-400E-BA64-DCABABFF5C7F}" srcOrd="0" destOrd="0" presId="urn:microsoft.com/office/officeart/2005/8/layout/hierarchy6"/>
    <dgm:cxn modelId="{987E05E3-8936-413B-8834-9C7412A5A3F0}" type="presOf" srcId="{2D5D11EA-DA28-4C31-9DFE-F909A363A9AF}" destId="{D2240E44-26CC-4E4E-91CB-81410EB5D9BF}" srcOrd="0" destOrd="0" presId="urn:microsoft.com/office/officeart/2005/8/layout/hierarchy6"/>
    <dgm:cxn modelId="{DE286C5C-E0DE-461C-9FAD-F5127BB62E9B}" srcId="{2D5D11EA-DA28-4C31-9DFE-F909A363A9AF}" destId="{4F9D97D4-8C55-49A4-BCEA-D8CBC12ADCED}" srcOrd="0" destOrd="0" parTransId="{90240FE5-DD54-4077-9BA9-75F67AD0A821}" sibTransId="{73B013F3-91C1-4D5B-9A2E-6D754FA56EC1}"/>
    <dgm:cxn modelId="{89750A70-435A-44A4-9DF7-A853CEA2B6AD}" srcId="{4F9D97D4-8C55-49A4-BCEA-D8CBC12ADCED}" destId="{666C56C0-021D-4D3C-86A7-5CF751B20D13}" srcOrd="0" destOrd="0" parTransId="{FD29EF8D-E136-4F39-AD42-3A8FD3B257FC}" sibTransId="{8C3E9DD8-6A06-43B0-9291-F854BA50DFB8}"/>
    <dgm:cxn modelId="{4F54D13C-65FA-42DA-AB1C-424CD51A0231}" type="presOf" srcId="{CD66916A-5A78-462E-940F-0ECAB51FAE93}" destId="{86F1EB9E-8F87-49A8-868C-03DC2571A941}" srcOrd="0" destOrd="0" presId="urn:microsoft.com/office/officeart/2005/8/layout/hierarchy6"/>
    <dgm:cxn modelId="{2DDD174D-FF49-477C-B4E3-719030EB901E}" type="presOf" srcId="{FD29EF8D-E136-4F39-AD42-3A8FD3B257FC}" destId="{F68A1935-2164-4CAC-8FA1-6DCC3D505B0E}" srcOrd="0" destOrd="0" presId="urn:microsoft.com/office/officeart/2005/8/layout/hierarchy6"/>
    <dgm:cxn modelId="{0E2C7385-50D2-4010-9CF2-7DA9245FB6B7}" type="presParOf" srcId="{D2240E44-26CC-4E4E-91CB-81410EB5D9BF}" destId="{92D9B7ED-0835-4EFD-A9D6-6BF32285D904}" srcOrd="0" destOrd="0" presId="urn:microsoft.com/office/officeart/2005/8/layout/hierarchy6"/>
    <dgm:cxn modelId="{A1C75138-B14B-4F57-A5B5-C00157EB8306}" type="presParOf" srcId="{92D9B7ED-0835-4EFD-A9D6-6BF32285D904}" destId="{C2293D15-76D3-40E4-AB22-B9F14F9CAD54}" srcOrd="0" destOrd="0" presId="urn:microsoft.com/office/officeart/2005/8/layout/hierarchy6"/>
    <dgm:cxn modelId="{5AF215CA-B105-41C1-9BD9-F300975C43F9}" type="presParOf" srcId="{C2293D15-76D3-40E4-AB22-B9F14F9CAD54}" destId="{07F31297-1286-45E4-BA14-EC3B97D15FC5}" srcOrd="0" destOrd="0" presId="urn:microsoft.com/office/officeart/2005/8/layout/hierarchy6"/>
    <dgm:cxn modelId="{BE1E1D6B-4831-4856-B63E-03DCB7608590}" type="presParOf" srcId="{07F31297-1286-45E4-BA14-EC3B97D15FC5}" destId="{C9DD0777-C87F-400E-BA64-DCABABFF5C7F}" srcOrd="0" destOrd="0" presId="urn:microsoft.com/office/officeart/2005/8/layout/hierarchy6"/>
    <dgm:cxn modelId="{6C4CDE43-03C1-4717-AE2B-1723CA6306C5}" type="presParOf" srcId="{07F31297-1286-45E4-BA14-EC3B97D15FC5}" destId="{5447D264-CCC8-48CD-91F5-1CD2A3AAC36E}" srcOrd="1" destOrd="0" presId="urn:microsoft.com/office/officeart/2005/8/layout/hierarchy6"/>
    <dgm:cxn modelId="{D9A3F1C9-D4F5-4B45-87D4-202E935EDAFA}" type="presParOf" srcId="{5447D264-CCC8-48CD-91F5-1CD2A3AAC36E}" destId="{F68A1935-2164-4CAC-8FA1-6DCC3D505B0E}" srcOrd="0" destOrd="0" presId="urn:microsoft.com/office/officeart/2005/8/layout/hierarchy6"/>
    <dgm:cxn modelId="{C20BD793-88B2-4536-9C42-47595A456B5F}" type="presParOf" srcId="{5447D264-CCC8-48CD-91F5-1CD2A3AAC36E}" destId="{8421D597-AB2A-4320-A78E-E6293204ABC1}" srcOrd="1" destOrd="0" presId="urn:microsoft.com/office/officeart/2005/8/layout/hierarchy6"/>
    <dgm:cxn modelId="{F854A8F0-0CE7-41F9-AC98-CFF6023598F9}" type="presParOf" srcId="{8421D597-AB2A-4320-A78E-E6293204ABC1}" destId="{650E8B67-5693-478E-B7C4-BDFDBA3F0B58}" srcOrd="0" destOrd="0" presId="urn:microsoft.com/office/officeart/2005/8/layout/hierarchy6"/>
    <dgm:cxn modelId="{25B1DFE1-4543-4BC0-B4BA-9482AC5E4E06}" type="presParOf" srcId="{8421D597-AB2A-4320-A78E-E6293204ABC1}" destId="{8C5BF4B4-D544-4E1F-92F8-66FF85F870DE}" srcOrd="1" destOrd="0" presId="urn:microsoft.com/office/officeart/2005/8/layout/hierarchy6"/>
    <dgm:cxn modelId="{B470E4F8-7B92-46AE-A4B1-22F1966CD798}" type="presParOf" srcId="{8C5BF4B4-D544-4E1F-92F8-66FF85F870DE}" destId="{0F874057-39D9-47BD-B828-2307AD04942E}" srcOrd="0" destOrd="0" presId="urn:microsoft.com/office/officeart/2005/8/layout/hierarchy6"/>
    <dgm:cxn modelId="{FA37BB24-A60B-4906-BA07-CE54E4475609}" type="presParOf" srcId="{8C5BF4B4-D544-4E1F-92F8-66FF85F870DE}" destId="{2D566C13-5D74-41A3-B262-6D85CEE1C168}" srcOrd="1" destOrd="0" presId="urn:microsoft.com/office/officeart/2005/8/layout/hierarchy6"/>
    <dgm:cxn modelId="{2C0883FF-067D-451A-9C99-18DE461A1AF7}" type="presParOf" srcId="{2D566C13-5D74-41A3-B262-6D85CEE1C168}" destId="{0683236E-44AC-488E-9ED1-E7D943BF1F79}" srcOrd="0" destOrd="0" presId="urn:microsoft.com/office/officeart/2005/8/layout/hierarchy6"/>
    <dgm:cxn modelId="{95FF0C0C-4B5F-4AEB-A47F-E5AE71BF74CC}" type="presParOf" srcId="{2D566C13-5D74-41A3-B262-6D85CEE1C168}" destId="{DE893880-3D92-412A-A698-1C3B1E784E34}" srcOrd="1" destOrd="0" presId="urn:microsoft.com/office/officeart/2005/8/layout/hierarchy6"/>
    <dgm:cxn modelId="{83FEA48B-D0FC-4E33-97E5-FB618D2CA0CD}" type="presParOf" srcId="{8C5BF4B4-D544-4E1F-92F8-66FF85F870DE}" destId="{4B04E99D-06EA-4492-B023-8ADAE81702ED}" srcOrd="2" destOrd="0" presId="urn:microsoft.com/office/officeart/2005/8/layout/hierarchy6"/>
    <dgm:cxn modelId="{CACBD3DE-017C-4622-8666-36A7F2AF1537}" type="presParOf" srcId="{8C5BF4B4-D544-4E1F-92F8-66FF85F870DE}" destId="{01A2F2CE-9B64-4D16-BF2E-28A73CF929E6}" srcOrd="3" destOrd="0" presId="urn:microsoft.com/office/officeart/2005/8/layout/hierarchy6"/>
    <dgm:cxn modelId="{2FF42D9B-16EA-46A3-B61D-59F55263AFE0}" type="presParOf" srcId="{01A2F2CE-9B64-4D16-BF2E-28A73CF929E6}" destId="{B04FC36C-1496-4673-AAFF-5EB4F15ED46E}" srcOrd="0" destOrd="0" presId="urn:microsoft.com/office/officeart/2005/8/layout/hierarchy6"/>
    <dgm:cxn modelId="{A2571878-A744-46F7-8D39-293D8E7471E5}" type="presParOf" srcId="{01A2F2CE-9B64-4D16-BF2E-28A73CF929E6}" destId="{26E06685-C88C-4625-AC9B-15A1677AFDF8}" srcOrd="1" destOrd="0" presId="urn:microsoft.com/office/officeart/2005/8/layout/hierarchy6"/>
    <dgm:cxn modelId="{BCB64C62-43A4-4354-AC31-90B6D2D4CB77}" type="presParOf" srcId="{5447D264-CCC8-48CD-91F5-1CD2A3AAC36E}" destId="{86F1EB9E-8F87-49A8-868C-03DC2571A941}" srcOrd="2" destOrd="0" presId="urn:microsoft.com/office/officeart/2005/8/layout/hierarchy6"/>
    <dgm:cxn modelId="{1653C681-FC80-40B8-BB00-7D68C2D3FF16}" type="presParOf" srcId="{5447D264-CCC8-48CD-91F5-1CD2A3AAC36E}" destId="{ACEC3B43-4CAD-4C9B-8C57-1A670203F632}" srcOrd="3" destOrd="0" presId="urn:microsoft.com/office/officeart/2005/8/layout/hierarchy6"/>
    <dgm:cxn modelId="{54DB2623-708B-4102-8A06-ADA1BE48C700}" type="presParOf" srcId="{ACEC3B43-4CAD-4C9B-8C57-1A670203F632}" destId="{04CABE13-6706-49F2-9C35-A93F5829ED38}" srcOrd="0" destOrd="0" presId="urn:microsoft.com/office/officeart/2005/8/layout/hierarchy6"/>
    <dgm:cxn modelId="{A7162D20-3829-4F3A-83AC-152183AACF37}" type="presParOf" srcId="{ACEC3B43-4CAD-4C9B-8C57-1A670203F632}" destId="{833A805D-F676-41CF-A41B-FFA3C55BB712}" srcOrd="1" destOrd="0" presId="urn:microsoft.com/office/officeart/2005/8/layout/hierarchy6"/>
    <dgm:cxn modelId="{E5A6802F-D2CC-4C02-977C-441B4F830825}" type="presParOf" srcId="{D2240E44-26CC-4E4E-91CB-81410EB5D9BF}" destId="{E52DD9A8-21E5-4641-8479-8CCB616427CD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DD0777-C87F-400E-BA64-DCABABFF5C7F}">
      <dsp:nvSpPr>
        <dsp:cNvPr id="0" name=""/>
        <dsp:cNvSpPr/>
      </dsp:nvSpPr>
      <dsp:spPr>
        <a:xfrm>
          <a:off x="3195373" y="62426"/>
          <a:ext cx="1845187" cy="100363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>
              <a:effectLst/>
            </a:rPr>
            <a:t>Человек </a:t>
          </a:r>
          <a:br>
            <a:rPr lang="ru-RU" sz="2000" b="1" kern="1200" dirty="0">
              <a:effectLst/>
            </a:rPr>
          </a:br>
          <a:r>
            <a:rPr lang="ru-RU" sz="2000" b="1" kern="1200" dirty="0">
              <a:effectLst/>
            </a:rPr>
            <a:t>(класс </a:t>
          </a:r>
          <a:r>
            <a:rPr lang="en-US" sz="2000" b="1" kern="1200" dirty="0">
              <a:effectLst/>
            </a:rPr>
            <a:t>Person)</a:t>
          </a:r>
          <a:endParaRPr lang="ru-RU" sz="2000" b="1" kern="1200" dirty="0">
            <a:effectLst/>
          </a:endParaRPr>
        </a:p>
      </dsp:txBody>
      <dsp:txXfrm>
        <a:off x="3224768" y="91821"/>
        <a:ext cx="1786397" cy="944844"/>
      </dsp:txXfrm>
    </dsp:sp>
    <dsp:sp modelId="{F68A1935-2164-4CAC-8FA1-6DCC3D505B0E}">
      <dsp:nvSpPr>
        <dsp:cNvPr id="0" name=""/>
        <dsp:cNvSpPr/>
      </dsp:nvSpPr>
      <dsp:spPr>
        <a:xfrm>
          <a:off x="2902480" y="1066061"/>
          <a:ext cx="1215487" cy="340332"/>
        </a:xfrm>
        <a:custGeom>
          <a:avLst/>
          <a:gdLst/>
          <a:ahLst/>
          <a:cxnLst/>
          <a:rect l="0" t="0" r="0" b="0"/>
          <a:pathLst>
            <a:path>
              <a:moveTo>
                <a:pt x="1215487" y="0"/>
              </a:moveTo>
              <a:lnTo>
                <a:pt x="1215487" y="170166"/>
              </a:lnTo>
              <a:lnTo>
                <a:pt x="0" y="170166"/>
              </a:lnTo>
              <a:lnTo>
                <a:pt x="0" y="340332"/>
              </a:lnTo>
            </a:path>
          </a:pathLst>
        </a:custGeom>
        <a:noFill/>
        <a:ln w="25400" cap="flat" cmpd="sng" algn="ctr">
          <a:solidFill>
            <a:schemeClr val="accent6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0E8B67-5693-478E-B7C4-BDFDBA3F0B58}">
      <dsp:nvSpPr>
        <dsp:cNvPr id="0" name=""/>
        <dsp:cNvSpPr/>
      </dsp:nvSpPr>
      <dsp:spPr>
        <a:xfrm>
          <a:off x="2009461" y="1406394"/>
          <a:ext cx="1786038" cy="10036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tint val="99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/>
            <a:t>Студент (класс </a:t>
          </a:r>
          <a:r>
            <a:rPr lang="en-US" sz="2000" b="1" kern="1200" dirty="0"/>
            <a:t>Student)</a:t>
          </a:r>
          <a:endParaRPr lang="ru-RU" sz="2000" b="1" kern="1200" dirty="0"/>
        </a:p>
      </dsp:txBody>
      <dsp:txXfrm>
        <a:off x="2038856" y="1435789"/>
        <a:ext cx="1727248" cy="944844"/>
      </dsp:txXfrm>
    </dsp:sp>
    <dsp:sp modelId="{0F874057-39D9-47BD-B828-2307AD04942E}">
      <dsp:nvSpPr>
        <dsp:cNvPr id="0" name=""/>
        <dsp:cNvSpPr/>
      </dsp:nvSpPr>
      <dsp:spPr>
        <a:xfrm>
          <a:off x="1734949" y="2410029"/>
          <a:ext cx="1167531" cy="401453"/>
        </a:xfrm>
        <a:custGeom>
          <a:avLst/>
          <a:gdLst/>
          <a:ahLst/>
          <a:cxnLst/>
          <a:rect l="0" t="0" r="0" b="0"/>
          <a:pathLst>
            <a:path>
              <a:moveTo>
                <a:pt x="1167531" y="0"/>
              </a:moveTo>
              <a:lnTo>
                <a:pt x="1167531" y="200726"/>
              </a:lnTo>
              <a:lnTo>
                <a:pt x="0" y="200726"/>
              </a:lnTo>
              <a:lnTo>
                <a:pt x="0" y="401453"/>
              </a:lnTo>
            </a:path>
          </a:pathLst>
        </a:custGeom>
        <a:noFill/>
        <a:ln w="25400" cap="flat" cmpd="sng" algn="ctr">
          <a:solidFill>
            <a:schemeClr val="accent6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83236E-44AC-488E-9ED1-E7D943BF1F79}">
      <dsp:nvSpPr>
        <dsp:cNvPr id="0" name=""/>
        <dsp:cNvSpPr/>
      </dsp:nvSpPr>
      <dsp:spPr>
        <a:xfrm>
          <a:off x="771166" y="2811483"/>
          <a:ext cx="1927566" cy="10036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/>
            <a:t>Очная форма (класс </a:t>
          </a:r>
          <a:r>
            <a:rPr lang="en-US" sz="2000" kern="1200" dirty="0" err="1"/>
            <a:t>RealStudent</a:t>
          </a:r>
          <a:r>
            <a:rPr lang="en-US" sz="2000" kern="1200" dirty="0"/>
            <a:t>)</a:t>
          </a:r>
          <a:endParaRPr lang="ru-RU" sz="2000" kern="1200" dirty="0"/>
        </a:p>
      </dsp:txBody>
      <dsp:txXfrm>
        <a:off x="800561" y="2840878"/>
        <a:ext cx="1868776" cy="944844"/>
      </dsp:txXfrm>
    </dsp:sp>
    <dsp:sp modelId="{4B04E99D-06EA-4492-B023-8ADAE81702ED}">
      <dsp:nvSpPr>
        <dsp:cNvPr id="0" name=""/>
        <dsp:cNvSpPr/>
      </dsp:nvSpPr>
      <dsp:spPr>
        <a:xfrm>
          <a:off x="2902480" y="2410029"/>
          <a:ext cx="1189600" cy="4014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726"/>
              </a:lnTo>
              <a:lnTo>
                <a:pt x="1189600" y="200726"/>
              </a:lnTo>
              <a:lnTo>
                <a:pt x="1189600" y="401453"/>
              </a:lnTo>
            </a:path>
          </a:pathLst>
        </a:custGeom>
        <a:noFill/>
        <a:ln w="25400" cap="flat" cmpd="sng" algn="ctr">
          <a:solidFill>
            <a:schemeClr val="accent6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4FC36C-1496-4673-AAFF-5EB4F15ED46E}">
      <dsp:nvSpPr>
        <dsp:cNvPr id="0" name=""/>
        <dsp:cNvSpPr/>
      </dsp:nvSpPr>
      <dsp:spPr>
        <a:xfrm>
          <a:off x="3150368" y="2811483"/>
          <a:ext cx="1883426" cy="10036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/>
            <a:t>Заочная форма</a:t>
          </a:r>
          <a:r>
            <a:rPr lang="en-US" sz="1800" kern="1200" dirty="0"/>
            <a:t> (</a:t>
          </a:r>
          <a:r>
            <a:rPr lang="ru-RU" sz="1800" kern="1200" dirty="0"/>
            <a:t>класс</a:t>
          </a:r>
          <a:br>
            <a:rPr lang="ru-RU" sz="1800" kern="1200" dirty="0"/>
          </a:br>
          <a:r>
            <a:rPr lang="en-US" sz="2000" kern="1200" dirty="0" err="1"/>
            <a:t>VirtualStudent</a:t>
          </a:r>
          <a:r>
            <a:rPr lang="en-US" sz="2000" kern="1200" dirty="0"/>
            <a:t>)</a:t>
          </a:r>
          <a:endParaRPr lang="ru-RU" sz="2200" kern="1200" dirty="0"/>
        </a:p>
      </dsp:txBody>
      <dsp:txXfrm>
        <a:off x="3179763" y="2840878"/>
        <a:ext cx="1824636" cy="944844"/>
      </dsp:txXfrm>
    </dsp:sp>
    <dsp:sp modelId="{86F1EB9E-8F87-49A8-868C-03DC2571A941}">
      <dsp:nvSpPr>
        <dsp:cNvPr id="0" name=""/>
        <dsp:cNvSpPr/>
      </dsp:nvSpPr>
      <dsp:spPr>
        <a:xfrm>
          <a:off x="4117967" y="1066061"/>
          <a:ext cx="1004392" cy="340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166"/>
              </a:lnTo>
              <a:lnTo>
                <a:pt x="1004392" y="170166"/>
              </a:lnTo>
              <a:lnTo>
                <a:pt x="1004392" y="340332"/>
              </a:lnTo>
            </a:path>
          </a:pathLst>
        </a:custGeom>
        <a:noFill/>
        <a:ln w="25400" cap="flat" cmpd="sng" algn="ctr">
          <a:solidFill>
            <a:schemeClr val="accent6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CABE13-6706-49F2-9C35-A93F5829ED38}">
      <dsp:nvSpPr>
        <dsp:cNvPr id="0" name=""/>
        <dsp:cNvSpPr/>
      </dsp:nvSpPr>
      <dsp:spPr>
        <a:xfrm>
          <a:off x="4247135" y="1406394"/>
          <a:ext cx="1750449" cy="10036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tint val="99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/>
            <a:t>Профессор (класс  </a:t>
          </a:r>
          <a:r>
            <a:rPr lang="en-US" sz="2000" b="1" kern="1200" dirty="0"/>
            <a:t>Professor)</a:t>
          </a:r>
          <a:endParaRPr lang="ru-RU" sz="2000" b="1" kern="1200" dirty="0"/>
        </a:p>
      </dsp:txBody>
      <dsp:txXfrm>
        <a:off x="4276530" y="1435789"/>
        <a:ext cx="1691659" cy="944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4E5A6-7AC9-4128-8911-BC4BD6ECB56B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1BF47-9629-48D0-B13F-82B3A2439F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6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В языке C# применяются следующие модификаторы доступа:</a:t>
            </a:r>
            <a:endParaRPr kumimoji="0" lang="ru-RU" altLang="ru-RU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закрытый или приватный компонент класса или структуры. Приватный компонент доступен только в рамках своего класса или структуры.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protected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компонент класса доступен из любого места в своем классе или в производных классах, которые определены в той же сборке.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добавлен в версии C# 11 и применяется к типам, например, классам и структурам. Класс или структура доступны только из текущего файла кода.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protected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такой компонент класса доступен из любого места в своем классе или в производных классах. При этом производные классы могут располагаться в других сборках.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компоненты класса или структуры доступен из любого места кода в той же сборке, однако он недоступен для других программ и сборок.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protected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совмещает функционал двух модификаторов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и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internal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 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Такой компонент класса доступен из любого места в текущей сборке и из производных классов, которые могут располагаться в других сборках.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публичный, общедоступный компонент класса или структуры. Такой компонент доступен из любого места в коде, а также из других программ и сборок.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1BF47-9629-48D0-B13F-82B3A2439F1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213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1BF47-9629-48D0-B13F-82B3A2439F1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146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923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altLang="ru-RU" noProof="0"/>
              <a:t>Образец заголовка</a:t>
            </a:r>
          </a:p>
        </p:txBody>
      </p:sp>
      <p:sp>
        <p:nvSpPr>
          <p:cNvPr id="923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alt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6A5245-E583-46E6-88D7-941D50D29E4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F7973-5029-4362-B586-D5FA13AFD97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A8C8F9-D8E1-4020-BDC8-4F8C1B43E61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3C3465-97C8-47D0-98CD-E23F4A70E9D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16D84-28EE-4AC1-A10A-6661F7B7193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D10A1-E721-4FAA-B480-EEE87C046EB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B5300-244D-460C-AA6D-A4C7E091546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80FC2-3C20-4651-A8F9-EF554AA258F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84BE48-22A9-421F-B270-AF1492AB02B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AA5C67-434D-4908-BC4F-8369ADD19F1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4A543-91B2-4E65-83A1-AC95C5D9935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</p:grpSp>
      </p:grpSp>
      <p:sp>
        <p:nvSpPr>
          <p:cNvPr id="4609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ru-RU" altLang="ru-RU" noProof="0"/>
              <a:t>Образец заголовка</a:t>
            </a:r>
          </a:p>
        </p:txBody>
      </p:sp>
      <p:sp>
        <p:nvSpPr>
          <p:cNvPr id="4609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ru-RU" altLang="ru-RU" noProof="0"/>
              <a:t>Образец подзаголовка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AA323-BE3B-44AC-A3BE-28A4E382D0C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8B642-C9DA-418A-8A41-34B02E067FB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8C8A7-DCEE-4F48-B166-CD87E4D176F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E1BFD-E890-4301-A3EA-864B8DE7C22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136973-B6B9-4464-83CB-D179A769004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EAEDD9-4E19-4ED9-93D8-3A7CBF6CEDE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C1E2B-7599-4ED0-B428-2082A3EF391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F2E6F-5FE3-4DA8-8204-13E076B6011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B034DD-D75F-4FAC-87FE-1F15B3BDA0C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A1888-3754-43E9-A276-EEAD7DCACB7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81B32-EC3D-4E0E-A75D-65FD27FF22F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/>
            </a:p>
          </p:txBody>
        </p:sp>
      </p:grpSp>
      <p:sp>
        <p:nvSpPr>
          <p:cNvPr id="675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altLang="ru-RU" noProof="0"/>
              <a:t>Образец заголовка</a:t>
            </a:r>
          </a:p>
        </p:txBody>
      </p:sp>
      <p:sp>
        <p:nvSpPr>
          <p:cNvPr id="675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ru-RU" altLang="ru-RU" noProof="0"/>
              <a:t>Образец подзаголовка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94DE8B1-1A35-4663-BA71-74A93B8CD56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5ED74-76D0-4D20-B743-84034CF6DA5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5AB7A-EB9B-45AA-B255-6ACA6E68C05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D7AD5-0C7D-455F-990C-67C08969D36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FA0E31-CBC3-4086-BBCA-66CD68EFDED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7C2BA-F956-4DF0-9F1C-405D803E4FC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AA044-B507-4D66-A9BB-999F0178A67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9334E2-68F4-4E1A-9EC9-0C063EE8F0B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A5D500-FE41-4C8D-91B7-840F52A4145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4F55C4-16D2-42A9-AD55-C8696EE4D7D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96976-6485-4C74-AF2C-24AA7D57067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AB5117A-A917-495F-94E1-AFB3CC502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17F55A2F-CC0D-4AAA-B540-147232FE9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49DA938-42FD-4D9B-9693-2BF7FEB8D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38DE97A-C353-41BC-B126-EE1F5B68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CFC759A-5599-4A7C-9D54-01BD5615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6A5245-E583-46E6-88D7-941D50D29E4E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469742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F4803BB-2C7A-43D9-A1E9-46C096C96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BC779ED-8989-4A6F-B66A-9784FE80B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D649FE1-4AC3-4092-9FA5-0B94A31D2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BFAE025-B796-4EAC-AE72-F89D929D9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6CDD93D-C8C7-4220-94CC-03320839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4F7973-5029-4362-B586-D5FA13AFD976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829645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62B9A88-C156-43F7-8B40-E98CD51AF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FCC4B1BB-E16D-4F03-91E5-4CCAF8E5C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8933CA3-24A4-4AA5-B890-D1787E967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1D8C12E-8EEF-446E-9D96-47873ED5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D1F6B2E-16DF-4022-99A4-472638984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A8C8F9-D8E1-4020-BDC8-4F8C1B43E619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954451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5B90CB1-ECD7-4BAA-9027-1BA7DD58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8C8A06C-31A4-42C4-A94F-30892F316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BFE9BB22-6E5D-4217-9DC9-208799703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F8E3C2F0-67B7-454B-9490-01E6DC6A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8947CF1-53CA-408E-A11B-96D9E21A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0721D0E8-FD2D-4BAC-B2DB-FAA13253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3C3465-97C8-47D0-98CD-E23F4A70E9D5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73332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D0D2D22-468F-4BEB-9BBA-1B6C4EB7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718120A-BB27-4C4D-9E55-55F219ABB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7FCC6BFC-5D57-4C18-8610-AE5FFA66D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E7994F59-A89E-4DB0-AFF9-C3EFE4A10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56254FA5-6C5A-46C6-8806-295ACA05A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C00AF8A1-59CB-447C-9E55-BC5113CFB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44F405D9-1083-4903-9753-A3E5E15C4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FDF95126-677B-4EC1-AE7F-C8E2B338C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816D84-28EE-4AC1-A10A-6661F7B71938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677830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080DD20-05CA-4300-96F8-A16DEC2BD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00CC9FBF-D989-4054-B6D8-C0DE5420D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12F4A1DF-7EFF-49D4-A320-C305FE11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11B44A3-58DE-4EC5-B482-54AC0848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ED10A1-E721-4FAA-B480-EEE87C046EBA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727720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D63EFF30-92FD-48C3-A130-54A6F4EEE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B96C8679-E10E-41CA-9D6A-B1589B59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1DF24F35-2673-4E51-A368-1FFB00ED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9B5300-244D-460C-AA6D-A4C7E091546C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726856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F10A20B-DD3D-4A02-B208-457C958D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63F8413-D73B-42CF-A244-3DC7365B8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374452-C9A9-4D2C-A937-D2C7EC554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4D2DE4BA-1980-49BB-AA98-A53448685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1219444F-EBFD-41A4-9CB6-076C78054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EF341698-E7AB-4E2C-8ADD-099A16FFE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80FC2-3C20-4651-A8F9-EF554AA258F1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212768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EB3D5DE-9B61-47FA-A433-685D692C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B255D008-6F5A-4AC3-B752-9F178A308E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ADA7E416-D75E-41D4-A061-06823A37E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B890F242-BE5A-4B05-8E8F-B0583E93F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3E8620AD-0B4C-4D73-91E8-59C20A449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2FCD17E1-E940-435F-AC1D-BC4F9527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4BE48-22A9-421F-B270-AF1492AB02BE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002435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1E46547-5C12-4784-A6A4-2AECAC2A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2F51903E-2653-4EAC-81D6-E67F41C2F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AFD8CC9-34D9-4228-BD8B-7512B39A0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857CC0F-97F8-4FC1-BC22-D475BB354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4F8D3F5-F9BE-4DC7-8B51-C581C164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AA5C67-434D-4908-BC4F-8369ADD19F15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061475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72C0D280-FC2C-42C4-877A-90FE9053C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196B1209-D47E-4D20-B2EC-DDD73F7F7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ECED0B86-1120-47AA-965C-C9553953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5F4C76B-5463-493D-AA7A-13D4B5BC0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D0F92B9-4D39-4AC5-B28D-133AFC7EB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84A543-91B2-4E65-83A1-AC95C5D99356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6162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D808592E-A871-494F-858D-79F8A7A2DDD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798" r:id="rId2"/>
    <p:sldLayoutId id="2147483797" r:id="rId3"/>
    <p:sldLayoutId id="2147483796" r:id="rId4"/>
    <p:sldLayoutId id="2147483795" r:id="rId5"/>
    <p:sldLayoutId id="2147483794" r:id="rId6"/>
    <p:sldLayoutId id="2147483793" r:id="rId7"/>
    <p:sldLayoutId id="2147483792" r:id="rId8"/>
    <p:sldLayoutId id="2147483791" r:id="rId9"/>
    <p:sldLayoutId id="2147483790" r:id="rId10"/>
    <p:sldLayoutId id="214748378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2057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grpSp>
          <p:nvGrpSpPr>
            <p:cNvPr id="13322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2059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2060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</p:grpSp>
      </p:grpSp>
      <p:sp>
        <p:nvSpPr>
          <p:cNvPr id="1331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331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506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506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506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8EBA6D2F-E5D5-4122-AE3D-8FF9A886743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2056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08" r:id="rId2"/>
    <p:sldLayoutId id="2147483807" r:id="rId3"/>
    <p:sldLayoutId id="2147483806" r:id="rId4"/>
    <p:sldLayoutId id="2147483805" r:id="rId5"/>
    <p:sldLayoutId id="2147483804" r:id="rId6"/>
    <p:sldLayoutId id="2147483803" r:id="rId7"/>
    <p:sldLayoutId id="2147483802" r:id="rId8"/>
    <p:sldLayoutId id="2147483801" r:id="rId9"/>
    <p:sldLayoutId id="2147483800" r:id="rId10"/>
    <p:sldLayoutId id="214748379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kumimoji="1" lang="ru-RU" altLang="ru-RU" sz="2400">
              <a:latin typeface="Tahoma" pitchFamily="34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kumimoji="1" lang="ru-RU" altLang="ru-RU" sz="2400">
              <a:latin typeface="Tahoma" pitchFamily="34" charset="0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kumimoji="1" lang="ru-RU" altLang="ru-RU" sz="2400">
              <a:latin typeface="Tahoma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kumimoji="1" lang="ru-RU" altLang="ru-RU" sz="2400">
              <a:latin typeface="Tahoma" pitchFamily="34" charset="0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kumimoji="1" lang="ru-RU" altLang="ru-RU" sz="2400">
              <a:latin typeface="Tahoma" pitchFamily="34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kumimoji="1" lang="ru-RU" altLang="ru-RU" sz="2400">
              <a:latin typeface="Tahoma" pitchFamily="34" charset="0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kumimoji="1" lang="ru-RU" altLang="ru-RU" sz="2400">
              <a:latin typeface="Tahoma" pitchFamily="34" charset="0"/>
            </a:endParaRPr>
          </a:p>
        </p:txBody>
      </p:sp>
      <p:sp>
        <p:nvSpPr>
          <p:cNvPr id="256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256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6657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657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657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96E67CCF-A820-4573-95BB-2A75AE36D91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18" r:id="rId2"/>
    <p:sldLayoutId id="2147483817" r:id="rId3"/>
    <p:sldLayoutId id="2147483816" r:id="rId4"/>
    <p:sldLayoutId id="2147483815" r:id="rId5"/>
    <p:sldLayoutId id="2147483814" r:id="rId6"/>
    <p:sldLayoutId id="2147483813" r:id="rId7"/>
    <p:sldLayoutId id="2147483812" r:id="rId8"/>
    <p:sldLayoutId id="2147483811" r:id="rId9"/>
    <p:sldLayoutId id="2147483810" r:id="rId10"/>
    <p:sldLayoutId id="214748380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7E5E2F9-2675-4CDF-A046-BB0334231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2F60B25B-932B-45B7-A5DE-8EE6FBEF6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1E99D58-623B-4266-A85C-0C6A30569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D98E3C9-8902-4E69-94B9-0AD800189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A8AFD3E-0946-4C87-8C99-CD7D7EB01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808592E-A871-494F-858D-79F8A7A2DDD7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1560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ru-RU" altLang="ru-RU" sz="4600"/>
              <a:t>Объектно-ориентированное программирование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ru-RU" altLang="ru-RU" sz="4200">
                <a:solidFill>
                  <a:schemeClr val="bg2"/>
                </a:solidFill>
              </a:rPr>
              <a:t>основные понятия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20713"/>
            <a:ext cx="8229600" cy="1512887"/>
          </a:xfrm>
        </p:spPr>
        <p:txBody>
          <a:bodyPr/>
          <a:lstStyle/>
          <a:p>
            <a:pPr eaLnBrk="1" hangingPunct="1"/>
            <a:r>
              <a:rPr lang="ru-RU" altLang="ru-RU" dirty="0">
                <a:solidFill>
                  <a:schemeClr val="bg2"/>
                </a:solidFill>
              </a:rPr>
              <a:t>Объектно-ориентированное программирование (ООП)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349500"/>
            <a:ext cx="8424863" cy="1871588"/>
          </a:xfrm>
        </p:spPr>
        <p:txBody>
          <a:bodyPr/>
          <a:lstStyle/>
          <a:p>
            <a:pPr eaLnBrk="1" hangingPunct="1"/>
            <a:r>
              <a:rPr lang="ru-RU" altLang="ru-RU" sz="2800" dirty="0"/>
              <a:t>Это методика разработки программ, в основе которой лежит понятие </a:t>
            </a:r>
            <a:r>
              <a:rPr lang="ru-RU" altLang="ru-RU" sz="2800" dirty="0">
                <a:solidFill>
                  <a:srgbClr val="FF0000"/>
                </a:solidFill>
              </a:rPr>
              <a:t>объекта</a:t>
            </a:r>
            <a:r>
              <a:rPr lang="ru-RU" altLang="ru-RU" sz="2800" dirty="0"/>
              <a:t> как некоторой структуры, соответствующей объекту реального мира, его поведению.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48680"/>
            <a:ext cx="9217024" cy="720080"/>
          </a:xfrm>
        </p:spPr>
        <p:txBody>
          <a:bodyPr/>
          <a:lstStyle/>
          <a:p>
            <a:r>
              <a:rPr lang="ru-RU" dirty="0">
                <a:solidFill>
                  <a:srgbClr val="000099"/>
                </a:solidFill>
              </a:rPr>
              <a:t>Информационная модель объекта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340768"/>
            <a:ext cx="8964488" cy="5184576"/>
          </a:xfrm>
        </p:spPr>
        <p:txBody>
          <a:bodyPr/>
          <a:lstStyle/>
          <a:p>
            <a:r>
              <a:rPr lang="ru-RU" sz="2800" dirty="0"/>
              <a:t>Объект-оригинал заменяется набором его характеристик (свойств) и их значений</a:t>
            </a:r>
          </a:p>
          <a:p>
            <a:pPr marL="0" indent="0">
              <a:buNone/>
            </a:pPr>
            <a:endParaRPr lang="ru-RU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rgbClr val="FF0000"/>
                </a:solidFill>
              </a:rPr>
              <a:t>Объект - Дом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301424"/>
              </p:ext>
            </p:extLst>
          </p:nvPr>
        </p:nvGraphicFramePr>
        <p:xfrm>
          <a:off x="3203848" y="2348880"/>
          <a:ext cx="5616624" cy="4365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8337">
                <a:tc>
                  <a:txBody>
                    <a:bodyPr/>
                    <a:lstStyle/>
                    <a:p>
                      <a:r>
                        <a:rPr lang="ru-RU" dirty="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61123">
                <a:tc>
                  <a:txBody>
                    <a:bodyPr/>
                    <a:lstStyle/>
                    <a:p>
                      <a:r>
                        <a:rPr lang="ru-RU" dirty="0"/>
                        <a:t>Внешний вид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93129">
                <a:tc>
                  <a:txBody>
                    <a:bodyPr/>
                    <a:lstStyle/>
                    <a:p>
                      <a:r>
                        <a:rPr lang="ru-RU" dirty="0"/>
                        <a:t>Длина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 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93129">
                <a:tc>
                  <a:txBody>
                    <a:bodyPr/>
                    <a:lstStyle/>
                    <a:p>
                      <a:r>
                        <a:rPr lang="ru-RU" dirty="0"/>
                        <a:t>Ширина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 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93129">
                <a:tc>
                  <a:txBody>
                    <a:bodyPr/>
                    <a:lstStyle/>
                    <a:p>
                      <a:r>
                        <a:rPr lang="ru-RU" dirty="0"/>
                        <a:t>Высота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4,5 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93129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этажей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93129">
                <a:tc>
                  <a:txBody>
                    <a:bodyPr/>
                    <a:lstStyle/>
                    <a:p>
                      <a:r>
                        <a:rPr lang="ru-RU" dirty="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Кирпич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pic>
        <p:nvPicPr>
          <p:cNvPr id="1026" name="Picture 2" descr="http://kingbrick.ru/wp-content/uploads/domanapa-1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7" y="2780928"/>
            <a:ext cx="2094779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031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6200" b="1">
                <a:solidFill>
                  <a:schemeClr val="bg2"/>
                </a:solidFill>
              </a:rPr>
              <a:t>Класс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81200"/>
            <a:ext cx="8050213" cy="2239888"/>
          </a:xfrm>
        </p:spPr>
        <p:txBody>
          <a:bodyPr/>
          <a:lstStyle/>
          <a:p>
            <a:pPr eaLnBrk="1" hangingPunct="1"/>
            <a:r>
              <a:rPr lang="ru-RU" altLang="ru-RU" dirty="0"/>
              <a:t>Это тип, описывающий устройство объектов (их поведение и способ представления)</a:t>
            </a:r>
          </a:p>
          <a:p>
            <a:pPr eaLnBrk="1" hangingPunct="1"/>
            <a:r>
              <a:rPr lang="ru-RU" altLang="ru-RU" dirty="0"/>
              <a:t>Класс можно сравнить с чертежом, согласно которому создаются объекты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1"/>
            <a:ext cx="8229600" cy="811560"/>
          </a:xfrm>
        </p:spPr>
        <p:txBody>
          <a:bodyPr/>
          <a:lstStyle/>
          <a:p>
            <a:pPr eaLnBrk="1" hangingPunct="1"/>
            <a:r>
              <a:rPr lang="ru-RU" altLang="ru-RU" sz="4800" dirty="0">
                <a:solidFill>
                  <a:schemeClr val="bg2"/>
                </a:solidFill>
              </a:rPr>
              <a:t>Объявление класса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7927" y="1268761"/>
            <a:ext cx="8229600" cy="5445224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lass Person 	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buNone/>
              <a:defRPr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  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buNone/>
              <a:defRPr/>
            </a:pP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string name;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buNone/>
              <a:defRPr/>
            </a:pP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string address;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buNone/>
              <a:defRPr/>
            </a:pP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year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</a:p>
          <a:p>
            <a:pPr marL="0" indent="0" eaLnBrk="1" hangingPunct="1">
              <a:buNone/>
              <a:defRPr/>
            </a:pP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}  </a:t>
            </a:r>
          </a:p>
          <a:p>
            <a:pPr eaLnBrk="1" hangingPunct="1">
              <a:defRPr/>
            </a:pPr>
            <a:r>
              <a:rPr lang="ru-RU" altLang="ru-RU" dirty="0"/>
              <a:t>Объекты как представители класса создаются при помощи операции </a:t>
            </a:r>
            <a:r>
              <a:rPr lang="en-US" altLang="ru-RU" dirty="0"/>
              <a:t>new</a:t>
            </a:r>
            <a:endParaRPr lang="en-US" dirty="0"/>
          </a:p>
          <a:p>
            <a:pPr marL="0" indent="0" eaLnBrk="1" hangingPunct="1">
              <a:buNone/>
              <a:defRPr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Person 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Man</a:t>
            </a:r>
            <a:r>
              <a:rPr lang="ru-RU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new Person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 eaLnBrk="1" hangingPunct="1">
              <a:buNone/>
              <a:defRPr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Person 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Woman</a:t>
            </a:r>
            <a:r>
              <a:rPr lang="ru-RU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new Person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ru-RU" alt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ru-RU" sz="1000" b="1" dirty="0"/>
          </a:p>
        </p:txBody>
      </p:sp>
      <p:sp>
        <p:nvSpPr>
          <p:cNvPr id="2" name="Облачко с текстом: овальное 1">
            <a:extLst>
              <a:ext uri="{FF2B5EF4-FFF2-40B4-BE49-F238E27FC236}">
                <a16:creationId xmlns:a16="http://schemas.microsoft.com/office/drawing/2014/main" xmlns="" id="{0BA2A18C-5554-4FE8-A0B1-F254AEAA62AC}"/>
              </a:ext>
            </a:extLst>
          </p:cNvPr>
          <p:cNvSpPr/>
          <p:nvPr/>
        </p:nvSpPr>
        <p:spPr>
          <a:xfrm>
            <a:off x="5004048" y="1772816"/>
            <a:ext cx="2304256" cy="864096"/>
          </a:xfrm>
          <a:prstGeom prst="wedgeEllipseCallout">
            <a:avLst>
              <a:gd name="adj1" fmla="val -72932"/>
              <a:gd name="adj2" fmla="val 9068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Поля класса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6200">
                <a:solidFill>
                  <a:schemeClr val="bg2"/>
                </a:solidFill>
              </a:rPr>
              <a:t>Инкапсуляция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686800" cy="4752975"/>
          </a:xfrm>
        </p:spPr>
        <p:txBody>
          <a:bodyPr/>
          <a:lstStyle/>
          <a:p>
            <a:pPr eaLnBrk="1" hangingPunct="1"/>
            <a:r>
              <a:rPr lang="ru-RU" altLang="ru-RU" dirty="0"/>
              <a:t>Это объединение внутри класса его данных с функциями, обрабатывающими эти данные (методами).</a:t>
            </a:r>
          </a:p>
          <a:p>
            <a:pPr eaLnBrk="1" hangingPunct="1">
              <a:buFont typeface="Wingdings" pitchFamily="2" charset="2"/>
              <a:buNone/>
            </a:pPr>
            <a:endParaRPr lang="ru-RU" altLang="ru-RU" dirty="0"/>
          </a:p>
          <a:p>
            <a:pPr eaLnBrk="1" hangingPunct="1">
              <a:buFont typeface="Wingdings" pitchFamily="2" charset="2"/>
              <a:buNone/>
            </a:pPr>
            <a:r>
              <a:rPr lang="ru-RU" altLang="ru-RU" i="1" dirty="0">
                <a:solidFill>
                  <a:schemeClr val="accent2"/>
                </a:solidFill>
              </a:rPr>
              <a:t>   </a:t>
            </a:r>
            <a:r>
              <a:rPr lang="ru-RU" altLang="ru-RU" dirty="0">
                <a:solidFill>
                  <a:schemeClr val="accent2"/>
                </a:solidFill>
              </a:rPr>
              <a:t>Под инкапсуляцией понимают скрытие полей объекта с целью обеспечения доступа к ним только посредством методов класса.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dirty="0">
                <a:solidFill>
                  <a:schemeClr val="bg2"/>
                </a:solidFill>
              </a:rPr>
              <a:t>Методы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332000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Методы класса выполняют действия над объектами класса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Включая объявление метода в объявление класса, программист явно указывает, какие действия могут быть выполнены над объектами этого класса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95313"/>
          </a:xfrm>
        </p:spPr>
        <p:txBody>
          <a:bodyPr/>
          <a:lstStyle/>
          <a:p>
            <a:pPr eaLnBrk="1" hangingPunct="1"/>
            <a:r>
              <a:rPr lang="ru-RU" altLang="ru-RU" sz="4800">
                <a:solidFill>
                  <a:schemeClr val="bg2"/>
                </a:solidFill>
              </a:rPr>
              <a:t>Объявление методов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106" y="1669843"/>
            <a:ext cx="8459787" cy="4824536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lass Person 		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{  </a:t>
            </a: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string name;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string address;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int year;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public Person(string N, string A, 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Y)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name = N;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address = A;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year = Y;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Облачко с текстом: овальное 1">
            <a:extLst>
              <a:ext uri="{FF2B5EF4-FFF2-40B4-BE49-F238E27FC236}">
                <a16:creationId xmlns:a16="http://schemas.microsoft.com/office/drawing/2014/main" xmlns="" id="{8AECB454-C5E4-4B60-B437-F72DE6AA7063}"/>
              </a:ext>
            </a:extLst>
          </p:cNvPr>
          <p:cNvSpPr/>
          <p:nvPr/>
        </p:nvSpPr>
        <p:spPr>
          <a:xfrm>
            <a:off x="4283968" y="1556792"/>
            <a:ext cx="1584176" cy="792088"/>
          </a:xfrm>
          <a:prstGeom prst="wedgeEllipseCallout">
            <a:avLst>
              <a:gd name="adj1" fmla="val -87760"/>
              <a:gd name="adj2" fmla="val 64742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Поля класса</a:t>
            </a:r>
          </a:p>
        </p:txBody>
      </p:sp>
      <p:sp>
        <p:nvSpPr>
          <p:cNvPr id="5" name="Облачко с текстом: овальное 4">
            <a:extLst>
              <a:ext uri="{FF2B5EF4-FFF2-40B4-BE49-F238E27FC236}">
                <a16:creationId xmlns:a16="http://schemas.microsoft.com/office/drawing/2014/main" xmlns="" id="{EB17F00B-545F-4C29-90EB-0647861B39B6}"/>
              </a:ext>
            </a:extLst>
          </p:cNvPr>
          <p:cNvSpPr/>
          <p:nvPr/>
        </p:nvSpPr>
        <p:spPr>
          <a:xfrm>
            <a:off x="4532588" y="4090890"/>
            <a:ext cx="2525846" cy="792088"/>
          </a:xfrm>
          <a:prstGeom prst="wedgeEllipseCallout">
            <a:avLst>
              <a:gd name="adj1" fmla="val -81082"/>
              <a:gd name="adj2" fmla="val 55776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Инициализация полей данными</a:t>
            </a:r>
          </a:p>
        </p:txBody>
      </p:sp>
      <p:sp>
        <p:nvSpPr>
          <p:cNvPr id="6" name="Облачко с текстом: овальное 5">
            <a:extLst>
              <a:ext uri="{FF2B5EF4-FFF2-40B4-BE49-F238E27FC236}">
                <a16:creationId xmlns:a16="http://schemas.microsoft.com/office/drawing/2014/main" xmlns="" id="{87F69A9B-F90D-483B-880C-CDC1A006662C}"/>
              </a:ext>
            </a:extLst>
          </p:cNvPr>
          <p:cNvSpPr/>
          <p:nvPr/>
        </p:nvSpPr>
        <p:spPr>
          <a:xfrm>
            <a:off x="6300192" y="2594093"/>
            <a:ext cx="2088232" cy="792088"/>
          </a:xfrm>
          <a:prstGeom prst="wedgeEllipseCallout">
            <a:avLst>
              <a:gd name="adj1" fmla="val -87760"/>
              <a:gd name="adj2" fmla="val 64742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Конструктор класса</a:t>
            </a:r>
          </a:p>
        </p:txBody>
      </p:sp>
    </p:spTree>
    <p:extLst>
      <p:ext uri="{BB962C8B-B14F-4D97-AF65-F5344CB8AC3E}">
        <p14:creationId xmlns:p14="http://schemas.microsoft.com/office/powerpoint/2010/main" val="105994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Объект 2"/>
          <p:cNvSpPr>
            <a:spLocks noGrp="1"/>
          </p:cNvSpPr>
          <p:nvPr>
            <p:ph idx="4294967295"/>
          </p:nvPr>
        </p:nvSpPr>
        <p:spPr>
          <a:xfrm>
            <a:off x="611560" y="1284779"/>
            <a:ext cx="7473950" cy="4576474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dirty="0"/>
              <a:t>     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public void Show()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Console.WriteLine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(name);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Console.WriteLine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(address);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Console.WriteLine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(year);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GetYear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return year;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Облачко с текстом: овальное 2">
            <a:extLst>
              <a:ext uri="{FF2B5EF4-FFF2-40B4-BE49-F238E27FC236}">
                <a16:creationId xmlns:a16="http://schemas.microsoft.com/office/drawing/2014/main" xmlns="" id="{FB880AE8-A50E-4FF6-B8E9-E8606336DACF}"/>
              </a:ext>
            </a:extLst>
          </p:cNvPr>
          <p:cNvSpPr/>
          <p:nvPr/>
        </p:nvSpPr>
        <p:spPr>
          <a:xfrm>
            <a:off x="5004048" y="836712"/>
            <a:ext cx="1584176" cy="720080"/>
          </a:xfrm>
          <a:prstGeom prst="wedgeEllipseCallout">
            <a:avLst>
              <a:gd name="adj1" fmla="val -87760"/>
              <a:gd name="adj2" fmla="val 64742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Метод</a:t>
            </a:r>
          </a:p>
        </p:txBody>
      </p:sp>
      <p:sp>
        <p:nvSpPr>
          <p:cNvPr id="4" name="Облачко с текстом: овальное 3">
            <a:extLst>
              <a:ext uri="{FF2B5EF4-FFF2-40B4-BE49-F238E27FC236}">
                <a16:creationId xmlns:a16="http://schemas.microsoft.com/office/drawing/2014/main" xmlns="" id="{94935374-425D-493C-A3DA-140D893D77F7}"/>
              </a:ext>
            </a:extLst>
          </p:cNvPr>
          <p:cNvSpPr/>
          <p:nvPr/>
        </p:nvSpPr>
        <p:spPr>
          <a:xfrm>
            <a:off x="5364088" y="3438124"/>
            <a:ext cx="1584176" cy="720080"/>
          </a:xfrm>
          <a:prstGeom prst="wedgeEllipseCallout">
            <a:avLst>
              <a:gd name="adj1" fmla="val -87760"/>
              <a:gd name="adj2" fmla="val 64742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Метод</a:t>
            </a:r>
          </a:p>
        </p:txBody>
      </p:sp>
    </p:spTree>
    <p:extLst>
      <p:ext uri="{BB962C8B-B14F-4D97-AF65-F5344CB8AC3E}">
        <p14:creationId xmlns:p14="http://schemas.microsoft.com/office/powerpoint/2010/main" val="404488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Объект 2"/>
          <p:cNvSpPr>
            <a:spLocks noGrp="1"/>
          </p:cNvSpPr>
          <p:nvPr>
            <p:ph idx="4294967295"/>
          </p:nvPr>
        </p:nvSpPr>
        <p:spPr>
          <a:xfrm>
            <a:off x="539552" y="908720"/>
            <a:ext cx="7473950" cy="5284713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dirty="0"/>
              <a:t>     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public void Show()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Console.WriteLine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(name);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Console.WriteLine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(address);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Console.WriteLine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(year);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Year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altLang="ru-RU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{ return year; }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altLang="ru-RU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{  year = value; }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Облачко с текстом: овальное 2">
            <a:extLst>
              <a:ext uri="{FF2B5EF4-FFF2-40B4-BE49-F238E27FC236}">
                <a16:creationId xmlns:a16="http://schemas.microsoft.com/office/drawing/2014/main" xmlns="" id="{30EB2753-9E46-4B72-92BF-1668B45ECD1F}"/>
              </a:ext>
            </a:extLst>
          </p:cNvPr>
          <p:cNvSpPr/>
          <p:nvPr/>
        </p:nvSpPr>
        <p:spPr>
          <a:xfrm>
            <a:off x="4499992" y="3068960"/>
            <a:ext cx="1656184" cy="720080"/>
          </a:xfrm>
          <a:prstGeom prst="wedgeEllipseCallout">
            <a:avLst>
              <a:gd name="adj1" fmla="val -87760"/>
              <a:gd name="adj2" fmla="val 64742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Свойство</a:t>
            </a:r>
          </a:p>
        </p:txBody>
      </p:sp>
      <p:sp>
        <p:nvSpPr>
          <p:cNvPr id="4" name="Облачко с текстом: овальное 3">
            <a:extLst>
              <a:ext uri="{FF2B5EF4-FFF2-40B4-BE49-F238E27FC236}">
                <a16:creationId xmlns:a16="http://schemas.microsoft.com/office/drawing/2014/main" xmlns="" id="{C6F9B3C5-B6EC-403E-B3F1-78CC27C30B33}"/>
              </a:ext>
            </a:extLst>
          </p:cNvPr>
          <p:cNvSpPr/>
          <p:nvPr/>
        </p:nvSpPr>
        <p:spPr>
          <a:xfrm>
            <a:off x="4932040" y="548680"/>
            <a:ext cx="1584176" cy="720080"/>
          </a:xfrm>
          <a:prstGeom prst="wedgeEllipseCallout">
            <a:avLst>
              <a:gd name="adj1" fmla="val -87760"/>
              <a:gd name="adj2" fmla="val 64742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Метод</a:t>
            </a:r>
          </a:p>
        </p:txBody>
      </p:sp>
    </p:spTree>
    <p:extLst>
      <p:ext uri="{BB962C8B-B14F-4D97-AF65-F5344CB8AC3E}">
        <p14:creationId xmlns:p14="http://schemas.microsoft.com/office/powerpoint/2010/main" val="16588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8186" y="598262"/>
            <a:ext cx="8229600" cy="863600"/>
          </a:xfrm>
        </p:spPr>
        <p:txBody>
          <a:bodyPr/>
          <a:lstStyle/>
          <a:p>
            <a:pPr eaLnBrk="1" hangingPunct="1"/>
            <a:r>
              <a:rPr lang="ru-RU" altLang="ru-RU" dirty="0">
                <a:solidFill>
                  <a:schemeClr val="bg2"/>
                </a:solidFill>
              </a:rPr>
              <a:t>Конструктор 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186" y="1844825"/>
            <a:ext cx="8229600" cy="3024336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sz="2800" dirty="0"/>
              <a:t>В </a:t>
            </a:r>
            <a:r>
              <a:rPr lang="en-US" altLang="ru-RU" sz="2800" dirty="0"/>
              <a:t>C#</a:t>
            </a:r>
            <a:r>
              <a:rPr lang="ru-RU" altLang="ru-RU" sz="2800" dirty="0"/>
              <a:t> объект – это динамическая структура.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altLang="ru-RU" sz="2800" b="1" dirty="0"/>
              <a:t>Переменная-объект</a:t>
            </a:r>
            <a:r>
              <a:rPr lang="ru-RU" altLang="ru-RU" sz="2800" dirty="0"/>
              <a:t> содержит не данные, </a:t>
            </a:r>
            <a:br>
              <a:rPr lang="ru-RU" altLang="ru-RU" sz="2800" dirty="0"/>
            </a:br>
            <a:r>
              <a:rPr lang="ru-RU" altLang="ru-RU" sz="2800" dirty="0"/>
              <a:t>а ссылку на данные объекта. </a:t>
            </a:r>
            <a:endParaRPr lang="en-US" altLang="ru-RU" sz="2800" dirty="0"/>
          </a:p>
          <a:p>
            <a:pPr eaLnBrk="1" hangingPunct="1">
              <a:buFont typeface="Wingdings" pitchFamily="2" charset="2"/>
              <a:buNone/>
            </a:pPr>
            <a:r>
              <a:rPr lang="ru-RU" altLang="ru-RU" sz="2800" dirty="0"/>
              <a:t>Поэтому программист должен выделить память для этих данных при помощи специального метода класса – </a:t>
            </a:r>
            <a:r>
              <a:rPr lang="ru-RU" altLang="ru-RU" sz="2800" i="1" dirty="0">
                <a:solidFill>
                  <a:srgbClr val="FF0000"/>
                </a:solidFill>
              </a:rPr>
              <a:t>конструктора.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altLang="ru-RU" sz="2800" dirty="0"/>
              <a:t>Имя конструктора совпадает с именем класса.</a:t>
            </a:r>
          </a:p>
        </p:txBody>
      </p:sp>
    </p:spTree>
    <p:extLst>
      <p:ext uri="{BB962C8B-B14F-4D97-AF65-F5344CB8AC3E}">
        <p14:creationId xmlns:p14="http://schemas.microsoft.com/office/powerpoint/2010/main" val="204151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23875"/>
          </a:xfrm>
        </p:spPr>
        <p:txBody>
          <a:bodyPr/>
          <a:lstStyle/>
          <a:p>
            <a:pPr eaLnBrk="1" hangingPunct="1"/>
            <a:r>
              <a:rPr lang="ru-RU" altLang="ru-RU" sz="4000" dirty="0">
                <a:solidFill>
                  <a:schemeClr val="bg2"/>
                </a:solidFill>
              </a:rPr>
              <a:t>Описание конструктора</a:t>
            </a:r>
            <a:endParaRPr lang="ru-RU" altLang="ru-RU" sz="4000" dirty="0">
              <a:solidFill>
                <a:srgbClr val="FF0000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268760"/>
            <a:ext cx="8363273" cy="468052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public Person(string N, string A,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Y)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name = N;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address = A;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year = Y;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ru-RU" altLang="ru-RU" sz="2800" i="1" dirty="0">
                <a:solidFill>
                  <a:srgbClr val="FF0000"/>
                </a:solidFill>
              </a:rPr>
              <a:t>Конструктор вызывается при создании объекта с помощью операции </a:t>
            </a:r>
            <a:r>
              <a:rPr lang="en-US" altLang="ru-RU" sz="2800" b="1" dirty="0"/>
              <a:t>new</a:t>
            </a:r>
            <a:endParaRPr lang="ru-RU" altLang="ru-RU" sz="2800" b="1" i="1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ru-RU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Person </a:t>
            </a:r>
            <a:r>
              <a:rPr 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Man</a:t>
            </a:r>
            <a:r>
              <a:rPr lang="ru-RU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new Person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Иванов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СПб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,19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Person </a:t>
            </a:r>
            <a:r>
              <a:rPr 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Woman</a:t>
            </a:r>
            <a:r>
              <a:rPr lang="ru-RU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new Person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Горяева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СПб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,19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98);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buNone/>
            </a:pPr>
            <a:endParaRPr lang="ru-RU" alt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4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72877"/>
            <a:ext cx="8229600" cy="523875"/>
          </a:xfrm>
        </p:spPr>
        <p:txBody>
          <a:bodyPr/>
          <a:lstStyle/>
          <a:p>
            <a:pPr eaLnBrk="1" hangingPunct="1"/>
            <a:r>
              <a:rPr lang="ru-RU" altLang="ru-RU" sz="4000" dirty="0">
                <a:solidFill>
                  <a:schemeClr val="bg2"/>
                </a:solidFill>
              </a:rPr>
              <a:t>Несколько конструкторов</a:t>
            </a:r>
            <a:endParaRPr lang="ru-RU" altLang="ru-RU" sz="4000" dirty="0">
              <a:solidFill>
                <a:srgbClr val="FF0000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6792"/>
            <a:ext cx="8424936" cy="4104456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public Person(string N, string A,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Y)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name = N;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address = A;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year = Y;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public Person(string N)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name = N;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ru-RU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1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r>
              <a:rPr lang="ru-RU" dirty="0">
                <a:solidFill>
                  <a:srgbClr val="000099"/>
                </a:solidFill>
              </a:rPr>
              <a:t>Вызов методов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44582"/>
            <a:ext cx="8435280" cy="4896544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Для обычных (не статических) методов вызов осуществляется через </a:t>
            </a:r>
            <a:r>
              <a:rPr lang="ru-RU" sz="2800" b="1" dirty="0"/>
              <a:t>имя экземпляра класса</a:t>
            </a:r>
            <a:r>
              <a:rPr lang="ru-RU" sz="2800" dirty="0"/>
              <a:t>.</a:t>
            </a:r>
          </a:p>
          <a:p>
            <a:pPr marL="0" indent="0">
              <a:buNone/>
            </a:pP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Person </a:t>
            </a:r>
            <a:r>
              <a:rPr 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Man</a:t>
            </a:r>
            <a:r>
              <a:rPr lang="ru-RU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new Person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Иванов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СПб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,1976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Man.Show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myYear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Man.GetYear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400" kern="1200" dirty="0">
                <a:solidFill>
                  <a:srgbClr val="006600"/>
                </a:solidFill>
                <a:latin typeface="Consolas" panose="020B0609020204030204" pitchFamily="49" charset="0"/>
              </a:rPr>
              <a:t>// С использованием свойства: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myYear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Man.Year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Man.Year</a:t>
            </a:r>
            <a:r>
              <a:rPr lang="ru-RU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= 1977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Облачко с текстом: овальное 3">
            <a:extLst>
              <a:ext uri="{FF2B5EF4-FFF2-40B4-BE49-F238E27FC236}">
                <a16:creationId xmlns:a16="http://schemas.microsoft.com/office/drawing/2014/main" xmlns="" id="{05E3729F-0745-4F1D-AB55-8CD54FAF8318}"/>
              </a:ext>
            </a:extLst>
          </p:cNvPr>
          <p:cNvSpPr/>
          <p:nvPr/>
        </p:nvSpPr>
        <p:spPr>
          <a:xfrm>
            <a:off x="1475656" y="3284984"/>
            <a:ext cx="1512168" cy="504056"/>
          </a:xfrm>
          <a:prstGeom prst="wedgeEllipseCallout">
            <a:avLst>
              <a:gd name="adj1" fmla="val -81300"/>
              <a:gd name="adj2" fmla="val 10060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Объект</a:t>
            </a:r>
          </a:p>
        </p:txBody>
      </p:sp>
    </p:spTree>
    <p:extLst>
      <p:ext uri="{BB962C8B-B14F-4D97-AF65-F5344CB8AC3E}">
        <p14:creationId xmlns:p14="http://schemas.microsoft.com/office/powerpoint/2010/main" val="221222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765175"/>
            <a:ext cx="8002587" cy="1655763"/>
          </a:xfrm>
        </p:spPr>
        <p:txBody>
          <a:bodyPr/>
          <a:lstStyle/>
          <a:p>
            <a:pPr eaLnBrk="1" hangingPunct="1"/>
            <a:r>
              <a:rPr lang="ru-RU" altLang="ru-RU" sz="3600" dirty="0">
                <a:solidFill>
                  <a:schemeClr val="bg2"/>
                </a:solidFill>
              </a:rPr>
              <a:t>Для защиты полей объекта используют директиву </a:t>
            </a:r>
            <a:br>
              <a:rPr lang="ru-RU" altLang="ru-RU" sz="3600" dirty="0">
                <a:solidFill>
                  <a:schemeClr val="bg2"/>
                </a:solidFill>
              </a:rPr>
            </a:br>
            <a:r>
              <a:rPr lang="en-US" altLang="ru-RU" sz="3600" dirty="0">
                <a:solidFill>
                  <a:srgbClr val="FF0000"/>
                </a:solidFill>
              </a:rPr>
              <a:t>private</a:t>
            </a:r>
            <a:r>
              <a:rPr lang="ru-RU" altLang="ru-RU" sz="3600" dirty="0">
                <a:solidFill>
                  <a:srgbClr val="FF0000"/>
                </a:solidFill>
              </a:rPr>
              <a:t> (закрытый)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24944"/>
            <a:ext cx="8229600" cy="16557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Поля и методы, объявленные как </a:t>
            </a:r>
            <a:r>
              <a:rPr lang="en-US" altLang="ru-RU" sz="2800" b="1" dirty="0"/>
              <a:t>private</a:t>
            </a:r>
            <a:r>
              <a:rPr lang="ru-RU" altLang="ru-RU" sz="2800" dirty="0"/>
              <a:t>,  не доступны за пределами класса, которому они принадлежат, даже в порожденных классах</a:t>
            </a:r>
          </a:p>
        </p:txBody>
      </p:sp>
    </p:spTree>
    <p:extLst>
      <p:ext uri="{BB962C8B-B14F-4D97-AF65-F5344CB8AC3E}">
        <p14:creationId xmlns:p14="http://schemas.microsoft.com/office/powerpoint/2010/main" val="404254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765175"/>
            <a:ext cx="8002587" cy="1655763"/>
          </a:xfrm>
        </p:spPr>
        <p:txBody>
          <a:bodyPr/>
          <a:lstStyle/>
          <a:p>
            <a:pPr eaLnBrk="1" hangingPunct="1"/>
            <a:r>
              <a:rPr lang="ru-RU" altLang="ru-RU" sz="3600" dirty="0">
                <a:solidFill>
                  <a:schemeClr val="bg2"/>
                </a:solidFill>
              </a:rPr>
              <a:t>Для использования в наследуемых классах используют директиву </a:t>
            </a:r>
            <a:br>
              <a:rPr lang="ru-RU" altLang="ru-RU" sz="3600" dirty="0">
                <a:solidFill>
                  <a:schemeClr val="bg2"/>
                </a:solidFill>
              </a:rPr>
            </a:br>
            <a:r>
              <a:rPr lang="en-US" altLang="ru-RU" sz="3600" dirty="0">
                <a:solidFill>
                  <a:srgbClr val="FF0000"/>
                </a:solidFill>
              </a:rPr>
              <a:t>protected</a:t>
            </a:r>
            <a:r>
              <a:rPr lang="ru-RU" altLang="ru-RU" sz="3600" dirty="0">
                <a:solidFill>
                  <a:srgbClr val="FF0000"/>
                </a:solidFill>
              </a:rPr>
              <a:t> (продолженный)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866" y="2996952"/>
            <a:ext cx="8435280" cy="244827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Поля и методы, объявленные как </a:t>
            </a:r>
            <a:r>
              <a:rPr lang="en-US" altLang="ru-RU" sz="2800" b="1" dirty="0"/>
              <a:t>protected</a:t>
            </a:r>
            <a:r>
              <a:rPr lang="ru-RU" altLang="ru-RU" sz="2800" dirty="0"/>
              <a:t>,  доступны в классе, которому они принадлежат, и в порожденных классах.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При этом производные классы могут располагаться в других сборках.</a:t>
            </a:r>
          </a:p>
        </p:txBody>
      </p:sp>
    </p:spTree>
    <p:extLst>
      <p:ext uri="{BB962C8B-B14F-4D97-AF65-F5344CB8AC3E}">
        <p14:creationId xmlns:p14="http://schemas.microsoft.com/office/powerpoint/2010/main" val="226091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CFECCB02-B206-49A1-9A9B-5A5D054B4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396318"/>
            <a:ext cx="8002587" cy="165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altLang="ru-RU" sz="3600" kern="0" dirty="0">
                <a:solidFill>
                  <a:schemeClr val="bg2"/>
                </a:solidFill>
              </a:rPr>
              <a:t>Для доступа в сборке используют директиву </a:t>
            </a:r>
            <a:r>
              <a:rPr lang="en-US" altLang="ru-RU" sz="3600" kern="0" dirty="0">
                <a:solidFill>
                  <a:srgbClr val="FF0000"/>
                </a:solidFill>
              </a:rPr>
              <a:t>internal</a:t>
            </a:r>
            <a:r>
              <a:rPr lang="ru-RU" altLang="ru-RU" sz="3600" kern="0" dirty="0">
                <a:solidFill>
                  <a:srgbClr val="FF0000"/>
                </a:solidFill>
              </a:rPr>
              <a:t> (в сборке)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C20E84C8-498F-40CC-B788-ADBA6DEF1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348880"/>
            <a:ext cx="8435280" cy="2457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ru-RU" sz="2800" dirty="0"/>
              <a:t>Доступ к этому типу или члену может получить только код в одной сборке</a:t>
            </a:r>
            <a:r>
              <a:rPr lang="ru-RU" altLang="ru-RU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Доступен из любого места кода в той же сборке, однако он недоступен для других программ и сборок.</a:t>
            </a:r>
          </a:p>
        </p:txBody>
      </p:sp>
    </p:spTree>
    <p:extLst>
      <p:ext uri="{BB962C8B-B14F-4D97-AF65-F5344CB8AC3E}">
        <p14:creationId xmlns:p14="http://schemas.microsoft.com/office/powerpoint/2010/main" val="168701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xfrm>
            <a:off x="691114" y="620688"/>
            <a:ext cx="8002587" cy="1655763"/>
          </a:xfrm>
        </p:spPr>
        <p:txBody>
          <a:bodyPr/>
          <a:lstStyle/>
          <a:p>
            <a:pPr eaLnBrk="1" hangingPunct="1"/>
            <a:r>
              <a:rPr lang="ru-RU" altLang="ru-RU" sz="3600" dirty="0">
                <a:solidFill>
                  <a:schemeClr val="bg2"/>
                </a:solidFill>
              </a:rPr>
              <a:t>Для открытого доступа используют директиву </a:t>
            </a:r>
            <a:r>
              <a:rPr lang="en-US" altLang="ru-RU" sz="3600" dirty="0">
                <a:solidFill>
                  <a:srgbClr val="FF0000"/>
                </a:solidFill>
              </a:rPr>
              <a:t>public</a:t>
            </a:r>
            <a:r>
              <a:rPr lang="ru-RU" altLang="ru-RU" sz="3600" dirty="0">
                <a:solidFill>
                  <a:srgbClr val="FF0000"/>
                </a:solidFill>
              </a:rPr>
              <a:t> (публичный)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360" y="2402570"/>
            <a:ext cx="8435280" cy="225056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Поля и методы, объявленные как </a:t>
            </a:r>
            <a:r>
              <a:rPr lang="en-US" altLang="ru-RU" sz="2800" b="1" dirty="0"/>
              <a:t>public</a:t>
            </a:r>
            <a:r>
              <a:rPr lang="ru-RU" altLang="ru-RU" sz="2800" dirty="0"/>
              <a:t>,  доступны из любого класса.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Доступ к этому типу или члену возможен из любого места в коде, а также из других программ и сборок.</a:t>
            </a:r>
          </a:p>
        </p:txBody>
      </p:sp>
    </p:spTree>
    <p:extLst>
      <p:ext uri="{BB962C8B-B14F-4D97-AF65-F5344CB8AC3E}">
        <p14:creationId xmlns:p14="http://schemas.microsoft.com/office/powerpoint/2010/main" val="215093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CF0DE98-CC75-4F52-BCCF-728FD1BA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620688"/>
            <a:ext cx="8229600" cy="595536"/>
          </a:xfrm>
        </p:spPr>
        <p:txBody>
          <a:bodyPr/>
          <a:lstStyle/>
          <a:p>
            <a:r>
              <a:rPr lang="ru-RU" sz="3600" dirty="0">
                <a:solidFill>
                  <a:schemeClr val="bg2"/>
                </a:solidFill>
              </a:rPr>
              <a:t>Уровни доступа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D1F22EC-2A45-4BD2-82B7-274B6D1E7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08" y="1556792"/>
            <a:ext cx="8751784" cy="318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4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62050"/>
            <a:ext cx="8229600" cy="719609"/>
          </a:xfrm>
        </p:spPr>
        <p:txBody>
          <a:bodyPr/>
          <a:lstStyle/>
          <a:p>
            <a:pPr eaLnBrk="1" hangingPunct="1"/>
            <a:r>
              <a:rPr lang="ru-RU" altLang="ru-RU" dirty="0">
                <a:solidFill>
                  <a:schemeClr val="bg2"/>
                </a:solidFill>
              </a:rPr>
              <a:t>Сокрытие данных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207645"/>
            <a:ext cx="9036496" cy="5533723"/>
          </a:xfrm>
        </p:spPr>
        <p:txBody>
          <a:bodyPr/>
          <a:lstStyle/>
          <a:p>
            <a:pPr eaLnBrk="1" hangingPunct="1"/>
            <a:r>
              <a:rPr lang="ru-RU" altLang="ru-RU" sz="2800" dirty="0"/>
              <a:t>Неотделимая часть ООП, управляющая областями видимости</a:t>
            </a:r>
            <a:endParaRPr lang="en-US" altLang="ru-RU" sz="2800" dirty="0"/>
          </a:p>
          <a:p>
            <a:pPr eaLnBrk="1" hangingPunct="1"/>
            <a:r>
              <a:rPr lang="ru-RU" altLang="ru-RU" sz="2800" dirty="0"/>
              <a:t>Целью сокрытия данных является предельная локализация изменений в коде программы</a:t>
            </a:r>
          </a:p>
          <a:p>
            <a:pPr eaLnBrk="1" hangingPunct="1"/>
            <a:r>
              <a:rPr lang="ru-RU" altLang="ru-RU" sz="2800" dirty="0"/>
              <a:t>Вместо прямого доступа к полям объекта следует использовать </a:t>
            </a:r>
            <a:r>
              <a:rPr lang="ru-RU" altLang="ru-RU" sz="2800" dirty="0">
                <a:solidFill>
                  <a:srgbClr val="FF0000"/>
                </a:solidFill>
              </a:rPr>
              <a:t>методы</a:t>
            </a:r>
          </a:p>
          <a:p>
            <a:pPr eaLnBrk="1" hangingPunct="1"/>
            <a:r>
              <a:rPr lang="ru-RU" sz="2800" dirty="0"/>
              <a:t>Классы и структуры, которые объявлены без модификатора и которые расположены вне других типов, по умолчанию имеют доступ</a:t>
            </a:r>
            <a:r>
              <a:rPr lang="ru-RU" sz="2800" b="1" dirty="0"/>
              <a:t> </a:t>
            </a:r>
            <a:r>
              <a:rPr lang="ru-RU" sz="2800" b="1" dirty="0" err="1"/>
              <a:t>internal</a:t>
            </a:r>
            <a:r>
              <a:rPr lang="ru-RU" sz="2800" dirty="0"/>
              <a:t>, а вложенные классы и структуры, как и остальные элементы классов/структур имеют модификатор </a:t>
            </a:r>
            <a:r>
              <a:rPr lang="ru-RU" sz="2800" b="1" dirty="0" err="1"/>
              <a:t>private</a:t>
            </a:r>
            <a:r>
              <a:rPr lang="ru-RU" sz="2800" dirty="0"/>
              <a:t>.</a:t>
            </a:r>
            <a:endParaRPr lang="ru-RU" altLang="ru-RU" sz="2800" dirty="0"/>
          </a:p>
          <a:p>
            <a:pPr eaLnBrk="1" hangingPunct="1"/>
            <a:endParaRPr lang="ru-RU" altLang="ru-RU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4704"/>
            <a:ext cx="8229600" cy="720080"/>
          </a:xfrm>
        </p:spPr>
        <p:txBody>
          <a:bodyPr/>
          <a:lstStyle/>
          <a:p>
            <a:pPr eaLnBrk="1" hangingPunct="1"/>
            <a:r>
              <a:rPr lang="ru-RU" altLang="ru-RU" dirty="0">
                <a:solidFill>
                  <a:schemeClr val="bg2"/>
                </a:solidFill>
              </a:rPr>
              <a:t>Выводы: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8840"/>
            <a:ext cx="7499176" cy="295232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Инкапсуляция - это принцип, согласно которому любой класс должен рассматриваться как черный ящик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Пользователь класса должен видеть и использовать только интерфейсную часть класса (список декларируемых свойств и методов)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27113"/>
          </a:xfrm>
        </p:spPr>
        <p:txBody>
          <a:bodyPr/>
          <a:lstStyle/>
          <a:p>
            <a:pPr eaLnBrk="1" hangingPunct="1"/>
            <a:r>
              <a:rPr lang="ru-RU" altLang="ru-RU" sz="5400">
                <a:solidFill>
                  <a:schemeClr val="bg2"/>
                </a:solidFill>
              </a:rPr>
              <a:t>Наследование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971600" y="1844675"/>
            <a:ext cx="7715200" cy="4752975"/>
          </a:xfrm>
        </p:spPr>
        <p:txBody>
          <a:bodyPr/>
          <a:lstStyle/>
          <a:p>
            <a:pPr eaLnBrk="1" hangingPunct="1"/>
            <a:r>
              <a:rPr lang="ru-RU" altLang="ru-RU" dirty="0"/>
              <a:t>Это механизм, позволяющий создавать </a:t>
            </a:r>
            <a:r>
              <a:rPr lang="ru-RU" altLang="ru-RU" i="1" dirty="0">
                <a:solidFill>
                  <a:srgbClr val="FF0000"/>
                </a:solidFill>
              </a:rPr>
              <a:t>иерархии объектов</a:t>
            </a:r>
          </a:p>
          <a:p>
            <a:pPr eaLnBrk="1" hangingPunct="1"/>
            <a:endParaRPr lang="ru-RU" altLang="ru-RU" i="1" dirty="0"/>
          </a:p>
          <a:p>
            <a:pPr eaLnBrk="1" hangingPunct="1"/>
            <a:r>
              <a:rPr lang="ru-RU" altLang="ru-RU" dirty="0"/>
              <a:t>Наследованием называется возможность порождать один класс от другого с сохранением всех свойств и методов класса-предка, добавляя при необходимости новые свойства и методы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60350"/>
            <a:ext cx="7772400" cy="1143000"/>
          </a:xfrm>
        </p:spPr>
        <p:txBody>
          <a:bodyPr/>
          <a:lstStyle/>
          <a:p>
            <a:pPr eaLnBrk="1" hangingPunct="1"/>
            <a:r>
              <a:rPr lang="ru-RU" altLang="ru-RU" sz="6200">
                <a:solidFill>
                  <a:schemeClr val="bg2"/>
                </a:solidFill>
              </a:rPr>
              <a:t>Иерархия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556793"/>
            <a:ext cx="8208912" cy="864096"/>
          </a:xfrm>
        </p:spPr>
        <p:txBody>
          <a:bodyPr/>
          <a:lstStyle/>
          <a:p>
            <a:pPr eaLnBrk="1" hangingPunct="1"/>
            <a:r>
              <a:rPr lang="ru-RU" altLang="ru-RU" sz="3200" dirty="0"/>
              <a:t>Это набор классов, связанных отношением наследования</a:t>
            </a: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379780227"/>
              </p:ext>
            </p:extLst>
          </p:nvPr>
        </p:nvGraphicFramePr>
        <p:xfrm>
          <a:off x="755576" y="2708920"/>
          <a:ext cx="6768752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831EA7A-A96D-4019-A4E3-C774BBD6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BD25DE5-85A1-40BE-A4E6-C4E7C3F765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8614" y="2262527"/>
            <a:ext cx="7772400" cy="23329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defTabSz="91440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tabLst/>
            </a:pPr>
            <a:r>
              <a:rPr lang="ru-RU" altLang="ru-RU" sz="2800" dirty="0">
                <a:latin typeface="+mn-lt"/>
              </a:rPr>
              <a:t>Производные классы не могут быть более доступны, чем соответствующие базовые типы. </a:t>
            </a:r>
          </a:p>
          <a:p>
            <a:pPr marL="342900" marR="0" lvl="0" indent="-342900" defTabSz="91440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tabLst/>
            </a:pPr>
            <a:r>
              <a:rPr lang="ru-RU" altLang="ru-RU" sz="2800" dirty="0">
                <a:latin typeface="+mn-lt"/>
              </a:rPr>
              <a:t>Невозможно объявить открытый класс B, производный от внутреннего класса A.  </a:t>
            </a:r>
          </a:p>
        </p:txBody>
      </p:sp>
    </p:spTree>
    <p:extLst>
      <p:ext uri="{BB962C8B-B14F-4D97-AF65-F5344CB8AC3E}">
        <p14:creationId xmlns:p14="http://schemas.microsoft.com/office/powerpoint/2010/main" val="322113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04813"/>
            <a:ext cx="8569325" cy="1008062"/>
          </a:xfrm>
        </p:spPr>
        <p:txBody>
          <a:bodyPr/>
          <a:lstStyle/>
          <a:p>
            <a:pPr eaLnBrk="1" hangingPunct="1"/>
            <a:r>
              <a:rPr lang="ru-RU" altLang="ru-RU" sz="2800" b="1" i="1">
                <a:solidFill>
                  <a:srgbClr val="000099"/>
                </a:solidFill>
              </a:rPr>
              <a:t>Пусть определены три класса, один из которых является базовым для двух других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498" y="2159948"/>
            <a:ext cx="8136904" cy="4258957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lass Person 		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{  	  string name;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string address;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int year;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public Person(string N, string A, 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Y)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name = N;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address = A;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year = Y;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ru-RU" dirty="0"/>
              <a:t>	</a:t>
            </a:r>
            <a:endParaRPr lang="ru-RU" altLang="ru-RU" dirty="0"/>
          </a:p>
          <a:p>
            <a:pPr marL="0" indent="0" eaLnBrk="1" hangingPunct="1">
              <a:buFont typeface="Wingdings" pitchFamily="2" charset="2"/>
              <a:buNone/>
            </a:pPr>
            <a:endParaRPr lang="en-US" altLang="ru-RU" sz="1200" b="1" dirty="0"/>
          </a:p>
        </p:txBody>
      </p:sp>
      <p:sp>
        <p:nvSpPr>
          <p:cNvPr id="4" name="Облачко с текстом: овальное 3">
            <a:extLst>
              <a:ext uri="{FF2B5EF4-FFF2-40B4-BE49-F238E27FC236}">
                <a16:creationId xmlns:a16="http://schemas.microsoft.com/office/drawing/2014/main" xmlns="" id="{233B8EF1-F319-4688-918E-D1BE0D0EDCBA}"/>
              </a:ext>
            </a:extLst>
          </p:cNvPr>
          <p:cNvSpPr/>
          <p:nvPr/>
        </p:nvSpPr>
        <p:spPr>
          <a:xfrm>
            <a:off x="3779912" y="1628800"/>
            <a:ext cx="2304256" cy="647974"/>
          </a:xfrm>
          <a:prstGeom prst="wedgeEllipseCallout">
            <a:avLst>
              <a:gd name="adj1" fmla="val -87760"/>
              <a:gd name="adj2" fmla="val 64742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Родительский класс</a:t>
            </a:r>
          </a:p>
        </p:txBody>
      </p:sp>
      <p:sp>
        <p:nvSpPr>
          <p:cNvPr id="5" name="Облачко с текстом: овальное 4">
            <a:extLst>
              <a:ext uri="{FF2B5EF4-FFF2-40B4-BE49-F238E27FC236}">
                <a16:creationId xmlns:a16="http://schemas.microsoft.com/office/drawing/2014/main" xmlns="" id="{AF26595F-3E98-4AC5-8A11-33E6937459EE}"/>
              </a:ext>
            </a:extLst>
          </p:cNvPr>
          <p:cNvSpPr/>
          <p:nvPr/>
        </p:nvSpPr>
        <p:spPr>
          <a:xfrm>
            <a:off x="4283968" y="3284984"/>
            <a:ext cx="2304256" cy="647974"/>
          </a:xfrm>
          <a:prstGeom prst="wedgeEllipseCallout">
            <a:avLst>
              <a:gd name="adj1" fmla="val -87760"/>
              <a:gd name="adj2" fmla="val 64742"/>
            </a:avLst>
          </a:prstGeom>
          <a:ln>
            <a:solidFill>
              <a:srgbClr val="00009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Конструктор класса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99592"/>
          </a:xfrm>
        </p:spPr>
        <p:txBody>
          <a:bodyPr/>
          <a:lstStyle/>
          <a:p>
            <a:pPr eaLnBrk="1" hangingPunct="1"/>
            <a:r>
              <a:rPr lang="ru-RU" altLang="ru-RU" sz="4000" dirty="0">
                <a:solidFill>
                  <a:schemeClr val="bg2"/>
                </a:solidFill>
              </a:rPr>
              <a:t>Класс-потомок должен иметь свой конструктор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564904"/>
            <a:ext cx="8147248" cy="4176464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class Student: Person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int group;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public Student(string N, string A, int Y, 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int G): base (N, A, Y)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group = G;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Облачко с текстом: овальное 3">
            <a:extLst>
              <a:ext uri="{FF2B5EF4-FFF2-40B4-BE49-F238E27FC236}">
                <a16:creationId xmlns:a16="http://schemas.microsoft.com/office/drawing/2014/main" xmlns="" id="{6AB8E628-2EF7-4B6D-9D45-83D4F8857D09}"/>
              </a:ext>
            </a:extLst>
          </p:cNvPr>
          <p:cNvSpPr/>
          <p:nvPr/>
        </p:nvSpPr>
        <p:spPr>
          <a:xfrm>
            <a:off x="3419872" y="1828800"/>
            <a:ext cx="2304256" cy="647974"/>
          </a:xfrm>
          <a:prstGeom prst="wedgeEllipseCallout">
            <a:avLst>
              <a:gd name="adj1" fmla="val -85063"/>
              <a:gd name="adj2" fmla="val 79813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Дочерний класс</a:t>
            </a:r>
          </a:p>
        </p:txBody>
      </p:sp>
      <p:sp>
        <p:nvSpPr>
          <p:cNvPr id="5" name="Облачко с текстом: овальное 4">
            <a:extLst>
              <a:ext uri="{FF2B5EF4-FFF2-40B4-BE49-F238E27FC236}">
                <a16:creationId xmlns:a16="http://schemas.microsoft.com/office/drawing/2014/main" xmlns="" id="{80164E83-A453-42EC-BC4E-64BF37F64D35}"/>
              </a:ext>
            </a:extLst>
          </p:cNvPr>
          <p:cNvSpPr/>
          <p:nvPr/>
        </p:nvSpPr>
        <p:spPr>
          <a:xfrm>
            <a:off x="5985027" y="5157192"/>
            <a:ext cx="2604634" cy="792088"/>
          </a:xfrm>
          <a:prstGeom prst="wedgeEllipseCallout">
            <a:avLst>
              <a:gd name="adj1" fmla="val -70394"/>
              <a:gd name="adj2" fmla="val -102543"/>
            </a:avLst>
          </a:prstGeom>
          <a:ln>
            <a:solidFill>
              <a:srgbClr val="00009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Вызов конструктора базового класса</a:t>
            </a:r>
          </a:p>
        </p:txBody>
      </p:sp>
      <p:sp>
        <p:nvSpPr>
          <p:cNvPr id="6" name="Облачко с текстом: овальное 5">
            <a:extLst>
              <a:ext uri="{FF2B5EF4-FFF2-40B4-BE49-F238E27FC236}">
                <a16:creationId xmlns:a16="http://schemas.microsoft.com/office/drawing/2014/main" xmlns="" id="{B4C44DE8-AE3A-4998-AAE3-585DC8D5FF2E}"/>
              </a:ext>
            </a:extLst>
          </p:cNvPr>
          <p:cNvSpPr/>
          <p:nvPr/>
        </p:nvSpPr>
        <p:spPr>
          <a:xfrm>
            <a:off x="3995936" y="3393735"/>
            <a:ext cx="2304256" cy="647974"/>
          </a:xfrm>
          <a:prstGeom prst="wedgeEllipseCallout">
            <a:avLst>
              <a:gd name="adj1" fmla="val -87760"/>
              <a:gd name="adj2" fmla="val 64742"/>
            </a:avLst>
          </a:prstGeom>
          <a:ln>
            <a:solidFill>
              <a:srgbClr val="00009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Конструктор класса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Объект 2"/>
          <p:cNvSpPr>
            <a:spLocks noGrp="1"/>
          </p:cNvSpPr>
          <p:nvPr>
            <p:ph idx="4294967295"/>
          </p:nvPr>
        </p:nvSpPr>
        <p:spPr>
          <a:xfrm>
            <a:off x="467544" y="1340768"/>
            <a:ext cx="8424936" cy="517525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class Professor: Person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kafedra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public Professor(string N, string A, int Y, 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string K): base (N, A, Y)</a:t>
            </a:r>
            <a:b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{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kafedra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= K;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Облачко с текстом: овальное 2">
            <a:extLst>
              <a:ext uri="{FF2B5EF4-FFF2-40B4-BE49-F238E27FC236}">
                <a16:creationId xmlns:a16="http://schemas.microsoft.com/office/drawing/2014/main" xmlns="" id="{8F0A5996-2D0B-4A30-9184-804D7F491DFF}"/>
              </a:ext>
            </a:extLst>
          </p:cNvPr>
          <p:cNvSpPr/>
          <p:nvPr/>
        </p:nvSpPr>
        <p:spPr>
          <a:xfrm>
            <a:off x="3419872" y="620688"/>
            <a:ext cx="2304256" cy="647974"/>
          </a:xfrm>
          <a:prstGeom prst="wedgeEllipseCallout">
            <a:avLst>
              <a:gd name="adj1" fmla="val -85063"/>
              <a:gd name="adj2" fmla="val 79813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Дочерний класс</a:t>
            </a:r>
          </a:p>
        </p:txBody>
      </p:sp>
      <p:sp>
        <p:nvSpPr>
          <p:cNvPr id="4" name="Облачко с текстом: овальное 3">
            <a:extLst>
              <a:ext uri="{FF2B5EF4-FFF2-40B4-BE49-F238E27FC236}">
                <a16:creationId xmlns:a16="http://schemas.microsoft.com/office/drawing/2014/main" xmlns="" id="{6425162B-CCE1-4EDE-B092-596829BFA4C0}"/>
              </a:ext>
            </a:extLst>
          </p:cNvPr>
          <p:cNvSpPr/>
          <p:nvPr/>
        </p:nvSpPr>
        <p:spPr>
          <a:xfrm>
            <a:off x="4572000" y="2204864"/>
            <a:ext cx="2304256" cy="647974"/>
          </a:xfrm>
          <a:prstGeom prst="wedgeEllipseCallout">
            <a:avLst>
              <a:gd name="adj1" fmla="val -87760"/>
              <a:gd name="adj2" fmla="val 64742"/>
            </a:avLst>
          </a:prstGeom>
          <a:ln>
            <a:solidFill>
              <a:srgbClr val="00009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Конструктор класса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00138"/>
          </a:xfrm>
        </p:spPr>
        <p:txBody>
          <a:bodyPr/>
          <a:lstStyle/>
          <a:p>
            <a:pPr eaLnBrk="1" hangingPunct="1"/>
            <a:r>
              <a:rPr lang="ru-RU" altLang="ru-RU" dirty="0">
                <a:solidFill>
                  <a:schemeClr val="bg2"/>
                </a:solidFill>
              </a:rPr>
              <a:t>Переопределение методов</a:t>
            </a:r>
          </a:p>
        </p:txBody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9138"/>
            <a:ext cx="8229600" cy="2952030"/>
          </a:xfrm>
        </p:spPr>
        <p:txBody>
          <a:bodyPr/>
          <a:lstStyle/>
          <a:p>
            <a:pPr eaLnBrk="1" hangingPunct="1"/>
            <a:r>
              <a:rPr lang="ru-RU" altLang="ru-RU" sz="2800" dirty="0"/>
              <a:t>Объект-потомок наследует не только поля родителя-объекта, но и методы</a:t>
            </a:r>
          </a:p>
          <a:p>
            <a:r>
              <a:rPr lang="ru-RU" sz="2800" dirty="0"/>
              <a:t>Использование имени метода родительского типа в объявлении дочернего типа называется </a:t>
            </a:r>
            <a:r>
              <a:rPr lang="ru-RU" sz="2800" i="1" dirty="0">
                <a:solidFill>
                  <a:srgbClr val="FF0000"/>
                </a:solidFill>
              </a:rPr>
              <a:t>переопределением метода</a:t>
            </a:r>
            <a:endParaRPr lang="ru-RU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dirty="0"/>
              <a:t>Полиморфизм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14400" y="1988841"/>
            <a:ext cx="7772400" cy="2592288"/>
          </a:xfrm>
        </p:spPr>
        <p:txBody>
          <a:bodyPr/>
          <a:lstStyle/>
          <a:p>
            <a:r>
              <a:rPr lang="ru-RU" dirty="0"/>
              <a:t> </a:t>
            </a:r>
            <a:r>
              <a:rPr lang="ru-RU" dirty="0">
                <a:solidFill>
                  <a:srgbClr val="FF0000"/>
                </a:solidFill>
              </a:rPr>
              <a:t>«поли» </a:t>
            </a:r>
            <a:r>
              <a:rPr lang="ru-RU" dirty="0"/>
              <a:t>значит «много», а </a:t>
            </a:r>
            <a:r>
              <a:rPr lang="ru-RU" dirty="0">
                <a:solidFill>
                  <a:srgbClr val="FF0000"/>
                </a:solidFill>
              </a:rPr>
              <a:t>«морфизм»</a:t>
            </a:r>
            <a:r>
              <a:rPr lang="ru-RU" dirty="0"/>
              <a:t> — «изменение» или «вариативность» </a:t>
            </a:r>
          </a:p>
          <a:p>
            <a:r>
              <a:rPr lang="ru-RU" dirty="0"/>
              <a:t>таким образом, </a:t>
            </a:r>
            <a:r>
              <a:rPr lang="ru-RU" dirty="0">
                <a:solidFill>
                  <a:srgbClr val="FF0000"/>
                </a:solidFill>
              </a:rPr>
              <a:t>«полиморфизм» </a:t>
            </a:r>
            <a:r>
              <a:rPr lang="ru-RU" dirty="0"/>
              <a:t>— это свойство одних и тех же объектов и методов принимать разные формы.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6200">
                <a:solidFill>
                  <a:schemeClr val="bg2"/>
                </a:solidFill>
              </a:rPr>
              <a:t>Полиморфизм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981200"/>
            <a:ext cx="8281292" cy="3886200"/>
          </a:xfrm>
        </p:spPr>
        <p:txBody>
          <a:bodyPr/>
          <a:lstStyle/>
          <a:p>
            <a:r>
              <a:rPr lang="ru-RU" dirty="0"/>
              <a:t>Полиморфизмом называют явление, при котором один и тот же программный код (полиморфный код) выполняется по-разному, в зависимости от того, объект какого класса используется при вызове данного кода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11213"/>
          </a:xfrm>
        </p:spPr>
        <p:txBody>
          <a:bodyPr/>
          <a:lstStyle/>
          <a:p>
            <a:pPr eaLnBrk="1" hangingPunct="1"/>
            <a:r>
              <a:rPr lang="ru-RU" altLang="ru-RU" sz="4800">
                <a:solidFill>
                  <a:schemeClr val="bg2"/>
                </a:solidFill>
              </a:rPr>
              <a:t>Виртуальный метод</a:t>
            </a:r>
          </a:p>
        </p:txBody>
      </p:sp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435280" cy="49688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ru-RU" sz="2800" dirty="0">
                <a:solidFill>
                  <a:srgbClr val="FF0000"/>
                </a:solidFill>
              </a:rPr>
              <a:t>virtual</a:t>
            </a:r>
            <a:r>
              <a:rPr lang="ru-RU" altLang="ru-RU" sz="2800" dirty="0">
                <a:solidFill>
                  <a:srgbClr val="FF0000"/>
                </a:solidFill>
              </a:rPr>
              <a:t> - виртуальный</a:t>
            </a:r>
            <a:r>
              <a:rPr lang="ru-RU" altLang="ru-RU" sz="2800" dirty="0"/>
              <a:t> (возможный – лат.)</a:t>
            </a:r>
          </a:p>
          <a:p>
            <a:pPr eaLnBrk="1" hangingPunct="1">
              <a:buFont typeface="Wingdings" pitchFamily="2" charset="2"/>
              <a:buNone/>
            </a:pPr>
            <a:endParaRPr lang="ru-RU" altLang="ru-RU" sz="2800" dirty="0"/>
          </a:p>
          <a:p>
            <a:pPr eaLnBrk="1" hangingPunct="1">
              <a:buFont typeface="Wingdings" pitchFamily="2" charset="2"/>
              <a:buNone/>
            </a:pPr>
            <a:r>
              <a:rPr lang="ru-RU" altLang="ru-RU" sz="2800" dirty="0"/>
              <a:t>Объявление метода виртуальным дает возможность дочернему классу произвести замену виртуального метода своим собственным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altLang="ru-RU" sz="2800" dirty="0"/>
              <a:t>Метод порожденного класса, замещающий метод родительского класса, помечается директивой </a:t>
            </a:r>
            <a:r>
              <a:rPr lang="en-US" altLang="ru-RU" sz="2800" dirty="0">
                <a:solidFill>
                  <a:srgbClr val="FF0000"/>
                </a:solidFill>
              </a:rPr>
              <a:t>override</a:t>
            </a:r>
            <a:endParaRPr lang="ru-RU" altLang="ru-RU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57200"/>
            <a:ext cx="8675687" cy="595536"/>
          </a:xfrm>
        </p:spPr>
        <p:txBody>
          <a:bodyPr/>
          <a:lstStyle/>
          <a:p>
            <a:pPr eaLnBrk="1" hangingPunct="1"/>
            <a:r>
              <a:rPr lang="ru-RU" altLang="ru-RU" sz="3200" b="1" dirty="0">
                <a:solidFill>
                  <a:srgbClr val="000099"/>
                </a:solidFill>
              </a:rPr>
              <a:t>Метод </a:t>
            </a:r>
            <a:r>
              <a:rPr lang="en-US" altLang="ru-RU" sz="3200" b="1" dirty="0">
                <a:solidFill>
                  <a:srgbClr val="000099"/>
                </a:solidFill>
              </a:rPr>
              <a:t>Show </a:t>
            </a:r>
            <a:r>
              <a:rPr lang="ru-RU" altLang="ru-RU" sz="3200" b="1" dirty="0">
                <a:solidFill>
                  <a:srgbClr val="000099"/>
                </a:solidFill>
              </a:rPr>
              <a:t>для родительского класса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1680" y="1756284"/>
            <a:ext cx="8190780" cy="4644516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lass Person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{	 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string name;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string address;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year;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…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virtual public void Show()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{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(Name);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(Address);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(Year);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Облачко с текстом: овальное 3">
            <a:extLst>
              <a:ext uri="{FF2B5EF4-FFF2-40B4-BE49-F238E27FC236}">
                <a16:creationId xmlns:a16="http://schemas.microsoft.com/office/drawing/2014/main" xmlns="" id="{40AECC38-A984-4416-8780-5C8E0642AFD1}"/>
              </a:ext>
            </a:extLst>
          </p:cNvPr>
          <p:cNvSpPr/>
          <p:nvPr/>
        </p:nvSpPr>
        <p:spPr>
          <a:xfrm>
            <a:off x="4067944" y="3105013"/>
            <a:ext cx="2232248" cy="647974"/>
          </a:xfrm>
          <a:prstGeom prst="wedgeEllipseCallout">
            <a:avLst>
              <a:gd name="adj1" fmla="val -111709"/>
              <a:gd name="adj2" fmla="val 96254"/>
            </a:avLst>
          </a:prstGeom>
          <a:ln>
            <a:solidFill>
              <a:srgbClr val="00009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Виртуальный метод</a:t>
            </a:r>
          </a:p>
        </p:txBody>
      </p:sp>
      <p:sp>
        <p:nvSpPr>
          <p:cNvPr id="5" name="Облачко с текстом: овальное 4">
            <a:extLst>
              <a:ext uri="{FF2B5EF4-FFF2-40B4-BE49-F238E27FC236}">
                <a16:creationId xmlns:a16="http://schemas.microsoft.com/office/drawing/2014/main" xmlns="" id="{A195F7E7-F986-4EF5-8190-87684E6A9E11}"/>
              </a:ext>
            </a:extLst>
          </p:cNvPr>
          <p:cNvSpPr/>
          <p:nvPr/>
        </p:nvSpPr>
        <p:spPr>
          <a:xfrm>
            <a:off x="3455876" y="1108310"/>
            <a:ext cx="2232248" cy="647974"/>
          </a:xfrm>
          <a:prstGeom prst="wedgeEllipseCallout">
            <a:avLst>
              <a:gd name="adj1" fmla="val -85063"/>
              <a:gd name="adj2" fmla="val 79813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Базовый</a:t>
            </a:r>
          </a:p>
          <a:p>
            <a:pPr algn="ctr"/>
            <a:r>
              <a:rPr lang="ru-RU" sz="1600" b="1" dirty="0"/>
              <a:t>класс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Прямоугольник 3"/>
          <p:cNvSpPr>
            <a:spLocks noChangeArrowheads="1"/>
          </p:cNvSpPr>
          <p:nvPr/>
        </p:nvSpPr>
        <p:spPr bwMode="auto">
          <a:xfrm>
            <a:off x="539750" y="1628800"/>
            <a:ext cx="8064500" cy="411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lass Student: Person</a:t>
            </a: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group;</a:t>
            </a: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	…</a:t>
            </a: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endParaRPr lang="en-US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	override public void Show()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{</a:t>
            </a: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base.Show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Console.WriteLine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(group);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Облачко с текстом: овальное 2">
            <a:extLst>
              <a:ext uri="{FF2B5EF4-FFF2-40B4-BE49-F238E27FC236}">
                <a16:creationId xmlns:a16="http://schemas.microsoft.com/office/drawing/2014/main" xmlns="" id="{21DB85AC-1674-4ED4-8497-8D82A9FA027E}"/>
              </a:ext>
            </a:extLst>
          </p:cNvPr>
          <p:cNvSpPr/>
          <p:nvPr/>
        </p:nvSpPr>
        <p:spPr>
          <a:xfrm>
            <a:off x="3131840" y="897662"/>
            <a:ext cx="2304256" cy="647974"/>
          </a:xfrm>
          <a:prstGeom prst="wedgeEllipseCallout">
            <a:avLst>
              <a:gd name="adj1" fmla="val -85063"/>
              <a:gd name="adj2" fmla="val 79813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Дочерний класс</a:t>
            </a:r>
          </a:p>
        </p:txBody>
      </p:sp>
      <p:sp>
        <p:nvSpPr>
          <p:cNvPr id="4" name="Облачко с текстом: овальное 3">
            <a:extLst>
              <a:ext uri="{FF2B5EF4-FFF2-40B4-BE49-F238E27FC236}">
                <a16:creationId xmlns:a16="http://schemas.microsoft.com/office/drawing/2014/main" xmlns="" id="{B7BFF32E-D033-4F4D-B5A6-8C4D3264B155}"/>
              </a:ext>
            </a:extLst>
          </p:cNvPr>
          <p:cNvSpPr/>
          <p:nvPr/>
        </p:nvSpPr>
        <p:spPr>
          <a:xfrm>
            <a:off x="3851920" y="2564904"/>
            <a:ext cx="2880320" cy="720080"/>
          </a:xfrm>
          <a:prstGeom prst="wedgeEllipseCallout">
            <a:avLst>
              <a:gd name="adj1" fmla="val -82445"/>
              <a:gd name="adj2" fmla="val 87668"/>
            </a:avLst>
          </a:prstGeom>
          <a:ln>
            <a:solidFill>
              <a:srgbClr val="00009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Переопределение метода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Прямоугольник 1"/>
          <p:cNvSpPr>
            <a:spLocks noChangeArrowheads="1"/>
          </p:cNvSpPr>
          <p:nvPr/>
        </p:nvSpPr>
        <p:spPr bwMode="auto">
          <a:xfrm>
            <a:off x="395536" y="836712"/>
            <a:ext cx="7632700" cy="411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ru-RU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lass Professor: Person</a:t>
            </a: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	string 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kafedra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	…</a:t>
            </a: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endParaRPr lang="en-US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	override public void Show()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{</a:t>
            </a: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	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base.Show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	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Console.WriteLine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ru-RU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kafedra</a:t>
            </a: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ru-RU" alt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Заголовок 2"/>
          <p:cNvSpPr>
            <a:spLocks noGrp="1"/>
          </p:cNvSpPr>
          <p:nvPr>
            <p:ph type="title"/>
          </p:nvPr>
        </p:nvSpPr>
        <p:spPr>
          <a:xfrm>
            <a:off x="179512" y="548680"/>
            <a:ext cx="8578850" cy="523875"/>
          </a:xfrm>
        </p:spPr>
        <p:txBody>
          <a:bodyPr/>
          <a:lstStyle/>
          <a:p>
            <a:r>
              <a:rPr lang="ru-RU" sz="3200" b="1" dirty="0">
                <a:solidFill>
                  <a:srgbClr val="000099"/>
                </a:solidFill>
              </a:rPr>
              <a:t>Программа демонстрации наследования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7768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namespace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ConsoleApplication1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{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string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State;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Base;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public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DecTo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string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s)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{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2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this.State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= s;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2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this.Base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s.Length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Прямоугольник 2"/>
          <p:cNvSpPr>
            <a:spLocks noChangeArrowheads="1"/>
          </p:cNvSpPr>
          <p:nvPr/>
        </p:nvSpPr>
        <p:spPr bwMode="auto">
          <a:xfrm>
            <a:off x="467544" y="549275"/>
            <a:ext cx="8676456" cy="606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метод перевода чисел</a:t>
            </a:r>
          </a:p>
          <a:p>
            <a:pPr>
              <a:spcAft>
                <a:spcPts val="0"/>
              </a:spcAft>
            </a:pPr>
            <a:r>
              <a:rPr lang="ru-RU" sz="24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public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string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Trans(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Dec)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{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string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r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"\0"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Ost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do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{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2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Ost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= Dec % Base;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r = State[</a:t>
            </a:r>
            <a:r>
              <a:rPr lang="en-US" sz="2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Ost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] + r;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Dec /= Base;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}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while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(Dec &gt; 0);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r;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}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}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400" dirty="0">
              <a:solidFill>
                <a:srgbClr val="0066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836712"/>
            <a:ext cx="885698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DecToBin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{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public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DecToBin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() :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base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"01"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); 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}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DecToOct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{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public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DecToOct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():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base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"01234567"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);     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}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DecToHex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{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public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DecToHex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():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base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"0123456789ABCDEF"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sz="2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</a:rPr>
              <a:t>} </a:t>
            </a:r>
            <a:endParaRPr lang="ru-RU" sz="2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504" y="548680"/>
            <a:ext cx="9036496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Program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static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Main()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{           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D;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en-US" sz="22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.WriteLine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"Input value in 10 system:"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D = 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Convert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.ToInt32(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en-US" sz="22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.ReadLine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());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en-US" sz="22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.WriteLine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();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DecToBin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P1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new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DecToBin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();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DecToOct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P2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new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DecToOct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();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DecToHex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P3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new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DecToHex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();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en-US" sz="22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.WriteLine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"2 system -&gt; "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+ P1.Trans(D));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en-US" sz="22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.WriteLine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"8 system -&gt; "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+ P2.Trans(D));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en-US" sz="22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.WriteLine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"16 system -&gt; "</a:t>
            </a: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+ P3.Trans(D));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ru-RU" sz="22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ru-RU" sz="22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.ReadKey</a:t>
            </a:r>
            <a:r>
              <a:rPr lang="ru-RU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();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    }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200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675"/>
          </a:xfrm>
        </p:spPr>
        <p:txBody>
          <a:bodyPr/>
          <a:lstStyle/>
          <a:p>
            <a:pPr>
              <a:defRPr/>
            </a:pPr>
            <a:r>
              <a:rPr lang="ru-RU" sz="3600" b="1" dirty="0">
                <a:solidFill>
                  <a:schemeClr val="accent6">
                    <a:lumMod val="50000"/>
                  </a:schemeClr>
                </a:solidFill>
              </a:rPr>
              <a:t>Результаты работы программы: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936" y="1952836"/>
            <a:ext cx="7776864" cy="2952328"/>
          </a:xfrm>
          <a:prstGeom prst="rect">
            <a:avLst/>
          </a:prstGeom>
        </p:spPr>
      </p:pic>
    </p:spTree>
  </p:cSld>
  <p:clrMapOvr>
    <a:masterClrMapping/>
  </p:clrMapOvr>
  <p:transition spd="slow">
    <p:circl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14313"/>
            <a:ext cx="8475662" cy="622399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ru-RU" altLang="ru-RU" sz="4000" b="1" dirty="0">
                <a:solidFill>
                  <a:srgbClr val="000099"/>
                </a:solidFill>
              </a:rPr>
              <a:t>Основные концепции ООП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34169" y="908720"/>
            <a:ext cx="8475662" cy="5949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ru-RU" altLang="ru-RU" dirty="0"/>
              <a:t> </a:t>
            </a:r>
            <a:r>
              <a:rPr lang="ru-RU" altLang="ru-RU" sz="2600" dirty="0"/>
              <a:t>Система состоит из объектов </a:t>
            </a:r>
          </a:p>
          <a:p>
            <a:pPr>
              <a:lnSpc>
                <a:spcPct val="90000"/>
              </a:lnSpc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ru-RU" altLang="ru-RU" sz="2600" dirty="0"/>
              <a:t> Структура всех объектов класса определена в классе (объекты создаются по шаблону класса)</a:t>
            </a:r>
          </a:p>
          <a:p>
            <a:pPr>
              <a:lnSpc>
                <a:spcPct val="90000"/>
              </a:lnSpc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ru-RU" altLang="ru-RU" sz="2600" dirty="0"/>
              <a:t> Объекты взаимодействуют между  собой</a:t>
            </a:r>
          </a:p>
          <a:p>
            <a:pPr>
              <a:lnSpc>
                <a:spcPct val="90000"/>
              </a:lnSpc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ru-RU" altLang="ru-RU" sz="2600" dirty="0"/>
              <a:t>  Каждый объект характеризуется своим состоянием и поведением</a:t>
            </a:r>
          </a:p>
          <a:p>
            <a:pPr>
              <a:lnSpc>
                <a:spcPct val="90000"/>
              </a:lnSpc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ru-RU" altLang="ru-RU" sz="2600" dirty="0"/>
              <a:t> Состояние объекта задается </a:t>
            </a:r>
            <a:r>
              <a:rPr lang="ru-RU" altLang="ru-RU" sz="2600" dirty="0">
                <a:solidFill>
                  <a:srgbClr val="FF0000"/>
                </a:solidFill>
              </a:rPr>
              <a:t>значениями полей данных</a:t>
            </a:r>
          </a:p>
          <a:p>
            <a:pPr>
              <a:lnSpc>
                <a:spcPct val="90000"/>
              </a:lnSpc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ru-RU" altLang="ru-RU" sz="2600" dirty="0"/>
              <a:t> Поведение объекта задается </a:t>
            </a:r>
            <a:r>
              <a:rPr lang="ru-RU" altLang="ru-RU" sz="2600" dirty="0">
                <a:solidFill>
                  <a:srgbClr val="FF0000"/>
                </a:solidFill>
              </a:rPr>
              <a:t>методами</a:t>
            </a:r>
          </a:p>
          <a:p>
            <a:pPr>
              <a:lnSpc>
                <a:spcPct val="90000"/>
              </a:lnSpc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ru-RU" altLang="ru-RU" sz="2600" dirty="0">
                <a:solidFill>
                  <a:srgbClr val="FF0000"/>
                </a:solidFill>
              </a:rPr>
              <a:t> </a:t>
            </a:r>
            <a:r>
              <a:rPr lang="ru-RU" altLang="ru-RU" sz="2600" dirty="0"/>
              <a:t>Дочерние классы наследуют поля и методы своего родительского класса, с возможностью добавления новых полей, свойств и методов</a:t>
            </a:r>
          </a:p>
          <a:p>
            <a:pPr>
              <a:lnSpc>
                <a:spcPct val="90000"/>
              </a:lnSpc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ru-RU" altLang="ru-RU" sz="2600" dirty="0"/>
              <a:t> Есть возможность переопределить в дочернем классе некоторые методы. </a:t>
            </a:r>
            <a:r>
              <a:rPr lang="ru-RU" altLang="ru-RU" sz="2600" dirty="0">
                <a:solidFill>
                  <a:srgbClr val="FF0000"/>
                </a:solidFill>
              </a:rPr>
              <a:t>Не виртуальные методы переопределять не рекомендуется!</a:t>
            </a:r>
            <a:r>
              <a:rPr lang="ru-RU" altLang="ru-RU" sz="26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01216"/>
            <a:ext cx="8229600" cy="81156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Задача 1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8180" y="1628800"/>
            <a:ext cx="8435280" cy="4752528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/>
              <a:t>Разработать класс </a:t>
            </a:r>
            <a:r>
              <a:rPr lang="en-US" sz="2400" dirty="0"/>
              <a:t>Point (</a:t>
            </a:r>
            <a:r>
              <a:rPr lang="ru-RU" sz="2400" dirty="0"/>
              <a:t>точка) и дочерний класс </a:t>
            </a:r>
            <a:r>
              <a:rPr lang="en-US" sz="2400" dirty="0"/>
              <a:t>Circle (</a:t>
            </a:r>
            <a:r>
              <a:rPr lang="ru-RU" sz="2400" dirty="0"/>
              <a:t>окружность).</a:t>
            </a:r>
          </a:p>
          <a:p>
            <a:pPr marL="0" indent="0">
              <a:buNone/>
            </a:pPr>
            <a:endParaRPr lang="ru-RU" sz="2400" i="1" dirty="0"/>
          </a:p>
          <a:p>
            <a:pPr marL="0" indent="0">
              <a:buNone/>
            </a:pPr>
            <a:r>
              <a:rPr lang="ru-RU" sz="2400" i="1" dirty="0"/>
              <a:t>Функционал классов: </a:t>
            </a:r>
          </a:p>
          <a:p>
            <a:r>
              <a:rPr lang="ru-RU" sz="2400" dirty="0"/>
              <a:t>вывод на экран сведений об объекте;</a:t>
            </a:r>
          </a:p>
          <a:p>
            <a:r>
              <a:rPr lang="ru-RU" sz="2400" dirty="0"/>
              <a:t>вычисление расстояния от начала координат до точки; </a:t>
            </a:r>
          </a:p>
          <a:p>
            <a:r>
              <a:rPr lang="ru-RU" sz="2400" dirty="0"/>
              <a:t>вычисление расстояния между двумя точками; </a:t>
            </a:r>
          </a:p>
          <a:p>
            <a:r>
              <a:rPr lang="ru-RU" sz="2400" dirty="0"/>
              <a:t>определить,</a:t>
            </a:r>
            <a:r>
              <a:rPr lang="en-US" sz="2400" dirty="0"/>
              <a:t> </a:t>
            </a:r>
            <a:r>
              <a:rPr lang="ru-RU" sz="2400" dirty="0"/>
              <a:t>перекрываются ли две окружности на плоскости?</a:t>
            </a:r>
          </a:p>
        </p:txBody>
      </p:sp>
    </p:spTree>
    <p:extLst>
      <p:ext uri="{BB962C8B-B14F-4D97-AF65-F5344CB8AC3E}">
        <p14:creationId xmlns:p14="http://schemas.microsoft.com/office/powerpoint/2010/main" val="24062097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Заголовок 1"/>
          <p:cNvSpPr>
            <a:spLocks noGrp="1"/>
          </p:cNvSpPr>
          <p:nvPr>
            <p:ph type="title"/>
          </p:nvPr>
        </p:nvSpPr>
        <p:spPr>
          <a:xfrm>
            <a:off x="1403648" y="620688"/>
            <a:ext cx="7063711" cy="838200"/>
          </a:xfrm>
        </p:spPr>
        <p:txBody>
          <a:bodyPr/>
          <a:lstStyle/>
          <a:p>
            <a:r>
              <a:rPr lang="ru-RU" dirty="0"/>
              <a:t>Проверочная работа</a:t>
            </a:r>
          </a:p>
        </p:txBody>
      </p:sp>
      <p:sp>
        <p:nvSpPr>
          <p:cNvPr id="82946" name="Объект 2"/>
          <p:cNvSpPr>
            <a:spLocks noGrp="1"/>
          </p:cNvSpPr>
          <p:nvPr>
            <p:ph idx="1"/>
          </p:nvPr>
        </p:nvSpPr>
        <p:spPr>
          <a:xfrm>
            <a:off x="467544" y="2204864"/>
            <a:ext cx="8434183" cy="4248472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sz="2800" b="1" dirty="0">
                <a:solidFill>
                  <a:srgbClr val="000099"/>
                </a:solidFill>
                <a:latin typeface="Consolas" pitchFamily="49" charset="0"/>
              </a:rPr>
              <a:t>I</a:t>
            </a:r>
            <a:r>
              <a:rPr lang="ru-RU" sz="2800" b="1" dirty="0">
                <a:solidFill>
                  <a:srgbClr val="000099"/>
                </a:solidFill>
                <a:latin typeface="Consolas" pitchFamily="49" charset="0"/>
              </a:rPr>
              <a:t> вариант</a:t>
            </a:r>
          </a:p>
          <a:p>
            <a:pPr marL="0" indent="0">
              <a:buFont typeface="Wingdings" pitchFamily="2" charset="2"/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Базовый класс </a:t>
            </a:r>
            <a:r>
              <a:rPr lang="ru-RU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Товар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(поля: 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Название товара, Цена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Дочерний класс </a:t>
            </a:r>
            <a:r>
              <a:rPr lang="ru-RU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(доп. поле 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Срок реализации –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количество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дней)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sz="2800" b="1" dirty="0">
                <a:solidFill>
                  <a:srgbClr val="000099"/>
                </a:solidFill>
                <a:latin typeface="Consolas" pitchFamily="49" charset="0"/>
              </a:rPr>
              <a:t>II</a:t>
            </a:r>
            <a:r>
              <a:rPr lang="ru-RU" sz="2800" b="1" dirty="0">
                <a:solidFill>
                  <a:srgbClr val="000099"/>
                </a:solidFill>
                <a:latin typeface="Consolas" pitchFamily="49" charset="0"/>
              </a:rPr>
              <a:t> вариант</a:t>
            </a:r>
          </a:p>
          <a:p>
            <a:pPr marL="0" indent="0">
              <a:buFont typeface="Wingdings" pitchFamily="2" charset="2"/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Базовый класс </a:t>
            </a:r>
            <a:r>
              <a:rPr lang="ru-RU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Автомобиль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(поля: 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Модель, Год выпуска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Дочерний класс </a:t>
            </a:r>
            <a:r>
              <a:rPr lang="ru-RU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Автобус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(доп. поле 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Вместимость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– количество мест)</a:t>
            </a:r>
          </a:p>
          <a:p>
            <a:pPr marL="0" indent="0">
              <a:buFont typeface="Wingdings" pitchFamily="2" charset="2"/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51720" y="548680"/>
            <a:ext cx="6013350" cy="648072"/>
          </a:xfrm>
        </p:spPr>
        <p:txBody>
          <a:bodyPr/>
          <a:lstStyle/>
          <a:p>
            <a:r>
              <a:rPr lang="ru-RU" dirty="0">
                <a:solidFill>
                  <a:srgbClr val="000099"/>
                </a:solidFill>
              </a:rPr>
              <a:t>План работы: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340768"/>
            <a:ext cx="8616577" cy="5181378"/>
          </a:xfrm>
        </p:spPr>
        <p:txBody>
          <a:bodyPr/>
          <a:lstStyle/>
          <a:p>
            <a:r>
              <a:rPr lang="ru-RU" sz="2800" dirty="0"/>
              <a:t>Описать </a:t>
            </a:r>
            <a:r>
              <a:rPr lang="ru-RU" sz="2800" dirty="0">
                <a:solidFill>
                  <a:srgbClr val="FF0000"/>
                </a:solidFill>
              </a:rPr>
              <a:t>поля</a:t>
            </a:r>
            <a:r>
              <a:rPr lang="ru-RU" sz="2800" dirty="0"/>
              <a:t> базового класса</a:t>
            </a:r>
          </a:p>
          <a:p>
            <a:r>
              <a:rPr lang="ru-RU" sz="2800" dirty="0"/>
              <a:t>Описать </a:t>
            </a:r>
            <a:r>
              <a:rPr lang="ru-RU" sz="2800" dirty="0">
                <a:solidFill>
                  <a:srgbClr val="FF0000"/>
                </a:solidFill>
              </a:rPr>
              <a:t>конструктор</a:t>
            </a:r>
            <a:r>
              <a:rPr lang="ru-RU" sz="2800" dirty="0"/>
              <a:t> базового класса</a:t>
            </a:r>
          </a:p>
          <a:p>
            <a:r>
              <a:rPr lang="ru-RU" sz="2800" dirty="0"/>
              <a:t>Описать метод </a:t>
            </a:r>
            <a:r>
              <a:rPr lang="en-US" sz="2800" dirty="0">
                <a:solidFill>
                  <a:srgbClr val="FF0000"/>
                </a:solidFill>
              </a:rPr>
              <a:t>Show</a:t>
            </a:r>
            <a:r>
              <a:rPr lang="ru-RU" sz="2800" dirty="0">
                <a:solidFill>
                  <a:srgbClr val="FF0000"/>
                </a:solidFill>
              </a:rPr>
              <a:t>()</a:t>
            </a:r>
            <a:r>
              <a:rPr lang="ru-RU" sz="2800" dirty="0"/>
              <a:t> для вывода на экран значений полей</a:t>
            </a:r>
          </a:p>
          <a:p>
            <a:r>
              <a:rPr lang="ru-RU" sz="2800" dirty="0"/>
              <a:t>Описать метод </a:t>
            </a:r>
            <a:r>
              <a:rPr lang="en-US" sz="2800" dirty="0" err="1">
                <a:solidFill>
                  <a:srgbClr val="FF0000"/>
                </a:solidFill>
              </a:rPr>
              <a:t>GetField</a:t>
            </a:r>
            <a:r>
              <a:rPr lang="ru-RU" sz="2800" dirty="0">
                <a:solidFill>
                  <a:srgbClr val="FF0000"/>
                </a:solidFill>
              </a:rPr>
              <a:t>() </a:t>
            </a:r>
            <a:r>
              <a:rPr lang="ru-RU" sz="2800" dirty="0"/>
              <a:t>или свойство с уровнем доступа </a:t>
            </a:r>
            <a:r>
              <a:rPr lang="en-US" sz="2800" b="1" dirty="0"/>
              <a:t>get</a:t>
            </a:r>
            <a:r>
              <a:rPr lang="ru-RU" sz="2800" dirty="0"/>
              <a:t>, возвращающее значение одного из полей</a:t>
            </a:r>
          </a:p>
          <a:p>
            <a:r>
              <a:rPr lang="ru-RU" sz="2800" dirty="0"/>
              <a:t>Аналогично для дочернего класса</a:t>
            </a:r>
          </a:p>
          <a:p>
            <a:r>
              <a:rPr lang="ru-RU" sz="2800" dirty="0"/>
              <a:t>В главной функции создать по 1 объекту каждого класса</a:t>
            </a:r>
          </a:p>
          <a:p>
            <a:r>
              <a:rPr lang="ru-RU" sz="2800" dirty="0"/>
              <a:t>Показать вызов методов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Слои">
  <a:themeElements>
    <a:clrScheme name="Слои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Слои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Слои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лои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лои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лои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лои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лои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лои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лои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лои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лои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Палитра">
  <a:themeElements>
    <a:clrScheme name="Палитра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Палитра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алитра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алитра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алитра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алитра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алитра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алитра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2194</TotalTime>
  <Words>1465</Words>
  <Application>Microsoft Office PowerPoint</Application>
  <PresentationFormat>Экран (4:3)</PresentationFormat>
  <Paragraphs>360</Paragraphs>
  <Slides>43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43</vt:i4>
      </vt:variant>
    </vt:vector>
  </HeadingPairs>
  <TitlesOfParts>
    <vt:vector size="57" baseType="lpstr">
      <vt:lpstr>-apple-system</vt:lpstr>
      <vt:lpstr>Arial</vt:lpstr>
      <vt:lpstr>Arial Black</vt:lpstr>
      <vt:lpstr>Calibri</vt:lpstr>
      <vt:lpstr>Calibri Light</vt:lpstr>
      <vt:lpstr>Consolas</vt:lpstr>
      <vt:lpstr>Courier New</vt:lpstr>
      <vt:lpstr>Tahoma</vt:lpstr>
      <vt:lpstr>Times New Roman</vt:lpstr>
      <vt:lpstr>Wingdings</vt:lpstr>
      <vt:lpstr>Пиксел</vt:lpstr>
      <vt:lpstr>Слои</vt:lpstr>
      <vt:lpstr>Палитра</vt:lpstr>
      <vt:lpstr>Тема Office</vt:lpstr>
      <vt:lpstr>Объектно-ориентированное программирование</vt:lpstr>
      <vt:lpstr>Объектно-ориентированное программирование (ООП)</vt:lpstr>
      <vt:lpstr>Информационная модель объекта</vt:lpstr>
      <vt:lpstr>Класс</vt:lpstr>
      <vt:lpstr>Объявление класса</vt:lpstr>
      <vt:lpstr>Инкапсуляция</vt:lpstr>
      <vt:lpstr>Методы</vt:lpstr>
      <vt:lpstr>Объявление методов</vt:lpstr>
      <vt:lpstr>Презентация PowerPoint</vt:lpstr>
      <vt:lpstr>Презентация PowerPoint</vt:lpstr>
      <vt:lpstr>Конструктор </vt:lpstr>
      <vt:lpstr>Описание конструктора</vt:lpstr>
      <vt:lpstr>Несколько конструкторов</vt:lpstr>
      <vt:lpstr>Вызов методов</vt:lpstr>
      <vt:lpstr>Для защиты полей объекта используют директиву  private (закрытый)</vt:lpstr>
      <vt:lpstr>Для использования в наследуемых классах используют директиву  protected (продолженный)</vt:lpstr>
      <vt:lpstr>Презентация PowerPoint</vt:lpstr>
      <vt:lpstr>Для открытого доступа используют директиву public (публичный)</vt:lpstr>
      <vt:lpstr>Уровни доступа</vt:lpstr>
      <vt:lpstr>Сокрытие данных</vt:lpstr>
      <vt:lpstr>Выводы:</vt:lpstr>
      <vt:lpstr>Наследование</vt:lpstr>
      <vt:lpstr>Иерархия</vt:lpstr>
      <vt:lpstr>Наследование</vt:lpstr>
      <vt:lpstr>Пусть определены три класса, один из которых является базовым для двух других</vt:lpstr>
      <vt:lpstr>Класс-потомок должен иметь свой конструктор</vt:lpstr>
      <vt:lpstr>Презентация PowerPoint</vt:lpstr>
      <vt:lpstr>Переопределение методов</vt:lpstr>
      <vt:lpstr>Полиморфизм</vt:lpstr>
      <vt:lpstr>Полиморфизм</vt:lpstr>
      <vt:lpstr>Виртуальный метод</vt:lpstr>
      <vt:lpstr>Метод Show для родительского класса</vt:lpstr>
      <vt:lpstr>Презентация PowerPoint</vt:lpstr>
      <vt:lpstr>Презентация PowerPoint</vt:lpstr>
      <vt:lpstr>Программа демонстрации наследования</vt:lpstr>
      <vt:lpstr>Презентация PowerPoint</vt:lpstr>
      <vt:lpstr>Презентация PowerPoint</vt:lpstr>
      <vt:lpstr>Презентация PowerPoint</vt:lpstr>
      <vt:lpstr>Результаты работы программы:</vt:lpstr>
      <vt:lpstr>Основные концепции ООП</vt:lpstr>
      <vt:lpstr>Задача 1</vt:lpstr>
      <vt:lpstr>Проверочная работа</vt:lpstr>
      <vt:lpstr>План работы: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Объектно-ориентированное программирование</dc:title>
  <dc:creator>452</dc:creator>
  <cp:lastModifiedBy>user</cp:lastModifiedBy>
  <cp:revision>104</cp:revision>
  <dcterms:created xsi:type="dcterms:W3CDTF">2011-01-15T09:54:08Z</dcterms:created>
  <dcterms:modified xsi:type="dcterms:W3CDTF">2025-10-27T11:50:51Z</dcterms:modified>
</cp:coreProperties>
</file>