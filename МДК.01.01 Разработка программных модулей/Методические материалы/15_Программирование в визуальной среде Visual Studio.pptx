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75"/>
  </p:notesMasterIdLst>
  <p:sldIdLst>
    <p:sldId id="256" r:id="rId3"/>
    <p:sldId id="257" r:id="rId4"/>
    <p:sldId id="260" r:id="rId5"/>
    <p:sldId id="261" r:id="rId6"/>
    <p:sldId id="263" r:id="rId7"/>
    <p:sldId id="262" r:id="rId8"/>
    <p:sldId id="278" r:id="rId9"/>
    <p:sldId id="265" r:id="rId10"/>
    <p:sldId id="264" r:id="rId11"/>
    <p:sldId id="268" r:id="rId12"/>
    <p:sldId id="269" r:id="rId13"/>
    <p:sldId id="267" r:id="rId14"/>
    <p:sldId id="270" r:id="rId15"/>
    <p:sldId id="271" r:id="rId16"/>
    <p:sldId id="309" r:id="rId17"/>
    <p:sldId id="285" r:id="rId18"/>
    <p:sldId id="275" r:id="rId19"/>
    <p:sldId id="326" r:id="rId20"/>
    <p:sldId id="276" r:id="rId21"/>
    <p:sldId id="277" r:id="rId22"/>
    <p:sldId id="304" r:id="rId23"/>
    <p:sldId id="272" r:id="rId24"/>
    <p:sldId id="266" r:id="rId25"/>
    <p:sldId id="321" r:id="rId26"/>
    <p:sldId id="320" r:id="rId27"/>
    <p:sldId id="322" r:id="rId28"/>
    <p:sldId id="323" r:id="rId29"/>
    <p:sldId id="273" r:id="rId30"/>
    <p:sldId id="274" r:id="rId31"/>
    <p:sldId id="305" r:id="rId32"/>
    <p:sldId id="324" r:id="rId33"/>
    <p:sldId id="306" r:id="rId34"/>
    <p:sldId id="307" r:id="rId35"/>
    <p:sldId id="325" r:id="rId36"/>
    <p:sldId id="308" r:id="rId37"/>
    <p:sldId id="328" r:id="rId38"/>
    <p:sldId id="327" r:id="rId39"/>
    <p:sldId id="331" r:id="rId40"/>
    <p:sldId id="312" r:id="rId41"/>
    <p:sldId id="313" r:id="rId42"/>
    <p:sldId id="318" r:id="rId43"/>
    <p:sldId id="319" r:id="rId44"/>
    <p:sldId id="315" r:id="rId45"/>
    <p:sldId id="316" r:id="rId46"/>
    <p:sldId id="317" r:id="rId47"/>
    <p:sldId id="280" r:id="rId48"/>
    <p:sldId id="281" r:id="rId49"/>
    <p:sldId id="282" r:id="rId50"/>
    <p:sldId id="283" r:id="rId51"/>
    <p:sldId id="284" r:id="rId52"/>
    <p:sldId id="286" r:id="rId53"/>
    <p:sldId id="287" r:id="rId54"/>
    <p:sldId id="288" r:id="rId55"/>
    <p:sldId id="289" r:id="rId56"/>
    <p:sldId id="290" r:id="rId57"/>
    <p:sldId id="291" r:id="rId58"/>
    <p:sldId id="329" r:id="rId59"/>
    <p:sldId id="330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299" r:id="rId68"/>
    <p:sldId id="300" r:id="rId69"/>
    <p:sldId id="310" r:id="rId70"/>
    <p:sldId id="311" r:id="rId71"/>
    <p:sldId id="301" r:id="rId72"/>
    <p:sldId id="303" r:id="rId73"/>
    <p:sldId id="302" r:id="rId7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19E"/>
    <a:srgbClr val="2CB5B2"/>
    <a:srgbClr val="33CCCC"/>
    <a:srgbClr val="0A1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66" autoAdjust="0"/>
    <p:restoredTop sz="94660"/>
  </p:normalViewPr>
  <p:slideViewPr>
    <p:cSldViewPr>
      <p:cViewPr varScale="1">
        <p:scale>
          <a:sx n="71" d="100"/>
          <a:sy n="71" d="100"/>
        </p:scale>
        <p:origin x="97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69F43-24EB-433B-8269-2DDE87C047A4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085F7-6A31-4321-B37D-A87494776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53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6085F7-6A31-4321-B37D-A87494776F1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79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2CB043F-3187-4FE4-AE58-76CB1D875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274362A4-E76E-41DE-B88C-FA11DF63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5C1D828C-C55F-4B36-B92B-36746486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532734C9-0E0F-4B3E-A254-58894BC4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C8B64F7-73E2-48F8-9CFA-5BD14C1D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258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41B743B-F807-4DB9-91A4-D87D7159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7579673-8D10-4546-BD23-26C9494D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1DD350F-013F-490B-9F2F-F903A882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45D6E3E-CE91-433B-9287-8B4105DA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D010D4A-C831-4156-9BC2-9C6B4B94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66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7250F4E-5E15-4C4F-871A-55B88D14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5BF2C62-2C08-4DCA-9035-DB784A5C3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E8BD1079-28C0-4C15-BA2B-D53FD07C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E179E53E-95BF-4696-9740-2F62D8BE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691EC34-2B36-4DCB-997D-AD94310D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90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B4CF63-22A7-4428-A822-B0F843FC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AC92598-5A71-42AA-90A1-7576ED0AA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012E34EC-EB47-481C-9BB2-7ED73CD1C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4498AF2F-15B1-4B46-9C76-0F57A382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DE2E2FE6-6DAB-45E4-929F-7FBDCB88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B048ED47-A4F2-4645-855F-B4381E64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267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33ACA02-5118-4D8D-8054-7F5AA77B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F99952F-097D-4C1E-BEC1-D4B33F4C9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A652B61A-BCA9-4E7A-8114-F0819CBAD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0FC71404-F372-478F-8232-C6BEF810B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B51BD20E-FE9C-4494-BAC2-9DDD61F07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54B4375A-DBE7-4E10-BF80-789A8BEF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2B4EAAE1-2AB6-4CD6-A99A-282E84D9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85636562-6F7A-4D84-80F9-81C1FA24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118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C911ADE-5A05-4941-A31A-83A3B867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61E59411-2B26-47D1-971C-FFE535A0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3D933F2F-1424-4907-A1D4-FC821B83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2862A3F9-2BD7-4686-A427-E2ECD282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421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8E0F5565-AE52-4DAF-AB2D-CC24D913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4C2161F9-8DE2-4AEC-B692-42DA853F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25FE2A3-5FDA-40D9-9A87-4FA99044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120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D5E120F-A259-45F5-B70B-B995E63A1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2D681D1-115F-4D20-B4BA-544899BDD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EFE2BF60-A26C-4ABD-AEA6-5CAFB5CBD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C85F5018-FCDB-42BF-A304-97E27749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25214447-0D45-4CB3-B218-2DD8C4D8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92763A00-F92F-4BC8-B6EB-B19AA5BA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063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A9EDCAB-BD27-4273-A157-2FCFF70C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0397B59C-443D-4843-A069-76B294289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DAC437AD-FFDA-4472-B548-C220437A1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EB7D7BFD-CD88-4735-BAA1-6DE7DDCF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3BE7929C-3347-47B8-9C95-AD1E0C80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B3DFFB9E-14D0-4AF1-8851-A2843C72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453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08F5C17-726F-4C5B-AEB7-CDA0869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D84988BD-E208-42C4-B700-7DC73F282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3ACD7DE-19E2-4D32-918F-5E99D018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928E5F40-F19A-4805-8B09-D88A9214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0E95B23-75B9-4F17-A833-A7225442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449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C9D40476-D484-4999-99F5-85751C5D4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D206E1C0-1293-44C0-B773-2FF4F6DEA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C254AA9-BF43-4665-8B55-D8E9C97F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5CA9387B-1420-4675-B286-5CA2D218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940ED0D8-5C7D-46C5-A938-BC7F0D54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44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9666B73-7F9D-4059-B2D3-9009D52DD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2C2B1A9-339F-485A-8B68-F99BB5C59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A90077F6-5888-423F-948E-CCD901B46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5559E-B52D-49C6-9A98-A24CBDF820B2}" type="datetimeFigureOut">
              <a:rPr lang="ru-RU" smtClean="0"/>
              <a:pPr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6C54A163-99BD-4A5A-A63E-01BAE19BA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E2F2C6B0-DB81-4EDA-87B3-F2F895A9A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A162-0862-46AE-9B4F-540CBE642B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49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1720" y="1124744"/>
            <a:ext cx="6244208" cy="2160240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chemeClr val="accent1">
                    <a:lumMod val="75000"/>
                  </a:schemeClr>
                </a:solidFill>
              </a:rPr>
              <a:t>Программирование в визуальной среде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ooper Std Black" pitchFamily="18" charset="0"/>
              </a:rPr>
              <a:t>Visual Studio</a:t>
            </a:r>
            <a:endParaRPr lang="ru-RU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Windows Form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02199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706090"/>
          </a:xfrm>
        </p:spPr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Запуск среды программирования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8424936" cy="56600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29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Команды главного меню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Таблица 1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38216658"/>
              </p:ext>
            </p:extLst>
          </p:nvPr>
        </p:nvGraphicFramePr>
        <p:xfrm>
          <a:off x="179512" y="1484784"/>
          <a:ext cx="8496944" cy="49101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4903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0066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6002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Файл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Команды работы с файлами и проектами (открытие, закрытие, сохранение)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Правка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Команды редактирования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002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Вид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Настройка вида экрана, включения изображения окон и файлов проекта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Проект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Команды для работы с проектом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Отладка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Запуск и отладка программы (в том числе, в пошаговом режиме)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Данные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Команды для выбора и подключения источника данных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Формат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Команды форматирования компонентов на форме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Сервис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Настройка среды разработки </a:t>
                      </a:r>
                      <a:r>
                        <a:rPr lang="en-US" sz="1800" dirty="0">
                          <a:effectLst/>
                        </a:rPr>
                        <a:t>C#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Окно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Команды работы с окнами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63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Справка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Помощь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55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Панели инструментов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923928" y="2407585"/>
            <a:ext cx="30588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Создать проект</a:t>
            </a:r>
          </a:p>
          <a:p>
            <a:r>
              <a:rPr lang="ru-RU" sz="2000" dirty="0"/>
              <a:t>Открыть файл</a:t>
            </a:r>
          </a:p>
          <a:p>
            <a:r>
              <a:rPr lang="ru-RU" sz="2000" dirty="0"/>
              <a:t>Сохранить файл </a:t>
            </a:r>
          </a:p>
          <a:p>
            <a:r>
              <a:rPr lang="ru-RU" sz="2000" dirty="0"/>
              <a:t>Сохранить все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033454" y="4094285"/>
            <a:ext cx="2286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Вырезать</a:t>
            </a:r>
          </a:p>
          <a:p>
            <a:r>
              <a:rPr lang="ru-RU" sz="2000" dirty="0"/>
              <a:t>Копировать</a:t>
            </a:r>
          </a:p>
          <a:p>
            <a:r>
              <a:rPr lang="ru-RU" sz="2000" dirty="0"/>
              <a:t>Вставить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88224" y="2407584"/>
            <a:ext cx="22139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Ctrl+Shift+N</a:t>
            </a:r>
            <a:endParaRPr lang="ru-RU" sz="2000" dirty="0"/>
          </a:p>
          <a:p>
            <a:r>
              <a:rPr lang="en-US" sz="2000" dirty="0" err="1"/>
              <a:t>Ctrl+O</a:t>
            </a:r>
            <a:endParaRPr lang="ru-RU" sz="2000" dirty="0"/>
          </a:p>
          <a:p>
            <a:r>
              <a:rPr lang="en-US" sz="2000" dirty="0" err="1"/>
              <a:t>Ctrl+S</a:t>
            </a:r>
            <a:endParaRPr lang="ru-RU" sz="2000" dirty="0"/>
          </a:p>
          <a:p>
            <a:r>
              <a:rPr lang="en-US" sz="2000" dirty="0" err="1"/>
              <a:t>Ctrl+Shift+S</a:t>
            </a:r>
            <a:endParaRPr lang="ru-RU" sz="20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609144" y="4065589"/>
            <a:ext cx="1205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Ctrl+X</a:t>
            </a:r>
            <a:endParaRPr lang="ru-RU" sz="2000" dirty="0"/>
          </a:p>
          <a:p>
            <a:r>
              <a:rPr lang="en-US" sz="2000" dirty="0" err="1"/>
              <a:t>Ctrl+C</a:t>
            </a:r>
            <a:endParaRPr lang="ru-RU" sz="2000" dirty="0"/>
          </a:p>
          <a:p>
            <a:r>
              <a:rPr lang="en-US" sz="2000" dirty="0" err="1"/>
              <a:t>Ctrl+V</a:t>
            </a:r>
            <a:endParaRPr lang="ru-RU" sz="2000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7504" y="1039171"/>
            <a:ext cx="9036496" cy="976455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77" y="2649425"/>
            <a:ext cx="2458616" cy="788222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5629697"/>
            <a:ext cx="1378496" cy="551398"/>
          </a:xfrm>
          <a:prstGeom prst="rect">
            <a:avLst/>
          </a:prstGeom>
        </p:spPr>
      </p:pic>
      <p:sp>
        <p:nvSpPr>
          <p:cNvPr id="19" name="Прямоугольник 18"/>
          <p:cNvSpPr/>
          <p:nvPr/>
        </p:nvSpPr>
        <p:spPr>
          <a:xfrm>
            <a:off x="4033454" y="5473209"/>
            <a:ext cx="24107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Отмена и возврат действий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701589" y="5473209"/>
            <a:ext cx="12058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Ctrl+Z</a:t>
            </a:r>
            <a:endParaRPr lang="ru-RU" sz="2000" dirty="0"/>
          </a:p>
          <a:p>
            <a:r>
              <a:rPr lang="en-US" sz="2000" dirty="0" err="1"/>
              <a:t>Ctrl+Y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6980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12110"/>
            <a:ext cx="7467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Панели инструментов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110805" y="3021903"/>
            <a:ext cx="29523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Обозреватель решений</a:t>
            </a:r>
          </a:p>
          <a:p>
            <a:r>
              <a:rPr lang="ru-RU" dirty="0"/>
              <a:t>Окно свойств</a:t>
            </a:r>
          </a:p>
          <a:p>
            <a:r>
              <a:rPr lang="ru-RU" dirty="0"/>
              <a:t>Панель элементов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4041132" y="4172290"/>
            <a:ext cx="2991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Инструменты выравнивания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4116982" y="5182153"/>
            <a:ext cx="2839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Инструменты размеров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4033292" y="6099684"/>
            <a:ext cx="43795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Инструменты изменения интервалов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61" y="4089987"/>
            <a:ext cx="3594361" cy="6804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83" y="5070649"/>
            <a:ext cx="1858803" cy="67592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814" y="6046753"/>
            <a:ext cx="2168416" cy="65330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7303" y="3190292"/>
            <a:ext cx="2141519" cy="657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53022" y="2487061"/>
            <a:ext cx="157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Запуск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6926" y="2486742"/>
            <a:ext cx="75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F5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800" y="2420888"/>
            <a:ext cx="1152086" cy="527461"/>
          </a:xfrm>
          <a:prstGeom prst="rect">
            <a:avLst/>
          </a:prstGeom>
        </p:spPr>
      </p:pic>
      <p:pic>
        <p:nvPicPr>
          <p:cNvPr id="21" name="Объект 11"/>
          <p:cNvPicPr>
            <a:picLocks noGrp="1" noChangeAspect="1"/>
          </p:cNvPicPr>
          <p:nvPr>
            <p:ph sz="quarter" idx="1"/>
          </p:nvPr>
        </p:nvPicPr>
        <p:blipFill>
          <a:blip r:embed="rId7"/>
          <a:stretch>
            <a:fillRect/>
          </a:stretch>
        </p:blipFill>
        <p:spPr>
          <a:xfrm>
            <a:off x="107504" y="1039171"/>
            <a:ext cx="9036496" cy="97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8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 l="41711" t="5135" r="10265" b="28370"/>
          <a:stretch>
            <a:fillRect/>
          </a:stretch>
        </p:blipFill>
        <p:spPr bwMode="auto">
          <a:xfrm>
            <a:off x="1907704" y="188640"/>
            <a:ext cx="6108982" cy="65527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07704" y="1268760"/>
            <a:ext cx="2160240" cy="511256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772816"/>
            <a:ext cx="3384376" cy="1348402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Настройка панели инструментов</a:t>
            </a:r>
          </a:p>
        </p:txBody>
      </p:sp>
    </p:spTree>
    <p:extLst>
      <p:ext uri="{BB962C8B-B14F-4D97-AF65-F5344CB8AC3E}">
        <p14:creationId xmlns:p14="http://schemas.microsoft.com/office/powerpoint/2010/main" val="409211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467600" cy="634082"/>
          </a:xfrm>
        </p:spPr>
        <p:txBody>
          <a:bodyPr>
            <a:normAutofit/>
          </a:bodyPr>
          <a:lstStyle/>
          <a:p>
            <a:r>
              <a:rPr lang="ru-RU" sz="2700" b="1" dirty="0">
                <a:solidFill>
                  <a:schemeClr val="accent1">
                    <a:lumMod val="75000"/>
                  </a:schemeClr>
                </a:solidFill>
              </a:rPr>
              <a:t>Настройка редактора кода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t="1326"/>
          <a:stretch/>
        </p:blipFill>
        <p:spPr>
          <a:xfrm>
            <a:off x="251520" y="1340768"/>
            <a:ext cx="8453586" cy="53560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9" name="Прямоугольник 8"/>
          <p:cNvSpPr/>
          <p:nvPr/>
        </p:nvSpPr>
        <p:spPr>
          <a:xfrm>
            <a:off x="683568" y="822722"/>
            <a:ext cx="3384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Сервис → Параметры</a:t>
            </a:r>
          </a:p>
        </p:txBody>
      </p:sp>
    </p:spTree>
    <p:extLst>
      <p:ext uri="{BB962C8B-B14F-4D97-AF65-F5344CB8AC3E}">
        <p14:creationId xmlns:p14="http://schemas.microsoft.com/office/powerpoint/2010/main" val="87739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1920" y="260648"/>
            <a:ext cx="4608512" cy="1498178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</a:rPr>
              <a:t>Конструирование пользовательского интерфейса</a:t>
            </a:r>
          </a:p>
        </p:txBody>
      </p:sp>
      <p:pic>
        <p:nvPicPr>
          <p:cNvPr id="5" name="Объект 3"/>
          <p:cNvPicPr>
            <a:picLocks/>
          </p:cNvPicPr>
          <p:nvPr/>
        </p:nvPicPr>
        <p:blipFill>
          <a:blip r:embed="rId2" cstate="print"/>
          <a:srcRect r="7408"/>
          <a:stretch>
            <a:fillRect/>
          </a:stretch>
        </p:blipFill>
        <p:spPr bwMode="auto">
          <a:xfrm>
            <a:off x="323528" y="332656"/>
            <a:ext cx="2952328" cy="6336704"/>
          </a:xfrm>
          <a:prstGeom prst="rect">
            <a:avLst/>
          </a:prstGeom>
          <a:noFill/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1916832"/>
            <a:ext cx="4029075" cy="4029075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>
            <a:off x="1583668" y="2743237"/>
            <a:ext cx="2700300" cy="1477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2190736" y="1460017"/>
            <a:ext cx="2700300" cy="1477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1691680" y="4797152"/>
            <a:ext cx="2895822" cy="94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53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432048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</a:rPr>
              <a:t>Стандартные элементы управления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 r="7408"/>
          <a:stretch>
            <a:fillRect/>
          </a:stretch>
        </p:blipFill>
        <p:spPr bwMode="auto">
          <a:xfrm>
            <a:off x="219552" y="836712"/>
            <a:ext cx="2624256" cy="5688632"/>
          </a:xfrm>
          <a:prstGeom prst="rect">
            <a:avLst/>
          </a:prstGeom>
          <a:noFill/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757193"/>
              </p:ext>
            </p:extLst>
          </p:nvPr>
        </p:nvGraphicFramePr>
        <p:xfrm>
          <a:off x="2987824" y="836712"/>
          <a:ext cx="5688632" cy="55446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Button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кнопка с надписью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CheckBox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флажок (отмечен, не отмечен, не активен)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CheckListBox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список с флажками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ComboBox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раскрывающийся список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DataTimePicker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 компонент даты и времени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надпись (поле вывода текста)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597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LinkLabel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надпись, поддерживает форматирование и гиперссылки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ListBox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список текстовых строк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6597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ListView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коллекция элементов в разных представлениях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MaskedTextBox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текстовое поле по маске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2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MonthCalendar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календарь на один месяц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NotifyIcon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отображение значка в области уведомления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NumericUpDown</a:t>
                      </a:r>
                      <a:endParaRPr lang="ru-RU" sz="16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поле-счетчик с переключателем значений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sz="quarter" idx="4294967295"/>
          </p:nvPr>
        </p:nvPicPr>
        <p:blipFill>
          <a:blip r:embed="rId2" cstate="print"/>
          <a:srcRect r="7408"/>
          <a:stretch>
            <a:fillRect/>
          </a:stretch>
        </p:blipFill>
        <p:spPr bwMode="auto">
          <a:xfrm>
            <a:off x="251520" y="404664"/>
            <a:ext cx="2879725" cy="6021387"/>
          </a:xfrm>
          <a:prstGeom prst="rect">
            <a:avLst/>
          </a:prstGeom>
          <a:noFill/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891183"/>
              </p:ext>
            </p:extLst>
          </p:nvPr>
        </p:nvGraphicFramePr>
        <p:xfrm>
          <a:off x="3203848" y="836712"/>
          <a:ext cx="5688632" cy="460082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0445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704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PictureBox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изображение (картинка)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84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ProgressBar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панель отображения процесса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4233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RadioButton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переключатель (кнопка зависимого выбора)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6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RichTextBox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редактор текста с возможностями форматирования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76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TextBox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текстовое поле текста (однострочный или многострочный редактор)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76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ToolTip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отображает информацию при наведении указателя мыши на элемент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76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TreeView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показывает иерархическую коллекцию объектов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4233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WebBrowser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позволяет просматривать веб-страницы в окне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Окно свойств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/>
              <a:t>Позволяет настраивать:</a:t>
            </a:r>
          </a:p>
          <a:p>
            <a:endParaRPr lang="ru-RU" sz="2800" b="1" dirty="0"/>
          </a:p>
          <a:p>
            <a:r>
              <a:rPr lang="ru-RU" sz="2800" b="1" dirty="0"/>
              <a:t>Свойства</a:t>
            </a:r>
            <a:r>
              <a:rPr lang="ru-RU" sz="2800" dirty="0"/>
              <a:t> выделенного в конструкторе формы компонента;</a:t>
            </a:r>
          </a:p>
          <a:p>
            <a:r>
              <a:rPr lang="ru-RU" sz="2800" b="1" dirty="0"/>
              <a:t>События</a:t>
            </a:r>
            <a:r>
              <a:rPr lang="ru-RU" sz="2800" dirty="0"/>
              <a:t>, которые могут возникать для выделенного компонента.</a:t>
            </a:r>
          </a:p>
        </p:txBody>
      </p:sp>
    </p:spTree>
    <p:extLst>
      <p:ext uri="{BB962C8B-B14F-4D97-AF65-F5344CB8AC3E}">
        <p14:creationId xmlns:p14="http://schemas.microsoft.com/office/powerpoint/2010/main" val="313838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4119"/>
            <a:ext cx="6984776" cy="678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5004048" y="188640"/>
            <a:ext cx="3744416" cy="70609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>
                <a:solidFill>
                  <a:srgbClr val="FF0000"/>
                </a:solidFill>
              </a:rPr>
              <a:t>Окно свойств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78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56207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Свойства компонентов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04168809"/>
              </p:ext>
            </p:extLst>
          </p:nvPr>
        </p:nvGraphicFramePr>
        <p:xfrm>
          <a:off x="251520" y="836712"/>
          <a:ext cx="8424936" cy="590052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6907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341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ru-RU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Name</a:t>
                      </a:r>
                      <a:r>
                        <a:rPr kumimoji="0" lang="ru-RU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Имя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Text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Надпись на компоненте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AutoSize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Свойство, устанавливающее, будет ли размер компонента определяться его содержимым (</a:t>
                      </a:r>
                      <a:r>
                        <a:rPr lang="en-US" sz="1600" dirty="0">
                          <a:effectLst/>
                        </a:rPr>
                        <a:t>true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false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0044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TextAlign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Выравнивание текста внутри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BorderStyle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Указывает, должны ли быть у компонента границы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Size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Width</a:t>
                      </a:r>
                      <a:endParaRPr kumimoji="0" lang="ru-RU" sz="16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Height</a:t>
                      </a:r>
                      <a:endParaRPr kumimoji="0" lang="ru-RU" sz="16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Размеры компонента: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ширина,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высота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Location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ru-RU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X</a:t>
                      </a:r>
                      <a:endParaRPr kumimoji="0" lang="ru-RU" sz="16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ru-RU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</a:t>
                      </a:r>
                      <a:endParaRPr kumimoji="0" lang="ru-RU" sz="16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Положение компонента: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    расстояние от левого края формы до компонента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    расстояние от верхнего края формы до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BackColor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Фоновый цвет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ForeColor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Цвет переднего плана (текста на компоненте)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Image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Изображение на компоненте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KeyPreview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Определяет, будут ли регистрироваться события нажатия клавиш клавиатуры для данного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Visible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Делает компонент видимым или невидимым (</a:t>
                      </a:r>
                      <a:r>
                        <a:rPr lang="en-US" sz="1600" dirty="0">
                          <a:effectLst/>
                        </a:rPr>
                        <a:t>true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false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Enabled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Делает компонент доступным или недоступным (</a:t>
                      </a:r>
                      <a:r>
                        <a:rPr lang="en-US" sz="1600" dirty="0">
                          <a:effectLst/>
                        </a:rPr>
                        <a:t>true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false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Opasity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Степень прозрачности в процентах (по умолчанию 100%)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just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Font</a:t>
                      </a:r>
                      <a:endParaRPr kumimoji="0" lang="ru-RU" sz="18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Параметры шрифта: вид, начертание, цвет, размер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7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467600" cy="634082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Изменение свойств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90364" y="1340768"/>
            <a:ext cx="8363272" cy="460851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b="1" dirty="0"/>
              <a:t>Свойства компонента </a:t>
            </a:r>
            <a:r>
              <a:rPr lang="ru-RU" dirty="0"/>
              <a:t>можно изменить и программно, задавая соответствующие команды в коде программы, например: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label1.BackColor = </a:t>
            </a:r>
            <a:r>
              <a:rPr lang="en-US" sz="2000" dirty="0">
                <a:solidFill>
                  <a:srgbClr val="27A19E"/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.Aqua;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label1.ForeColor = </a:t>
            </a:r>
            <a:r>
              <a:rPr lang="en-US" sz="2000" dirty="0">
                <a:solidFill>
                  <a:srgbClr val="27A19E"/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.Red;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label1.Text = 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"Результат"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button1.Text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Вычислить"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.Text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Проект 1"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button1.Enabled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button2.Visible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button1.Font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7A19E"/>
                </a:solidFill>
                <a:latin typeface="Consolas" panose="020B0609020204030204" pitchFamily="49" charset="0"/>
              </a:rPr>
              <a:t>Font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"Times New Roman"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14);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textBox2.Location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7A19E"/>
                </a:solidFill>
                <a:latin typeface="Consolas" panose="020B0609020204030204" pitchFamily="49" charset="0"/>
              </a:rPr>
              <a:t>Point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(100, 60);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480082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проекта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65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698976" cy="70609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Обозреватель решений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94" t="11593" b="34576"/>
          <a:stretch/>
        </p:blipFill>
        <p:spPr bwMode="auto">
          <a:xfrm>
            <a:off x="1043608" y="1196752"/>
            <a:ext cx="4786544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ая прямоугольная выноска 2"/>
          <p:cNvSpPr/>
          <p:nvPr/>
        </p:nvSpPr>
        <p:spPr>
          <a:xfrm>
            <a:off x="3131840" y="5108559"/>
            <a:ext cx="1512168" cy="720080"/>
          </a:xfrm>
          <a:prstGeom prst="wedgeRoundRectCallout">
            <a:avLst>
              <a:gd name="adj1" fmla="val -62874"/>
              <a:gd name="adj2" fmla="val -12393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Файл проекта</a:t>
            </a:r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4860032" y="4676511"/>
            <a:ext cx="1512168" cy="792088"/>
          </a:xfrm>
          <a:prstGeom prst="wedgeRoundRectCallout">
            <a:avLst>
              <a:gd name="adj1" fmla="val -163656"/>
              <a:gd name="adj2" fmla="val -12085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Файл ресурсов</a:t>
            </a: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4746429" y="2900279"/>
            <a:ext cx="1512168" cy="720080"/>
          </a:xfrm>
          <a:prstGeom prst="wedgeRoundRectCallout">
            <a:avLst>
              <a:gd name="adj1" fmla="val -175174"/>
              <a:gd name="adj2" fmla="val 4054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Файл модуля формы (код)</a:t>
            </a:r>
          </a:p>
        </p:txBody>
      </p:sp>
      <p:sp>
        <p:nvSpPr>
          <p:cNvPr id="7" name="Скругленная прямоугольная выноска 6"/>
          <p:cNvSpPr/>
          <p:nvPr/>
        </p:nvSpPr>
        <p:spPr>
          <a:xfrm>
            <a:off x="4860032" y="3751069"/>
            <a:ext cx="1512168" cy="792088"/>
          </a:xfrm>
          <a:prstGeom prst="wedgeRoundRectCallout">
            <a:avLst>
              <a:gd name="adj1" fmla="val -118160"/>
              <a:gd name="adj2" fmla="val -4169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Файл описания формы</a:t>
            </a:r>
          </a:p>
        </p:txBody>
      </p:sp>
    </p:spTree>
    <p:extLst>
      <p:ext uri="{BB962C8B-B14F-4D97-AF65-F5344CB8AC3E}">
        <p14:creationId xmlns:p14="http://schemas.microsoft.com/office/powerpoint/2010/main" val="324616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13710" y="5657671"/>
            <a:ext cx="77545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Файл проекта</a:t>
            </a:r>
            <a:r>
              <a:rPr lang="ru-RU" dirty="0"/>
              <a:t> – </a:t>
            </a:r>
            <a:r>
              <a:rPr lang="en-US" dirty="0"/>
              <a:t>Program</a:t>
            </a:r>
            <a:r>
              <a:rPr lang="ru-RU" dirty="0"/>
              <a:t>.</a:t>
            </a:r>
            <a:r>
              <a:rPr lang="en-US" dirty="0" err="1"/>
              <a:t>cs</a:t>
            </a:r>
            <a:r>
              <a:rPr lang="en-US" dirty="0"/>
              <a:t> </a:t>
            </a:r>
            <a:r>
              <a:rPr lang="ru-RU" dirty="0"/>
              <a:t>является основным файлом, содержит всю информацию о проекте. </a:t>
            </a:r>
            <a:br>
              <a:rPr lang="ru-RU" dirty="0"/>
            </a:br>
            <a:r>
              <a:rPr lang="ru-RU" dirty="0"/>
              <a:t>В этом файле подключаются модули всех форм, входящих в состав проекта.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260648"/>
            <a:ext cx="8061236" cy="539702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8064" y="277456"/>
            <a:ext cx="3394720" cy="63126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Файл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0153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AA216A9-97C4-47AA-A134-80E89CCF12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94"/>
          <a:stretch/>
        </p:blipFill>
        <p:spPr>
          <a:xfrm>
            <a:off x="143245" y="688449"/>
            <a:ext cx="8733542" cy="490079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25613" y="5517232"/>
            <a:ext cx="77545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spcAft>
                <a:spcPts val="1200"/>
              </a:spcAft>
            </a:pPr>
            <a:r>
              <a:rPr lang="ru-RU" sz="1800" b="1" dirty="0"/>
              <a:t>Файл описания формы </a:t>
            </a:r>
            <a:r>
              <a:rPr lang="ru-RU" sz="1800" dirty="0"/>
              <a:t>–  </a:t>
            </a:r>
            <a:r>
              <a:rPr lang="en-US" sz="1800" dirty="0"/>
              <a:t>Form</a:t>
            </a:r>
            <a:r>
              <a:rPr lang="ru-RU" sz="1800" dirty="0"/>
              <a:t>1.</a:t>
            </a:r>
            <a:r>
              <a:rPr lang="en-US" sz="1800" dirty="0" err="1"/>
              <a:t>Disainer</a:t>
            </a:r>
            <a:r>
              <a:rPr lang="ru-RU" sz="1800" dirty="0"/>
              <a:t>.</a:t>
            </a:r>
            <a:r>
              <a:rPr lang="en-US" sz="1800" dirty="0"/>
              <a:t>cs </a:t>
            </a:r>
            <a:r>
              <a:rPr lang="ru-RU" sz="1800" dirty="0"/>
              <a:t>содержит перечень элементов управления, установленных на форме на этапе конструирования.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5896" y="57185"/>
            <a:ext cx="5050904" cy="631264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Файл описания формы</a:t>
            </a:r>
          </a:p>
        </p:txBody>
      </p:sp>
    </p:spTree>
    <p:extLst>
      <p:ext uri="{BB962C8B-B14F-4D97-AF65-F5344CB8AC3E}">
        <p14:creationId xmlns:p14="http://schemas.microsoft.com/office/powerpoint/2010/main" val="320225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634082"/>
          </a:xfrm>
        </p:spPr>
        <p:txBody>
          <a:bodyPr/>
          <a:lstStyle/>
          <a:p>
            <a:r>
              <a:rPr lang="ru-RU" b="1" dirty="0"/>
              <a:t>Состав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179512" y="1052736"/>
            <a:ext cx="8352928" cy="5688632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Aft>
                <a:spcPts val="1200"/>
              </a:spcAft>
            </a:pPr>
            <a:r>
              <a:rPr lang="ru-RU" sz="1800" b="1" dirty="0"/>
              <a:t>Файл приложения – </a:t>
            </a:r>
            <a:r>
              <a:rPr lang="ru-RU" sz="1800" dirty="0"/>
              <a:t>образуется после запуска программы на выполнение и является исполняемым файлом. </a:t>
            </a:r>
            <a:r>
              <a:rPr lang="ru-RU" sz="1800" b="1" dirty="0"/>
              <a:t> </a:t>
            </a:r>
            <a:endParaRPr lang="ru-RU" sz="1800" dirty="0"/>
          </a:p>
          <a:p>
            <a:pPr algn="just">
              <a:lnSpc>
                <a:spcPct val="140000"/>
              </a:lnSpc>
              <a:spcAft>
                <a:spcPts val="1200"/>
              </a:spcAft>
            </a:pPr>
            <a:r>
              <a:rPr lang="ru-RU" sz="1800" dirty="0"/>
              <a:t>Файл </a:t>
            </a:r>
            <a:r>
              <a:rPr lang="en-US" sz="1800" dirty="0"/>
              <a:t>Form</a:t>
            </a:r>
            <a:r>
              <a:rPr lang="ru-RU" sz="1800" dirty="0"/>
              <a:t>1.</a:t>
            </a:r>
            <a:r>
              <a:rPr lang="en-US" sz="1800" dirty="0" err="1"/>
              <a:t>resx</a:t>
            </a:r>
            <a:r>
              <a:rPr lang="en-US" sz="1800" dirty="0"/>
              <a:t> </a:t>
            </a:r>
            <a:r>
              <a:rPr lang="ru-RU" sz="1800" dirty="0"/>
              <a:t>содержит характеристики формы и её компонентов. </a:t>
            </a:r>
          </a:p>
          <a:p>
            <a:pPr algn="just">
              <a:lnSpc>
                <a:spcPct val="140000"/>
              </a:lnSpc>
              <a:spcAft>
                <a:spcPts val="1200"/>
              </a:spcAft>
            </a:pPr>
            <a:r>
              <a:rPr lang="ru-RU" sz="1800" b="1" dirty="0"/>
              <a:t>Файл модуля формы</a:t>
            </a:r>
            <a:r>
              <a:rPr lang="ru-RU" sz="1800" dirty="0"/>
              <a:t> – </a:t>
            </a:r>
            <a:r>
              <a:rPr lang="en-US" sz="1800" dirty="0"/>
              <a:t>Form</a:t>
            </a:r>
            <a:r>
              <a:rPr lang="ru-RU" sz="1800" dirty="0"/>
              <a:t>1.</a:t>
            </a:r>
            <a:r>
              <a:rPr lang="en-US" sz="1800" dirty="0" err="1"/>
              <a:t>cs</a:t>
            </a:r>
            <a:r>
              <a:rPr lang="en-US" sz="1800" dirty="0"/>
              <a:t> </a:t>
            </a:r>
            <a:r>
              <a:rPr lang="ru-RU" sz="1800" dirty="0"/>
              <a:t>содержит описание класса формы и функции обработки событий для компонентов, расположенных на форме. Файлы описания формы и файл модуля формы для одного и того же проекта должны иметь одинаковое имя.</a:t>
            </a:r>
          </a:p>
        </p:txBody>
      </p:sp>
    </p:spTree>
    <p:extLst>
      <p:ext uri="{BB962C8B-B14F-4D97-AF65-F5344CB8AC3E}">
        <p14:creationId xmlns:p14="http://schemas.microsoft.com/office/powerpoint/2010/main" val="343691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95536" y="692696"/>
            <a:ext cx="8136904" cy="4873752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Aft>
                <a:spcPts val="1200"/>
              </a:spcAft>
            </a:pPr>
            <a:r>
              <a:rPr lang="ru-RU" sz="1900" b="1" dirty="0"/>
              <a:t>Файлы дополнительных модулей </a:t>
            </a:r>
            <a:r>
              <a:rPr lang="ru-RU" sz="1900" dirty="0"/>
              <a:t>– создаются в приложении по мере надобности. Они не имеют отношения к формам и используются для размещения функций, переменных, констант и типов, общих для нескольких модулей. Создаются на языке </a:t>
            </a:r>
            <a:r>
              <a:rPr lang="en-US" sz="1900" dirty="0"/>
              <a:t>C</a:t>
            </a:r>
            <a:r>
              <a:rPr lang="ru-RU" sz="1900" dirty="0"/>
              <a:t># и сохраняются в отдельных файлах с расширением .</a:t>
            </a:r>
            <a:r>
              <a:rPr lang="en-US" sz="1900" dirty="0" err="1"/>
              <a:t>cs</a:t>
            </a:r>
            <a:r>
              <a:rPr lang="ru-RU" sz="1900" dirty="0"/>
              <a:t> </a:t>
            </a:r>
          </a:p>
          <a:p>
            <a:pPr algn="just">
              <a:lnSpc>
                <a:spcPct val="140000"/>
              </a:lnSpc>
              <a:spcAft>
                <a:spcPts val="1200"/>
              </a:spcAft>
            </a:pPr>
            <a:r>
              <a:rPr lang="ru-RU" sz="1900" b="1" dirty="0"/>
              <a:t>Файл ресурсов </a:t>
            </a:r>
            <a:r>
              <a:rPr lang="ru-RU" sz="1900" dirty="0"/>
              <a:t>– может содержать пиктограммы, растровые изображения, курсоры. Первоначально файл ресурсов создается автоматически и содержит пиктограмму проекта.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09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методов обработки событий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12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5040560" cy="994122"/>
          </a:xfrm>
        </p:spPr>
        <p:txBody>
          <a:bodyPr>
            <a:noAutofit/>
          </a:bodyPr>
          <a:lstStyle/>
          <a:p>
            <a:pPr lvl="0"/>
            <a:r>
              <a:rPr lang="ru-RU" sz="3200" b="1" dirty="0">
                <a:solidFill>
                  <a:srgbClr val="FF0000"/>
                </a:solidFill>
              </a:rPr>
              <a:t>Создание методов обработки событий 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260648"/>
            <a:ext cx="3456384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107504" y="1340768"/>
            <a:ext cx="511256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400" dirty="0"/>
              <a:t>Для каждого класса определён свой набор событий, на которые он может реагировать</a:t>
            </a:r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400" dirty="0"/>
              <a:t>Набор событий выделенного компонента можно посмотреть в окне </a:t>
            </a:r>
            <a:r>
              <a:rPr lang="ru-RU" sz="2400" b="1" dirty="0"/>
              <a:t>Свойств </a:t>
            </a:r>
            <a:r>
              <a:rPr lang="ru-RU" sz="2400" dirty="0"/>
              <a:t>(вкладка</a:t>
            </a:r>
            <a:r>
              <a:rPr lang="ru-RU" sz="2400" b="1" dirty="0"/>
              <a:t> События</a:t>
            </a:r>
            <a:r>
              <a:rPr lang="ru-RU" sz="2400" dirty="0"/>
              <a:t>)</a:t>
            </a:r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400" dirty="0"/>
              <a:t>Внизу окна выводится справочная информация об использовании выделенного события.</a:t>
            </a:r>
          </a:p>
        </p:txBody>
      </p:sp>
      <p:pic>
        <p:nvPicPr>
          <p:cNvPr id="6" name="Рисунок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2924944"/>
            <a:ext cx="1656184" cy="8640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019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7571184" cy="562074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Окно редактора кода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28099"/>
          <a:stretch/>
        </p:blipFill>
        <p:spPr>
          <a:xfrm>
            <a:off x="467545" y="808604"/>
            <a:ext cx="7571183" cy="59177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116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0519FDC-10B8-4510-9C47-6D8A81A6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50106"/>
          </a:xfrm>
        </p:spPr>
        <p:txBody>
          <a:bodyPr/>
          <a:lstStyle/>
          <a:p>
            <a:r>
              <a:rPr lang="ru-RU" dirty="0"/>
              <a:t>Создание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92BB148-B539-48CE-B741-A57EBCCD801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00808"/>
            <a:ext cx="8075240" cy="181260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Пусть требуется вывести сообщение в поле надписи, какая кнопка сработала.</a:t>
            </a:r>
          </a:p>
          <a:p>
            <a:r>
              <a:rPr lang="ru-RU" dirty="0"/>
              <a:t>При срабатывании левой кнопки текст выводить по левому краю синим цветом</a:t>
            </a:r>
          </a:p>
          <a:p>
            <a:r>
              <a:rPr lang="ru-RU" dirty="0"/>
              <a:t>При срабатывании правой кнопки текст выводить по правому краю красным цветом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8BE21DDE-AAE2-4805-A0E3-6586E8119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861048"/>
            <a:ext cx="3456384" cy="1812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F0287101-6241-4A71-89E3-3C34E467F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107" y="3861048"/>
            <a:ext cx="3456384" cy="181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55D8DB5-4F92-4C15-B11B-30389F23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76672"/>
          </a:xfrm>
        </p:spPr>
        <p:txBody>
          <a:bodyPr/>
          <a:lstStyle/>
          <a:p>
            <a:r>
              <a:rPr lang="ru-RU" dirty="0"/>
              <a:t>Создание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7C0A18B-30E1-4026-AB02-0FF250B7FD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7348" y="1385991"/>
            <a:ext cx="7467600" cy="67667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Создадим событие нажатия на кнопку для каждой кнопки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4A6800-2A56-47AD-8C91-374EAB7CB76C}"/>
              </a:ext>
            </a:extLst>
          </p:cNvPr>
          <p:cNvSpPr txBox="1"/>
          <p:nvPr/>
        </p:nvSpPr>
        <p:spPr>
          <a:xfrm>
            <a:off x="0" y="2601622"/>
            <a:ext cx="85324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label1.ForeColor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label1.TextAlign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ContentAlignment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.MiddleLeft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"Сработала левая кнопка !"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label1.ForeColor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label1.TextAlign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ContentAlignment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.MiddleRight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"Сработала правая кнопка !"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B496276-FF7B-4156-8FAB-9CAC8835F56E}"/>
              </a:ext>
            </a:extLst>
          </p:cNvPr>
          <p:cNvSpPr txBox="1"/>
          <p:nvPr/>
        </p:nvSpPr>
        <p:spPr>
          <a:xfrm>
            <a:off x="933058" y="2378984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1023484-38DB-4D2C-ACE2-89537D22C4CD}"/>
              </a:ext>
            </a:extLst>
          </p:cNvPr>
          <p:cNvSpPr txBox="1"/>
          <p:nvPr/>
        </p:nvSpPr>
        <p:spPr>
          <a:xfrm>
            <a:off x="933058" y="4294350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53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32AE1ED-A192-409E-9C99-0EF53971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Общие методы обработки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ADE46B2-E21B-4B3F-A82C-F72200A26C7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1196752"/>
            <a:ext cx="7467600" cy="892696"/>
          </a:xfrm>
        </p:spPr>
        <p:txBody>
          <a:bodyPr/>
          <a:lstStyle/>
          <a:p>
            <a:r>
              <a:rPr lang="ru-RU" dirty="0"/>
              <a:t>Выбор уже созданного метода обработки события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6E1833C9-9915-4F5C-B386-551B0E89A8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495" r="70475" b="64428"/>
          <a:stretch/>
        </p:blipFill>
        <p:spPr>
          <a:xfrm>
            <a:off x="539552" y="2089448"/>
            <a:ext cx="5183601" cy="34563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8C718585-1CC6-4A73-9D74-14A7D3B63C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5" t="57214" r="1437" b="4407"/>
          <a:stretch/>
        </p:blipFill>
        <p:spPr>
          <a:xfrm>
            <a:off x="4931948" y="3126978"/>
            <a:ext cx="3075204" cy="34563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76D2696C-4CDE-48A5-A396-D4539B6FC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799" y="4149080"/>
            <a:ext cx="15430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4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55D8DB5-4F92-4C15-B11B-30389F23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258"/>
            <a:ext cx="7467600" cy="676672"/>
          </a:xfrm>
        </p:spPr>
        <p:txBody>
          <a:bodyPr/>
          <a:lstStyle/>
          <a:p>
            <a:r>
              <a:rPr lang="ru-RU" dirty="0"/>
              <a:t>Общие методы обработки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7C0A18B-30E1-4026-AB02-0FF250B7FD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45266"/>
            <a:ext cx="7467600" cy="67667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Создадим общий метод обработки события нажатия на кнопку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4A6800-2A56-47AD-8C91-374EAB7CB76C}"/>
              </a:ext>
            </a:extLst>
          </p:cNvPr>
          <p:cNvSpPr txBox="1"/>
          <p:nvPr/>
        </p:nvSpPr>
        <p:spPr>
          <a:xfrm>
            <a:off x="-126268" y="2215895"/>
            <a:ext cx="93965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(sender == button1)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label1.ForeColor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label1.TextAlign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ContentAlignment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.MiddleLeft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label1.Text = 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"Сработала левая кнопка !"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(sender == button2)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label1.ForeColor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label1.TextAlign = </a:t>
            </a:r>
            <a:r>
              <a:rPr lang="en-US" dirty="0" err="1">
                <a:solidFill>
                  <a:srgbClr val="27A19E"/>
                </a:solidFill>
                <a:latin typeface="Consolas" panose="020B0609020204030204" pitchFamily="49" charset="0"/>
              </a:rPr>
              <a:t>ContentAlignment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.MiddleRight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label1.Text = 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"Сработала правая кнопка !"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A752B22-8C69-498F-BA77-808086FAEAC3}"/>
              </a:ext>
            </a:extLst>
          </p:cNvPr>
          <p:cNvSpPr txBox="1"/>
          <p:nvPr/>
        </p:nvSpPr>
        <p:spPr>
          <a:xfrm>
            <a:off x="755576" y="192193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>
                <a:solidFill>
                  <a:srgbClr val="0070C0"/>
                </a:solidFill>
                <a:latin typeface="Consolas" panose="020B0609020204030204" pitchFamily="49" charset="0"/>
              </a:rPr>
              <a:t>ссылок 2</a:t>
            </a:r>
          </a:p>
        </p:txBody>
      </p:sp>
    </p:spTree>
    <p:extLst>
      <p:ext uri="{BB962C8B-B14F-4D97-AF65-F5344CB8AC3E}">
        <p14:creationId xmlns:p14="http://schemas.microsoft.com/office/powerpoint/2010/main" val="171676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События компонентов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95093538"/>
              </p:ext>
            </p:extLst>
          </p:nvPr>
        </p:nvGraphicFramePr>
        <p:xfrm>
          <a:off x="395536" y="980728"/>
          <a:ext cx="7632848" cy="546823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1283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044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Click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щелчке по</a:t>
                      </a:r>
                      <a:r>
                        <a:rPr lang="ru-RU" sz="1600" baseline="0" dirty="0">
                          <a:effectLst/>
                        </a:rPr>
                        <a:t> компоненту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37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DragDrop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завершении операции перетаскивания мышью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74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DragEnter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перетаскивании объекта в область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11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DragLeave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перетаскивании объекта за пределы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48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DragOver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перетаскивании объекта на компонент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65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DoubleClick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двойном щелчке</a:t>
                      </a:r>
                      <a:r>
                        <a:rPr lang="ru-RU" sz="1600" baseline="0" dirty="0">
                          <a:effectLst/>
                        </a:rPr>
                        <a:t> по компоненту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3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EnabledChanged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изменении состояния включения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7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Enter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когда компонент получает фокус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474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HelpRequested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вызове пользователем справки для данного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474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KeyPress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нажатии и отпускании клавиши клавиатуры, когда данный компонент находится в фокусе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474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KeyDown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нажатии клавиши клавиатуры, когда данный компонент находится в фокусе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545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KeyUp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отпускании клавиши клавиатуры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0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Leave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когда компонент теряет фокус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25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22929513"/>
              </p:ext>
            </p:extLst>
          </p:nvPr>
        </p:nvGraphicFramePr>
        <p:xfrm>
          <a:off x="251520" y="260648"/>
          <a:ext cx="7776863" cy="654243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06376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31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MouseClick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щелчке мыши на данный компонент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MouseDown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нажатии кнопки мыши, когда указатель мыши находится над компонентом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MouseEnter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попадание указателя мыши в видимую область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MouseHover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когда указатель мыши остаётся некоторое время неподвижным в пределах данного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49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MouseLeave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мышь покидает область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MouseMove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перемещении мыши по области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MouseUp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отпускании кнопки мыши, когда указатель мыши находится над компонентом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86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Move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перемещении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Paint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необходимости перерисовки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Resize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изменении размеров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Scroll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перемещении ползунка полосы прокрутки компонента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Shown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первом отображении формы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Times New Roman"/>
                          <a:cs typeface="Consolas" panose="020B0609020204030204" pitchFamily="49" charset="0"/>
                        </a:rPr>
                        <a:t>Load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0"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каждой загрузке формы</a:t>
                      </a: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3416919353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FormClosed</a:t>
                      </a:r>
                      <a:endParaRPr lang="ru-RU" sz="180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закрытии формы, </a:t>
                      </a:r>
                      <a:r>
                        <a:rPr lang="ru-RU" sz="1600" b="1" dirty="0">
                          <a:effectLst/>
                        </a:rPr>
                        <a:t>после того</a:t>
                      </a:r>
                      <a:r>
                        <a:rPr lang="ru-RU" sz="1600" dirty="0">
                          <a:effectLst/>
                        </a:rPr>
                        <a:t>, как форма была закрыта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5554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FormClosing</a:t>
                      </a:r>
                      <a:endParaRPr lang="ru-RU" sz="1800" dirty="0">
                        <a:effectLst/>
                        <a:latin typeface="Consolas" panose="020B0609020204030204" pitchFamily="49" charset="0"/>
                        <a:ea typeface="Times New Roman"/>
                        <a:cs typeface="Consolas" panose="020B0609020204030204" pitchFamily="49" charset="0"/>
                      </a:endParaRPr>
                    </a:p>
                  </a:txBody>
                  <a:tcPr marL="57113" marR="5711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закрытии формы, </a:t>
                      </a:r>
                      <a:r>
                        <a:rPr lang="ru-RU" sz="1600" b="1" dirty="0">
                          <a:effectLst/>
                        </a:rPr>
                        <a:t>перед тем</a:t>
                      </a:r>
                      <a:r>
                        <a:rPr lang="ru-RU" sz="1600" dirty="0">
                          <a:effectLst/>
                        </a:rPr>
                        <a:t>, как форма была закрыта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7113" marR="57113" marT="0" marB="0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93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7467600" cy="634082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1 «Получение и потеря фокуса»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987693"/>
            <a:ext cx="7467600" cy="129614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Программа должна окрашивать текстовое поле, которое получило фокус. </a:t>
            </a:r>
          </a:p>
          <a:p>
            <a:pPr algn="just"/>
            <a:r>
              <a:rPr lang="ru-RU" dirty="0"/>
              <a:t>Используем события </a:t>
            </a:r>
            <a:r>
              <a:rPr lang="en-US" dirty="0"/>
              <a:t>Enter</a:t>
            </a:r>
            <a:r>
              <a:rPr lang="ru-RU" dirty="0"/>
              <a:t> (получение фокуса) и </a:t>
            </a:r>
            <a:r>
              <a:rPr lang="en-US" dirty="0"/>
              <a:t>Leave</a:t>
            </a:r>
            <a:r>
              <a:rPr lang="ru-RU" dirty="0"/>
              <a:t> (потеря фокуса) для текстового поля.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4275654"/>
            <a:ext cx="3115167" cy="237626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70384" y="2814539"/>
            <a:ext cx="80032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textBox1_Enter(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textBox1.BackColor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.Red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}</a:t>
            </a:r>
            <a:endParaRPr lang="ru-RU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textBox1_Leave(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textBox1.BackColor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.White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A3800BD-C348-4981-B205-83CF0CB25A39}"/>
              </a:ext>
            </a:extLst>
          </p:cNvPr>
          <p:cNvSpPr txBox="1"/>
          <p:nvPr/>
        </p:nvSpPr>
        <p:spPr>
          <a:xfrm>
            <a:off x="579619" y="2586699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79B5441-0063-46DA-919F-00929BA3CB79}"/>
              </a:ext>
            </a:extLst>
          </p:cNvPr>
          <p:cNvSpPr txBox="1"/>
          <p:nvPr/>
        </p:nvSpPr>
        <p:spPr>
          <a:xfrm>
            <a:off x="579619" y="424570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17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7467600" cy="634082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1 «Получение и потеря фокуса»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987693"/>
            <a:ext cx="7467600" cy="129614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Объединим обработчики событий – событие </a:t>
            </a:r>
            <a:r>
              <a:rPr lang="en-US" dirty="0"/>
              <a:t>Enter </a:t>
            </a:r>
            <a:r>
              <a:rPr lang="ru-RU" dirty="0"/>
              <a:t>назначим обоим полям, событие </a:t>
            </a:r>
            <a:r>
              <a:rPr lang="en-US" dirty="0"/>
              <a:t>Leave</a:t>
            </a:r>
            <a:r>
              <a:rPr lang="ru-RU" dirty="0"/>
              <a:t> назначим обоим полям.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75658" y="2708920"/>
            <a:ext cx="80032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textBox1_Enter(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((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TextBox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)sender).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BackColor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.Red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}   </a:t>
            </a:r>
            <a:endParaRPr lang="ru-RU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textBox1_Leave(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((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TextBox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)sender).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BackColor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.White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4B2A50E-2D7C-4932-93DB-EBD7B10033B5}"/>
              </a:ext>
            </a:extLst>
          </p:cNvPr>
          <p:cNvSpPr txBox="1"/>
          <p:nvPr/>
        </p:nvSpPr>
        <p:spPr>
          <a:xfrm>
            <a:off x="510370" y="244880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lang="ru-RU" u="sng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5A5EC77-AEE5-4D50-A7AC-801421556C14}"/>
              </a:ext>
            </a:extLst>
          </p:cNvPr>
          <p:cNvSpPr txBox="1"/>
          <p:nvPr/>
        </p:nvSpPr>
        <p:spPr>
          <a:xfrm>
            <a:off x="510370" y="406768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lang="ru-RU" u="sng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94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22114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</a:t>
            </a:r>
            <a:r>
              <a:rPr lang="en-US" i="1" dirty="0">
                <a:solidFill>
                  <a:srgbClr val="FF0000"/>
                </a:solidFill>
              </a:rPr>
              <a:t> 2 «</a:t>
            </a:r>
            <a:r>
              <a:rPr lang="ru-RU" i="1" dirty="0">
                <a:solidFill>
                  <a:srgbClr val="FF0000"/>
                </a:solidFill>
              </a:rPr>
              <a:t>Определение кода нажатой клавиши</a:t>
            </a:r>
            <a:r>
              <a:rPr lang="en-US" i="1" dirty="0">
                <a:solidFill>
                  <a:srgbClr val="FF0000"/>
                </a:solidFill>
              </a:rPr>
              <a:t>»</a:t>
            </a:r>
            <a:endParaRPr lang="ru-RU" i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594636" y="1392712"/>
            <a:ext cx="7467600" cy="96470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Программа должна сообщать код нажатой клавиши. </a:t>
            </a:r>
          </a:p>
          <a:p>
            <a:r>
              <a:rPr lang="ru-RU" dirty="0"/>
              <a:t>Используем событие</a:t>
            </a:r>
            <a:r>
              <a:rPr lang="en-US" dirty="0"/>
              <a:t> </a:t>
            </a:r>
            <a:r>
              <a:rPr lang="en-US" dirty="0" err="1"/>
              <a:t>KeyDown</a:t>
            </a:r>
            <a:r>
              <a:rPr lang="en-US" dirty="0"/>
              <a:t> </a:t>
            </a:r>
            <a:r>
              <a:rPr lang="ru-RU" dirty="0"/>
              <a:t>формы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4207098"/>
            <a:ext cx="3191708" cy="237626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19944" y="2357416"/>
            <a:ext cx="770485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Form1_KeyDown(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e.KeyValue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== 27)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this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.Close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();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клавиша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Esc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завершает программу </a:t>
            </a:r>
          </a:p>
          <a:p>
            <a:pPr>
              <a:spcAft>
                <a:spcPts val="0"/>
              </a:spcAft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клавиши со стрелками двигают форму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e.KeyValue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== 40)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this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+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5;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e.KeyValue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== 39)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this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.Left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+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5;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e.KeyValue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== 38)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this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.Top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-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5;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e.KeyValue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== 37)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this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.Left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-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5;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endParaRPr lang="ru-RU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// печатаем код нажатой клавиши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label1.Text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Код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"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e.KeyValue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73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3 «Исчезающие кнопки»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82245" y="913057"/>
            <a:ext cx="7931224" cy="204482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Проект демонстрирует создание функций обработки событий. При попадании указателя мыши в область компонента </a:t>
            </a:r>
            <a:r>
              <a:rPr lang="en-US" dirty="0"/>
              <a:t>Label</a:t>
            </a:r>
            <a:r>
              <a:rPr lang="ru-RU" dirty="0"/>
              <a:t>1, исчезает вторая кнопка, а само поле окрашивается в зелёный цвет. При попадании указателя мыши в область компонента </a:t>
            </a:r>
            <a:r>
              <a:rPr lang="en-US" dirty="0"/>
              <a:t>Label</a:t>
            </a:r>
            <a:r>
              <a:rPr lang="ru-RU" dirty="0"/>
              <a:t>2, исчезает первая кнопка, а само поле окрашивается в зелёный цвет. </a:t>
            </a:r>
          </a:p>
          <a:p>
            <a:pPr algn="just"/>
            <a:r>
              <a:rPr lang="ru-RU" dirty="0"/>
              <a:t>Используем события </a:t>
            </a:r>
            <a:r>
              <a:rPr lang="en-US" dirty="0" err="1"/>
              <a:t>MouseEnter</a:t>
            </a:r>
            <a:r>
              <a:rPr lang="ru-RU" dirty="0"/>
              <a:t>, </a:t>
            </a:r>
            <a:r>
              <a:rPr lang="en-US" dirty="0" err="1"/>
              <a:t>MouseLeave</a:t>
            </a:r>
            <a:r>
              <a:rPr lang="ru-RU" dirty="0"/>
              <a:t>. 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9994" y="3072916"/>
            <a:ext cx="3895725" cy="268605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51520" y="3184834"/>
            <a:ext cx="85689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18034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label1_MouseEnter(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label1.BackColor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.Green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button1.Visible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680" indent="18034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label1_MouseLeave(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label1.BackColor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.WhiteSmoke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button1.Visible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false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C72C55A-DAB2-4711-88A8-27EE325FBA19}"/>
              </a:ext>
            </a:extLst>
          </p:cNvPr>
          <p:cNvSpPr txBox="1"/>
          <p:nvPr/>
        </p:nvSpPr>
        <p:spPr>
          <a:xfrm>
            <a:off x="760707" y="294420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53D4CB8-6907-415C-B88B-FDEA4963AD66}"/>
              </a:ext>
            </a:extLst>
          </p:cNvPr>
          <p:cNvSpPr txBox="1"/>
          <p:nvPr/>
        </p:nvSpPr>
        <p:spPr>
          <a:xfrm>
            <a:off x="727685" y="489299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4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3 «Исчезающие кнопки»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82245" y="913057"/>
            <a:ext cx="7931224" cy="1363815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Объединим обработчики событий</a:t>
            </a:r>
          </a:p>
          <a:p>
            <a:pPr algn="just"/>
            <a:r>
              <a:rPr lang="ru-RU" dirty="0"/>
              <a:t>Назначим события </a:t>
            </a:r>
            <a:r>
              <a:rPr lang="en-US" dirty="0" err="1"/>
              <a:t>MouseEnter</a:t>
            </a:r>
            <a:r>
              <a:rPr lang="ru-RU" dirty="0"/>
              <a:t>, </a:t>
            </a:r>
            <a:r>
              <a:rPr lang="en-US" dirty="0" err="1"/>
              <a:t>MouseLeave</a:t>
            </a:r>
            <a:r>
              <a:rPr lang="ru-RU" dirty="0"/>
              <a:t> обоим надписям.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87524" y="2708920"/>
            <a:ext cx="856895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18034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label1_MouseEnter(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((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sender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.BackColor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.Green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(sender == label1) button1.Visible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  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(sender == label2) button2.Visible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680" indent="18034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label1_MouseLeave(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((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sender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.BackColor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.WhiteSmoke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(sender == label1) button1.Visible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false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  if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(sender == label2) button2.Visible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false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B5F4B26-1C6B-4317-8FF7-0F01F78E86A3}"/>
              </a:ext>
            </a:extLst>
          </p:cNvPr>
          <p:cNvSpPr txBox="1"/>
          <p:nvPr/>
        </p:nvSpPr>
        <p:spPr>
          <a:xfrm>
            <a:off x="834479" y="2450900"/>
            <a:ext cx="120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lang="ru-RU" u="sng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CD2D54E-709C-461B-83D4-FCDF5B18BCAD}"/>
              </a:ext>
            </a:extLst>
          </p:cNvPr>
          <p:cNvSpPr txBox="1"/>
          <p:nvPr/>
        </p:nvSpPr>
        <p:spPr>
          <a:xfrm>
            <a:off x="834480" y="4390141"/>
            <a:ext cx="120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lang="ru-RU" u="sng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44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4 «Скорость бега»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32903" y="836712"/>
            <a:ext cx="7467600" cy="146876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Программа получает исходные данные (скорость в м/с) из текстового поля </a:t>
            </a:r>
            <a:r>
              <a:rPr lang="en-US" dirty="0" err="1"/>
              <a:t>textBox</a:t>
            </a:r>
            <a:r>
              <a:rPr lang="ru-RU" dirty="0"/>
              <a:t>1 и вычисляет скорость бега в км/ч. Ответ выводится в поле вывода </a:t>
            </a:r>
            <a:r>
              <a:rPr lang="en-US" dirty="0"/>
              <a:t>label</a:t>
            </a:r>
            <a:r>
              <a:rPr lang="ru-RU" dirty="0"/>
              <a:t>2. </a:t>
            </a:r>
          </a:p>
          <a:p>
            <a:pPr algn="just"/>
            <a:r>
              <a:rPr lang="ru-RU" dirty="0"/>
              <a:t>В случае неправильного ввода данных </a:t>
            </a:r>
            <a:r>
              <a:rPr lang="ru-RU"/>
              <a:t>должно появляется </a:t>
            </a:r>
            <a:r>
              <a:rPr lang="ru-RU" dirty="0"/>
              <a:t>сообщение об ошибке в отдельном окне.</a:t>
            </a:r>
          </a:p>
          <a:p>
            <a:pPr algn="just"/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963135"/>
            <a:ext cx="3372014" cy="2312079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68159" y="2449488"/>
            <a:ext cx="90076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18034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button1_Click(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try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double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v;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v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.ToDouble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(textBox1.Text);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v = v * 3600 / 1000;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label2.Text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"Скорость в км/ч -&gt; "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+ v;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}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catch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ru-RU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MessageBox</a:t>
            </a:r>
            <a:r>
              <a:rPr lang="ru-RU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.Show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"Неверный формат данных!"</a:t>
            </a: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);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}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35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F0F07ED3-2703-4ED5-B95B-424D3CE8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32656"/>
            <a:ext cx="3924300" cy="26289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2C14E3EF-421B-45B0-93CF-3013645D8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988840"/>
            <a:ext cx="1895475" cy="12192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59F2FC7-9797-4189-ABDF-83172755C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3789040"/>
            <a:ext cx="39243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7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4 «Скорость бега»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32902" y="836712"/>
            <a:ext cx="8243553" cy="146876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Добавим ограничения на ввод – при нажатии клавиш клавиатуры в поле ввода должны отображаться только допустимые символы</a:t>
            </a:r>
          </a:p>
          <a:p>
            <a:pPr algn="just"/>
            <a:r>
              <a:rPr lang="ru-RU" dirty="0"/>
              <a:t>Разрешены только цифры, запятая и клавиша </a:t>
            </a:r>
            <a:r>
              <a:rPr lang="en-US" dirty="0" err="1"/>
              <a:t>BackSpace</a:t>
            </a:r>
            <a:endParaRPr lang="ru-RU" dirty="0"/>
          </a:p>
          <a:p>
            <a:pPr algn="just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2924944"/>
            <a:ext cx="84969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textBox1_KeyPress(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KeyPressEventArgs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'9'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','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&amp;&amp; textBox1.Text.IndexOf(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','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== -1)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'\0’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75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4 «Скорость бега»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32902" y="836712"/>
            <a:ext cx="8243553" cy="1468760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Добавим </a:t>
            </a:r>
            <a:r>
              <a:rPr lang="ru-RU" dirty="0" smtClean="0"/>
              <a:t>блокировку кнопки «Расчёт» пока не будут введены данные</a:t>
            </a:r>
            <a:endParaRPr lang="ru-RU" dirty="0"/>
          </a:p>
          <a:p>
            <a:pPr algn="just"/>
            <a:r>
              <a:rPr lang="ru-RU" dirty="0" smtClean="0"/>
              <a:t>Используем событие изменения текста в поле ввода</a:t>
            </a:r>
            <a:endParaRPr lang="ru-RU" dirty="0"/>
          </a:p>
          <a:p>
            <a:pPr algn="just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32902" y="2564904"/>
            <a:ext cx="8496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 void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textBox1_TextChanged(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(textBox1.TextLength ==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button1.Enabled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button1.Enabled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36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создание компонентов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18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>
            <a:normAutofit/>
          </a:bodyPr>
          <a:lstStyle/>
          <a:p>
            <a:r>
              <a:rPr lang="ru-RU" sz="2700" dirty="0"/>
              <a:t>Динамическое создание компонентов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23528" y="1124744"/>
            <a:ext cx="8064896" cy="5349208"/>
          </a:xfrm>
        </p:spPr>
        <p:txBody>
          <a:bodyPr>
            <a:normAutofit/>
          </a:bodyPr>
          <a:lstStyle/>
          <a:p>
            <a:pPr algn="just">
              <a:spcAft>
                <a:spcPts val="1800"/>
              </a:spcAft>
            </a:pPr>
            <a:r>
              <a:rPr lang="ru-RU" sz="2000" dirty="0"/>
              <a:t>При динамическом создании визуальных компонентов, программист должен сам установить контейнер, в котором будет находиться и отображаться создаваемый компонент.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label1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18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   label1.Parent = panel1;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   label1.Location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new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Point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(20, 20);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   label1.BackColor =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Color</a:t>
            </a:r>
            <a:r>
              <a:rPr lang="en-US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.LightBlue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   label1.Text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Новая надпись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3799348"/>
            <a:ext cx="3087701" cy="2520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375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 fontScale="90000"/>
          </a:bodyPr>
          <a:lstStyle/>
          <a:p>
            <a:r>
              <a:rPr lang="ru-RU" dirty="0"/>
              <a:t>Назначение событий динамически созданным компонентам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7920880" cy="1368152"/>
          </a:xfrm>
        </p:spPr>
        <p:txBody>
          <a:bodyPr>
            <a:normAutofit fontScale="92500" lnSpcReduction="10000"/>
          </a:bodyPr>
          <a:lstStyle/>
          <a:p>
            <a:pPr algn="just">
              <a:spcAft>
                <a:spcPts val="1800"/>
              </a:spcAft>
            </a:pPr>
            <a:r>
              <a:rPr lang="ru-RU" sz="2000" dirty="0"/>
              <a:t>При динамическом создании визуальных компонентов, программист должен сам назначить события созданным компонентам, если это необходимо, и прописать вручную метод обработки события.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58DDBF1-DCA2-40D5-A799-06E0427BF920}"/>
              </a:ext>
            </a:extLst>
          </p:cNvPr>
          <p:cNvSpPr txBox="1"/>
          <p:nvPr/>
        </p:nvSpPr>
        <p:spPr>
          <a:xfrm>
            <a:off x="454424" y="2204864"/>
            <a:ext cx="7467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btn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btn.Parent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btn.Location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(100, 120);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btn.Size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Size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(130, 50);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btn.Text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Вычислить"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btn.Click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EventHandler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.btn_Click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7F6047C5-18C6-4877-84C1-43F00DF09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320" y="4149080"/>
            <a:ext cx="3285359" cy="257440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F36C6431-5390-4260-903F-1E4909451CAF}"/>
              </a:ext>
            </a:extLst>
          </p:cNvPr>
          <p:cNvSpPr/>
          <p:nvPr/>
        </p:nvSpPr>
        <p:spPr>
          <a:xfrm>
            <a:off x="827584" y="3613666"/>
            <a:ext cx="6048672" cy="345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96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72BB72DC-B240-4FF8-B4BD-7F9AAB224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964177"/>
            <a:ext cx="4752528" cy="3718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="" xmlns:a16="http://schemas.microsoft.com/office/drawing/2014/main" id="{AB151885-0B64-4019-A644-9E992CBDB51D}"/>
              </a:ext>
            </a:extLst>
          </p:cNvPr>
          <p:cNvCxnSpPr>
            <a:cxnSpLocks/>
          </p:cNvCxnSpPr>
          <p:nvPr/>
        </p:nvCxnSpPr>
        <p:spPr>
          <a:xfrm flipH="1">
            <a:off x="3563888" y="4336065"/>
            <a:ext cx="2304256" cy="11091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480FBC94-31CB-45E3-8BEF-0B9E0E4D751B}"/>
              </a:ext>
            </a:extLst>
          </p:cNvPr>
          <p:cNvSpPr txBox="1"/>
          <p:nvPr/>
        </p:nvSpPr>
        <p:spPr>
          <a:xfrm>
            <a:off x="467544" y="116632"/>
            <a:ext cx="7704856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Form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TextBox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txt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TextBox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Button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Button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Label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Label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.Controls.Add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(txt);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.Controls.Add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.Controls.Add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txt.Location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(100, 60);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btn.Location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(100, 120);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(130, 50);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btn.Text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Вычислить"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btn.Click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EventHandler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.btn_Click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lbl.Location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(100, 200);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lbl.AutoSize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lbl.ForeColor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txt.Text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lbl.Text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"Квадрат числа: 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+ (x * x);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2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</p:spPr>
        <p:txBody>
          <a:bodyPr>
            <a:normAutofit fontScale="90000"/>
          </a:bodyPr>
          <a:lstStyle/>
          <a:p>
            <a:r>
              <a:rPr lang="ru-RU" dirty="0"/>
              <a:t>Динамическое создание компонентов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49" y="1268760"/>
            <a:ext cx="5027302" cy="509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7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496944" cy="634082"/>
          </a:xfrm>
        </p:spPr>
        <p:txBody>
          <a:bodyPr>
            <a:normAutofit fontScale="90000"/>
          </a:bodyPr>
          <a:lstStyle/>
          <a:p>
            <a:r>
              <a:rPr lang="ru-RU" dirty="0"/>
              <a:t>Динамическое создание разных компонентов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-180528" y="678706"/>
            <a:ext cx="864096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k = 0;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count elements of controls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27A19E"/>
                </a:solidFill>
                <a:latin typeface="Consolas" panose="020B0609020204030204" pitchFamily="49" charset="0"/>
              </a:rPr>
              <a:t>Control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check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groupBox1.Controls.OfType&lt;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CheckBox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CheckBox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)check).Checked)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            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(check == checkBox1)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c1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TextBox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TextBox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)c1).Parent = panel1;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TextBox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)c1).Location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7A19E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(20, 20 + k * 40);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(check == checkBox2)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c2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NumericUpDown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NumericUpDown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)c2).Parent = panel1;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NumericUpDown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)c2).Location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7A19E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(20, 20 + k * 40);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(check == checkBox3)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c3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DateTimePicker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DateTimePicker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)c3).Parent = panel1;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((</a:t>
            </a:r>
            <a:r>
              <a:rPr lang="en-US" sz="1400" dirty="0" err="1">
                <a:solidFill>
                  <a:srgbClr val="27A19E"/>
                </a:solidFill>
                <a:latin typeface="Consolas" panose="020B0609020204030204" pitchFamily="49" charset="0"/>
              </a:rPr>
              <a:t>DateTimePicker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)c3).Location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7A19E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(20, 20 + k * 40);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k++;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4072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>
            <a:normAutofit/>
          </a:bodyPr>
          <a:lstStyle/>
          <a:p>
            <a:r>
              <a:rPr lang="ru-RU" dirty="0"/>
              <a:t>Удаление компонентов с панели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196752"/>
            <a:ext cx="889248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//to remove all controls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panel1.Controls.Clear(); </a:t>
            </a: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checkBox1.Checked = checkBox2.Checked = checkBox3.Checked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//to remove all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comboboxes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(Control item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panel1.Controls.OfType&lt;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ComboBox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panel1.Controls.Remove(item);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//to remove control by Name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(Control item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panel1.Controls.OfType&lt;Control&gt;().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item.Name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bloodyControl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panel1.Controls.Remove(item);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}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3383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характеристика визуальных компонентов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50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ru-RU" dirty="0"/>
              <a:t>Визуальные компоненты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340768"/>
            <a:ext cx="757118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Визуальные компоненты делятся на:</a:t>
            </a:r>
          </a:p>
          <a:p>
            <a:pPr lvl="0" algn="just"/>
            <a:r>
              <a:rPr lang="ru-RU" b="1" dirty="0"/>
              <a:t>Оконные элементы управления</a:t>
            </a:r>
            <a:r>
              <a:rPr lang="ru-RU" dirty="0"/>
              <a:t> – специальные компоненты, которые могут получать фокус ввода и могут иметь </a:t>
            </a:r>
            <a:r>
              <a:rPr lang="ru-RU" dirty="0" err="1"/>
              <a:t>дискриптор</a:t>
            </a:r>
            <a:r>
              <a:rPr lang="ru-RU" dirty="0"/>
              <a:t> окна (т.е. ссылку на другие окна). </a:t>
            </a:r>
          </a:p>
          <a:p>
            <a:pPr lvl="0" algn="just"/>
            <a:r>
              <a:rPr lang="ru-RU" b="1" dirty="0" err="1"/>
              <a:t>Неоконные</a:t>
            </a:r>
            <a:r>
              <a:rPr lang="ru-RU" b="1" dirty="0"/>
              <a:t> элементы управления</a:t>
            </a:r>
            <a:r>
              <a:rPr lang="ru-RU" dirty="0"/>
              <a:t> – не могут получать фокус ввода и быть родителями других элементов управления. Их достоинство – меньшее расходование ресурсов.</a:t>
            </a:r>
          </a:p>
          <a:p>
            <a:pPr marL="0" indent="0">
              <a:buNone/>
            </a:pPr>
            <a:endParaRPr lang="ru-RU" b="1" dirty="0"/>
          </a:p>
          <a:p>
            <a:pPr marL="0" indent="0" algn="just">
              <a:buNone/>
            </a:pPr>
            <a:r>
              <a:rPr lang="ru-RU" b="1" dirty="0"/>
              <a:t>Свойства</a:t>
            </a:r>
            <a:r>
              <a:rPr lang="ru-RU" dirty="0"/>
              <a:t> элементов управления позволяют изменять их внешний вид и поведение.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59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ru-RU" b="1" dirty="0"/>
              <a:t>Компонент </a:t>
            </a:r>
            <a:r>
              <a:rPr lang="en-US" b="1" dirty="0" err="1"/>
              <a:t>textBox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232516" y="1052736"/>
            <a:ext cx="8496944" cy="259228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/>
              <a:t>Компонент </a:t>
            </a:r>
            <a:r>
              <a:rPr lang="en-US" b="1" dirty="0" err="1"/>
              <a:t>textBox</a:t>
            </a:r>
            <a:r>
              <a:rPr lang="ru-RU" dirty="0"/>
              <a:t> позволяет вводить с клавиатуры различные символы, при этом можно перемещаться по строке, используя клавиши управления курсором.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/>
              <a:t>Text</a:t>
            </a:r>
            <a:r>
              <a:rPr lang="ru-RU" dirty="0"/>
              <a:t> данного компонента позволяет получить доступ к содержимому текстового редактора.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Свойство используется для чтения и записи: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6" y="3645024"/>
            <a:ext cx="8525590" cy="28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9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Методы элементов управления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611560" y="1340768"/>
            <a:ext cx="7571184" cy="487375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ru-RU" b="1" dirty="0"/>
              <a:t>Методы </a:t>
            </a:r>
            <a:r>
              <a:rPr lang="ru-RU" dirty="0"/>
              <a:t>элементов управления позволяют совершать действия над компонентами:</a:t>
            </a:r>
          </a:p>
          <a:p>
            <a:pPr marL="365760" lvl="1" indent="0">
              <a:buNone/>
            </a:pPr>
            <a:r>
              <a:rPr lang="ru-RU" sz="2400" b="1" dirty="0"/>
              <a:t> Focus() </a:t>
            </a:r>
            <a:r>
              <a:rPr lang="ru-RU" sz="2400" dirty="0"/>
              <a:t>– устанавливает фокус ввода на   оконный элемент управления;</a:t>
            </a:r>
          </a:p>
          <a:p>
            <a:pPr marL="365760" lvl="1" indent="0">
              <a:buNone/>
            </a:pPr>
            <a:r>
              <a:rPr lang="ru-RU" sz="2400" b="1" dirty="0"/>
              <a:t> Clear() </a:t>
            </a:r>
            <a:r>
              <a:rPr lang="ru-RU" sz="2400" dirty="0"/>
              <a:t>– очищает содержимое компонента;</a:t>
            </a:r>
          </a:p>
          <a:p>
            <a:pPr marL="365760" lvl="1" indent="0">
              <a:buNone/>
            </a:pPr>
            <a:r>
              <a:rPr lang="ru-RU" sz="2400" b="1" dirty="0"/>
              <a:t> </a:t>
            </a:r>
            <a:r>
              <a:rPr lang="ru-RU" sz="2400" b="1" dirty="0" err="1"/>
              <a:t>Refresh</a:t>
            </a:r>
            <a:r>
              <a:rPr lang="ru-RU" sz="2400" b="1" dirty="0"/>
              <a:t>() </a:t>
            </a:r>
            <a:r>
              <a:rPr lang="ru-RU" sz="2400" dirty="0"/>
              <a:t>– обновляет элемент управления.</a:t>
            </a:r>
          </a:p>
          <a:p>
            <a:pPr marL="0" indent="0">
              <a:spcAft>
                <a:spcPts val="600"/>
              </a:spcAft>
              <a:buNone/>
            </a:pPr>
            <a:endParaRPr lang="ru-RU" sz="2000" b="1" dirty="0"/>
          </a:p>
          <a:p>
            <a:pPr marL="0" indent="0">
              <a:buNone/>
            </a:pPr>
            <a:r>
              <a:rPr lang="ru-RU" b="1" dirty="0"/>
              <a:t>Например:   </a:t>
            </a:r>
            <a:r>
              <a:rPr lang="ru-RU" dirty="0"/>
              <a:t>textBox1.Focus();</a:t>
            </a:r>
          </a:p>
          <a:p>
            <a:pPr marL="0" indent="0">
              <a:buNone/>
            </a:pPr>
            <a:r>
              <a:rPr lang="ru-RU" dirty="0"/>
              <a:t>                        textBox1.</a:t>
            </a:r>
            <a:r>
              <a:rPr lang="en-US" dirty="0"/>
              <a:t>Clear</a:t>
            </a:r>
            <a:r>
              <a:rPr lang="ru-RU" dirty="0"/>
              <a:t>();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53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ru-RU" dirty="0"/>
              <a:t>Командная кнопка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520" y="1340768"/>
            <a:ext cx="7930903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Командная кнопка </a:t>
            </a:r>
            <a:r>
              <a:rPr lang="ru-RU" sz="2200" dirty="0"/>
              <a:t>– компонент класса </a:t>
            </a:r>
            <a:r>
              <a:rPr lang="en-US" sz="2200" dirty="0"/>
              <a:t>Button</a:t>
            </a:r>
            <a:r>
              <a:rPr lang="ru-RU" sz="2200" dirty="0"/>
              <a:t>. </a:t>
            </a:r>
          </a:p>
          <a:p>
            <a:pPr algn="just"/>
            <a:r>
              <a:rPr lang="ru-RU" sz="2200" dirty="0"/>
              <a:t>Свойство </a:t>
            </a:r>
            <a:r>
              <a:rPr lang="en-US" sz="2200" b="1" dirty="0" err="1"/>
              <a:t>FlatStyle</a:t>
            </a:r>
            <a:r>
              <a:rPr lang="ru-RU" sz="2200" dirty="0"/>
              <a:t> отвечает за стиль кнопки. Кнопка может быть стандартной (</a:t>
            </a:r>
            <a:r>
              <a:rPr lang="en-US" sz="2200" dirty="0" err="1"/>
              <a:t>Standart</a:t>
            </a:r>
            <a:r>
              <a:rPr lang="ru-RU" sz="2200" dirty="0"/>
              <a:t>), плоской (</a:t>
            </a:r>
            <a:r>
              <a:rPr lang="en-US" sz="2200" dirty="0"/>
              <a:t>Flat</a:t>
            </a:r>
            <a:r>
              <a:rPr lang="ru-RU" sz="2200" dirty="0"/>
              <a:t>) или всплывающей (</a:t>
            </a:r>
            <a:r>
              <a:rPr lang="en-US" sz="2200" dirty="0"/>
              <a:t>Popup</a:t>
            </a:r>
            <a:r>
              <a:rPr lang="ru-RU" sz="2200" dirty="0"/>
              <a:t>).</a:t>
            </a:r>
          </a:p>
          <a:p>
            <a:pPr algn="just"/>
            <a:r>
              <a:rPr lang="ru-RU" sz="2200" dirty="0"/>
              <a:t>Свойство </a:t>
            </a:r>
            <a:r>
              <a:rPr lang="en-US" sz="2200" b="1" dirty="0" smtClean="0"/>
              <a:t>Enabled</a:t>
            </a:r>
            <a:r>
              <a:rPr lang="en-US" sz="2200" dirty="0" smtClean="0"/>
              <a:t> </a:t>
            </a:r>
            <a:r>
              <a:rPr lang="ru-RU" sz="2200" dirty="0"/>
              <a:t>позволяет управлять доступностью кнопки для нажатия (</a:t>
            </a:r>
            <a:r>
              <a:rPr lang="en-US" sz="2200" dirty="0"/>
              <a:t>true</a:t>
            </a:r>
            <a:r>
              <a:rPr lang="ru-RU" sz="2200" dirty="0"/>
              <a:t>-доступна, </a:t>
            </a:r>
            <a:r>
              <a:rPr lang="en-US" sz="2200" dirty="0"/>
              <a:t>false</a:t>
            </a:r>
            <a:r>
              <a:rPr lang="ru-RU" sz="2200" dirty="0"/>
              <a:t>-недоступна). </a:t>
            </a:r>
          </a:p>
          <a:p>
            <a:pPr algn="just"/>
            <a:r>
              <a:rPr lang="ru-RU" sz="2200" dirty="0"/>
              <a:t>Аналогичные значения принимает свойство </a:t>
            </a:r>
            <a:r>
              <a:rPr lang="en-US" sz="2200" b="1" dirty="0"/>
              <a:t>Visible</a:t>
            </a:r>
            <a:r>
              <a:rPr lang="ru-RU" sz="2200" dirty="0"/>
              <a:t>, оно позволяет делать кнопку видимой или невидимой.</a:t>
            </a:r>
          </a:p>
          <a:p>
            <a:pPr algn="just"/>
            <a:r>
              <a:rPr lang="ru-RU" sz="2200" dirty="0"/>
              <a:t>Свойство </a:t>
            </a:r>
            <a:r>
              <a:rPr lang="en-US" sz="2200" b="1" dirty="0" err="1"/>
              <a:t>ForeColor</a:t>
            </a:r>
            <a:r>
              <a:rPr lang="ru-RU" sz="2200" dirty="0"/>
              <a:t> отвечает за цвет текста на кнопке, а свойство </a:t>
            </a:r>
            <a:r>
              <a:rPr lang="en-US" sz="2200" b="1" dirty="0" err="1"/>
              <a:t>BackColor</a:t>
            </a:r>
            <a:r>
              <a:rPr lang="ru-RU" sz="2200" dirty="0"/>
              <a:t> за цвет фона.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163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Командная кнопка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95536" y="1628800"/>
            <a:ext cx="8136904" cy="432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На кнопке может размещаться рисунок. </a:t>
            </a:r>
          </a:p>
          <a:p>
            <a:pPr algn="just"/>
            <a:r>
              <a:rPr lang="ru-RU" sz="2000" dirty="0"/>
              <a:t>Свойство </a:t>
            </a:r>
            <a:r>
              <a:rPr lang="en-US" sz="2000" b="1" dirty="0"/>
              <a:t>Image</a:t>
            </a:r>
            <a:r>
              <a:rPr lang="ru-RU" sz="2000" dirty="0"/>
              <a:t> определяет растровое изображение на кнопке. Рекомендуется использовать .</a:t>
            </a:r>
            <a:r>
              <a:rPr lang="en-US" sz="2000" dirty="0"/>
              <a:t>gif</a:t>
            </a:r>
            <a:r>
              <a:rPr lang="ru-RU" sz="2000" dirty="0"/>
              <a:t> файл с прозрачным фоном. Имена файлов-изображений для кнопок и других элементов интерфейса можно также сохранить в виде списка </a:t>
            </a:r>
            <a:r>
              <a:rPr lang="en-US" sz="2000" dirty="0" err="1"/>
              <a:t>ImageList</a:t>
            </a:r>
            <a:r>
              <a:rPr lang="ru-RU" sz="2000" dirty="0"/>
              <a:t>. В этом случае необходимо поместить на форму компонент </a:t>
            </a:r>
            <a:r>
              <a:rPr lang="en-US" sz="2000" dirty="0" err="1"/>
              <a:t>ImageList</a:t>
            </a:r>
            <a:r>
              <a:rPr lang="ru-RU" sz="2000" dirty="0"/>
              <a:t>. Свойство </a:t>
            </a:r>
            <a:r>
              <a:rPr lang="en-US" sz="2000" b="1" dirty="0" err="1"/>
              <a:t>ImageIndex</a:t>
            </a:r>
            <a:r>
              <a:rPr lang="ru-RU" sz="2000" dirty="0"/>
              <a:t> кнопки задаёт номер изображения из этого набора. </a:t>
            </a:r>
          </a:p>
          <a:p>
            <a:pPr algn="just"/>
            <a:r>
              <a:rPr lang="ru-RU" sz="2000" dirty="0"/>
              <a:t>За расположение изображения на поверхности кнопки относительно границ кнопки отвечает свойство </a:t>
            </a:r>
            <a:r>
              <a:rPr lang="en-US" sz="2000" b="1" dirty="0" err="1"/>
              <a:t>ImageAlign</a:t>
            </a:r>
            <a:r>
              <a:rPr lang="en-US" sz="2000" dirty="0"/>
              <a:t>.</a:t>
            </a:r>
          </a:p>
          <a:p>
            <a:pPr algn="just"/>
            <a:r>
              <a:rPr lang="ru-RU" sz="2000" dirty="0"/>
              <a:t>Если на кнопке присутствует надпись и изображение, то свойство </a:t>
            </a:r>
            <a:r>
              <a:rPr lang="en-US" sz="2000" b="1" dirty="0" err="1"/>
              <a:t>TextImageRelation</a:t>
            </a:r>
            <a:r>
              <a:rPr lang="en-US" sz="2000" dirty="0"/>
              <a:t> </a:t>
            </a:r>
            <a:r>
              <a:rPr lang="ru-RU" sz="2000" dirty="0"/>
              <a:t>позволяет настроить положение изображения относительно текста.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4145" y="2348880"/>
            <a:ext cx="4659685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92674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Всплывающие подсказки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2304256"/>
          </a:xfrm>
        </p:spPr>
        <p:txBody>
          <a:bodyPr/>
          <a:lstStyle/>
          <a:p>
            <a:pPr algn="just"/>
            <a:r>
              <a:rPr lang="ru-RU" sz="2000" dirty="0"/>
              <a:t>При помощи свойства </a:t>
            </a:r>
            <a:r>
              <a:rPr lang="en-US" sz="2000" b="1" dirty="0"/>
              <a:t>ToolTip</a:t>
            </a:r>
            <a:r>
              <a:rPr lang="ru-RU" sz="2000" dirty="0"/>
              <a:t> можно задать текст всплывающей подсказки, которая появляется при наведении на кнопку указателя мыши. Для того чтобы можно было задать подсказку, необходимо добавить в проект компонент </a:t>
            </a:r>
            <a:r>
              <a:rPr lang="en-US" sz="2000" dirty="0"/>
              <a:t>ToolTip</a:t>
            </a:r>
            <a:r>
              <a:rPr lang="ru-RU" sz="2000" dirty="0"/>
              <a:t>, а затем задать свойство </a:t>
            </a:r>
            <a:r>
              <a:rPr lang="en-US" sz="2000" b="1" dirty="0"/>
              <a:t>ToolTip</a:t>
            </a:r>
            <a:r>
              <a:rPr lang="ru-RU" sz="2000" b="1" dirty="0"/>
              <a:t> на </a:t>
            </a:r>
            <a:r>
              <a:rPr lang="en-US" sz="2000" b="1" dirty="0" err="1"/>
              <a:t>toolTip</a:t>
            </a:r>
            <a:r>
              <a:rPr lang="ru-RU" sz="2000" b="1" dirty="0"/>
              <a:t>1 </a:t>
            </a:r>
            <a:r>
              <a:rPr lang="ru-RU" sz="2000" dirty="0"/>
              <a:t>для каждой кнопки в конструкторе или командами в коде программы, например: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2780" y="3503807"/>
            <a:ext cx="6896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toolTip1.SetToolTip(button1, </a:t>
            </a:r>
            <a:r>
              <a:rPr lang="ru-RU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"Вычисление периметра"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093168"/>
            <a:ext cx="417646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356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</p:spPr>
        <p:txBody>
          <a:bodyPr>
            <a:normAutofit/>
          </a:bodyPr>
          <a:lstStyle/>
          <a:p>
            <a:r>
              <a:rPr lang="ru-RU" sz="2400" b="1" i="1" dirty="0">
                <a:solidFill>
                  <a:srgbClr val="FF0000"/>
                </a:solidFill>
              </a:rPr>
              <a:t>Проект 4 «Управление движением рисунка»</a:t>
            </a:r>
            <a:endParaRPr lang="ru-RU" sz="2400" dirty="0">
              <a:solidFill>
                <a:srgbClr val="FF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7418780" cy="36004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23528" y="1124744"/>
            <a:ext cx="734481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180340"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button_Click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Button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Btn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= 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Button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)sender;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x_max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= panel1.Size.Width - pictureBox1.Size.Width-6;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y_max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= panel1.Size.Height - pictureBox1.Size.Height-6;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switch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.ToInt32(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Btn.Tag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{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1: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(y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0) 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y -= 5;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2: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(x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&lt;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x_max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x += 5;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3: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(x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0) 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x -= 5;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4: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(y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&lt;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y_max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y += 5;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}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pictureBox1.SetBounds(x, y, 50, 50);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}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42360" y="4305295"/>
            <a:ext cx="680918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Form1_Shown(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x = 10;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y = 10;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pictureBox1.SetBounds(x, y, 50, 50);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}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button5_Click(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this</a:t>
            </a:r>
            <a:r>
              <a:rPr lang="ru-RU" sz="14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.Close</a:t>
            </a: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();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   }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7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/>
          <a:p>
            <a:r>
              <a:rPr lang="ru-RU" dirty="0"/>
              <a:t>Компоненты – переключатели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66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3528"/>
            <a:ext cx="7467600" cy="825232"/>
          </a:xfrm>
        </p:spPr>
        <p:txBody>
          <a:bodyPr>
            <a:normAutofit fontScale="90000"/>
          </a:bodyPr>
          <a:lstStyle/>
          <a:p>
            <a:r>
              <a:rPr lang="ru-RU" dirty="0"/>
              <a:t>Компоненты-переключатели можно разделить на два вида: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4873752"/>
          </a:xfrm>
        </p:spPr>
        <p:txBody>
          <a:bodyPr/>
          <a:lstStyle/>
          <a:p>
            <a:pPr lvl="0" algn="just"/>
            <a:r>
              <a:rPr lang="ru-RU" b="1" dirty="0"/>
              <a:t>Кнопочные</a:t>
            </a:r>
            <a:r>
              <a:rPr lang="ru-RU" dirty="0"/>
              <a:t> (</a:t>
            </a:r>
            <a:r>
              <a:rPr lang="en-US" dirty="0" err="1"/>
              <a:t>RadioButton</a:t>
            </a:r>
            <a:r>
              <a:rPr lang="ru-RU" dirty="0"/>
              <a:t>-зависимые кнопки выбора, </a:t>
            </a:r>
            <a:r>
              <a:rPr lang="en-US" dirty="0" err="1"/>
              <a:t>CheckBox</a:t>
            </a:r>
            <a:r>
              <a:rPr lang="ru-RU" dirty="0"/>
              <a:t>-независимые кнопки выбора, </a:t>
            </a:r>
            <a:r>
              <a:rPr lang="en-US" dirty="0" err="1"/>
              <a:t>NumericUpDown</a:t>
            </a:r>
            <a:r>
              <a:rPr lang="ru-RU" dirty="0"/>
              <a:t>-кнопки изменения переменной-счётчика)</a:t>
            </a:r>
          </a:p>
          <a:p>
            <a:pPr lvl="0" algn="just"/>
            <a:r>
              <a:rPr lang="ru-RU" b="1" dirty="0"/>
              <a:t>Списки</a:t>
            </a:r>
            <a:r>
              <a:rPr lang="ru-RU" dirty="0"/>
              <a:t> (</a:t>
            </a:r>
            <a:r>
              <a:rPr lang="en-US" dirty="0" err="1"/>
              <a:t>ListBox</a:t>
            </a:r>
            <a:r>
              <a:rPr lang="ru-RU" dirty="0"/>
              <a:t>-развернутый список, </a:t>
            </a:r>
            <a:r>
              <a:rPr lang="en-US" dirty="0" err="1"/>
              <a:t>ComboBox</a:t>
            </a:r>
            <a:r>
              <a:rPr lang="ru-RU" dirty="0"/>
              <a:t>-свернутый комбинированный список, </a:t>
            </a:r>
            <a:r>
              <a:rPr lang="en-US" dirty="0" err="1"/>
              <a:t>CheckedListBox</a:t>
            </a:r>
            <a:r>
              <a:rPr lang="ru-RU" dirty="0"/>
              <a:t>-список с флажками)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27962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Зависимые кнопки выбора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4105352"/>
            <a:ext cx="283845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4105351"/>
            <a:ext cx="2736304" cy="2276475"/>
          </a:xfrm>
          <a:prstGeom prst="rect">
            <a:avLst/>
          </a:prstGeom>
          <a:noFill/>
        </p:spPr>
      </p:pic>
      <p:sp>
        <p:nvSpPr>
          <p:cNvPr id="8" name="Объект 2"/>
          <p:cNvSpPr txBox="1">
            <a:spLocks/>
          </p:cNvSpPr>
          <p:nvPr/>
        </p:nvSpPr>
        <p:spPr>
          <a:xfrm>
            <a:off x="374043" y="1154908"/>
            <a:ext cx="7880126" cy="270614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собой зависимую кнопку выбора (переключатель), состояние которой определяется состоянием других кнопок группы. Если одна кнопка группы выбрана, то другие нет. </a:t>
            </a:r>
            <a:endParaRPr lang="ru-RU" dirty="0"/>
          </a:p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Свойство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Checked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отвечает за состояние и внешний вид кнопки: если кнопка выбрана, то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Checked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получает значение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если не выбрана, то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Если надо организовать несколько групп переключателей, то каждую группу следует поместить в отдельный контейнер.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699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57C02DD-8866-4BFB-8671-3F989A0B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Событие изменения состояния включения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9A1AABA-26D2-4C42-8142-CFAEA6A2AC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43192" cy="11430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Событие срабатывает дважды – при снятии с флажка с предыдущей кнопки, а затем при установке флажка на следующую кнопку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197F92E-B1F1-4A64-8226-103605B39818}"/>
              </a:ext>
            </a:extLst>
          </p:cNvPr>
          <p:cNvSpPr txBox="1"/>
          <p:nvPr/>
        </p:nvSpPr>
        <p:spPr>
          <a:xfrm>
            <a:off x="457200" y="3147186"/>
            <a:ext cx="81067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radioButton1_CheckedChanged(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(radioButton1.Checked)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.BackColor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.LightPink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2A291FE-4FF0-4DA1-85EA-E255044C3C9E}"/>
              </a:ext>
            </a:extLst>
          </p:cNvPr>
          <p:cNvSpPr txBox="1"/>
          <p:nvPr/>
        </p:nvSpPr>
        <p:spPr>
          <a:xfrm>
            <a:off x="457200" y="2806558"/>
            <a:ext cx="123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22ABF415-7C96-474B-8B5D-6707E5CC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3734560"/>
            <a:ext cx="2731245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097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57C02DD-8866-4BFB-8671-3F989A0B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Событие изменения состояния включения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9A1AABA-26D2-4C42-8142-CFAEA6A2AC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571184" cy="1143000"/>
          </a:xfrm>
        </p:spPr>
        <p:txBody>
          <a:bodyPr>
            <a:normAutofit fontScale="92500"/>
          </a:bodyPr>
          <a:lstStyle/>
          <a:p>
            <a:r>
              <a:rPr lang="ru-RU" dirty="0"/>
              <a:t>Если в контейнере три зависимых кнопки, то метод обработки события можно назначить двум из них – и срабатывать изменение цвета будет для всех трёх.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197F92E-B1F1-4A64-8226-103605B39818}"/>
              </a:ext>
            </a:extLst>
          </p:cNvPr>
          <p:cNvSpPr txBox="1"/>
          <p:nvPr/>
        </p:nvSpPr>
        <p:spPr>
          <a:xfrm>
            <a:off x="457200" y="3147186"/>
            <a:ext cx="81067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radioButton1_CheckedChanged(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(radioButton1.Checked)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.BackColor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.LightPink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radioButton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.Checked)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.BackColor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.LightBlue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radioButton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.Checked)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.BackColor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.Lime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2A291FE-4FF0-4DA1-85EA-E255044C3C9E}"/>
              </a:ext>
            </a:extLst>
          </p:cNvPr>
          <p:cNvSpPr txBox="1"/>
          <p:nvPr/>
        </p:nvSpPr>
        <p:spPr>
          <a:xfrm>
            <a:off x="457200" y="2806558"/>
            <a:ext cx="123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ссылок </a:t>
            </a:r>
            <a:r>
              <a:rPr lang="ru-RU" u="sng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endParaRPr kumimoji="0" lang="ru-RU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22ABF415-7C96-474B-8B5D-6707E5CC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3717032"/>
            <a:ext cx="2731245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827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0780" y="166655"/>
            <a:ext cx="7467600" cy="562074"/>
          </a:xfrm>
        </p:spPr>
        <p:txBody>
          <a:bodyPr/>
          <a:lstStyle/>
          <a:p>
            <a:r>
              <a:rPr lang="ru-RU" dirty="0"/>
              <a:t>Использование свойства </a:t>
            </a:r>
            <a:r>
              <a:rPr lang="en-US" dirty="0"/>
              <a:t>Checked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3564791"/>
            <a:ext cx="770485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button1_Click(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cena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0, sum = 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n;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(radioButton1.Checked)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cena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8.50;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(radioButton2.Checked)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cena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10;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(radioButton3.Checked)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cena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15.50;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n =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.ToInt32(textBox1.Text);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sum = n *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cena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label2.Text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Цена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cena.ToString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 +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"\n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Количество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n.ToString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 +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"\n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Сумма заказа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sum.ToString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850616"/>
            <a:ext cx="3960440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571804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66130"/>
          </a:xfrm>
        </p:spPr>
        <p:txBody>
          <a:bodyPr>
            <a:normAutofit/>
          </a:bodyPr>
          <a:lstStyle/>
          <a:p>
            <a:r>
              <a:rPr lang="ru-RU" dirty="0"/>
              <a:t>независимые кнопки (переключатели)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87208" cy="4873752"/>
          </a:xfrm>
        </p:spPr>
        <p:txBody>
          <a:bodyPr>
            <a:normAutofit/>
          </a:bodyPr>
          <a:lstStyle/>
          <a:p>
            <a:pPr algn="just"/>
            <a:r>
              <a:rPr lang="ru-RU" sz="2000" b="1" dirty="0"/>
              <a:t>Компонент </a:t>
            </a:r>
            <a:r>
              <a:rPr lang="en-US" sz="2000" b="1" dirty="0" err="1"/>
              <a:t>CheckBox</a:t>
            </a:r>
            <a:r>
              <a:rPr lang="en-US" sz="2000" b="1" dirty="0"/>
              <a:t> </a:t>
            </a:r>
            <a:r>
              <a:rPr lang="ru-RU" sz="2000" dirty="0"/>
              <a:t>представляет собой независимую кнопку (переключатель). Несколько таких кнопок можно разместить в контейнере </a:t>
            </a:r>
            <a:r>
              <a:rPr lang="en-US" sz="2000" dirty="0" err="1"/>
              <a:t>GroupBox</a:t>
            </a:r>
            <a:r>
              <a:rPr lang="ru-RU" sz="2000" dirty="0"/>
              <a:t>. Свойство </a:t>
            </a:r>
            <a:r>
              <a:rPr lang="en-US" sz="2000" dirty="0"/>
              <a:t>Checked</a:t>
            </a:r>
            <a:r>
              <a:rPr lang="ru-RU" sz="2000" dirty="0"/>
              <a:t> отвечает за состояние и вид кнопки: если флажок установлен, то данное свойство равно </a:t>
            </a:r>
            <a:r>
              <a:rPr lang="en-US" sz="2000" dirty="0"/>
              <a:t>true</a:t>
            </a:r>
            <a:r>
              <a:rPr lang="ru-RU" sz="2000" dirty="0"/>
              <a:t>, если флажок не установлен, то свойство равно </a:t>
            </a:r>
            <a:r>
              <a:rPr lang="en-US" sz="2000" dirty="0"/>
              <a:t>false</a:t>
            </a:r>
            <a:r>
              <a:rPr lang="ru-RU" sz="2000" dirty="0"/>
              <a:t>. </a:t>
            </a:r>
            <a:endParaRPr lang="en-US" sz="2000" dirty="0"/>
          </a:p>
          <a:p>
            <a:pPr algn="just"/>
            <a:r>
              <a:rPr lang="ru-RU" sz="2000" dirty="0"/>
              <a:t>Можно установить флажки на нескольких кнопках в группе, так как они не зависят друг от друга.</a:t>
            </a:r>
          </a:p>
          <a:p>
            <a:pPr algn="just"/>
            <a:r>
              <a:rPr lang="ru-RU" sz="2000" dirty="0"/>
              <a:t>Свойство </a:t>
            </a:r>
            <a:r>
              <a:rPr lang="en-US" sz="2000" b="1" dirty="0" err="1"/>
              <a:t>CheckState</a:t>
            </a:r>
            <a:r>
              <a:rPr lang="en-US" sz="2000" dirty="0"/>
              <a:t> </a:t>
            </a:r>
            <a:r>
              <a:rPr lang="ru-RU" sz="2000" dirty="0"/>
              <a:t>также отвечает за состояние флажка. В отличие от свойства </a:t>
            </a:r>
            <a:r>
              <a:rPr lang="en-US" sz="2000" dirty="0"/>
              <a:t>Checked</a:t>
            </a:r>
            <a:r>
              <a:rPr lang="ru-RU" sz="2000" dirty="0"/>
              <a:t> позволяет различать установленное, сброшенное и промежуточное состояние. Состояние флажка задает одна из констант: </a:t>
            </a:r>
            <a:r>
              <a:rPr lang="en-US" sz="2000" dirty="0"/>
              <a:t>Checked</a:t>
            </a:r>
            <a:r>
              <a:rPr lang="ru-RU" sz="2000" dirty="0"/>
              <a:t>-установлен, </a:t>
            </a:r>
            <a:r>
              <a:rPr lang="en-US" sz="2000" dirty="0" err="1"/>
              <a:t>UnChecked</a:t>
            </a:r>
            <a:r>
              <a:rPr lang="ru-RU" sz="2000" dirty="0"/>
              <a:t>-сброшен, </a:t>
            </a:r>
            <a:r>
              <a:rPr lang="en-US" sz="2000" dirty="0" err="1"/>
              <a:t>Undeterminate</a:t>
            </a:r>
            <a:r>
              <a:rPr lang="ru-RU" sz="2000" dirty="0"/>
              <a:t>-промежуточное состояние</a:t>
            </a:r>
          </a:p>
        </p:txBody>
      </p:sp>
    </p:spTree>
    <p:extLst>
      <p:ext uri="{BB962C8B-B14F-4D97-AF65-F5344CB8AC3E}">
        <p14:creationId xmlns:p14="http://schemas.microsoft.com/office/powerpoint/2010/main" val="33267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Переключатель значений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95536" y="2132856"/>
            <a:ext cx="7467600" cy="4392488"/>
          </a:xfrm>
        </p:spPr>
        <p:txBody>
          <a:bodyPr>
            <a:normAutofit/>
          </a:bodyPr>
          <a:lstStyle/>
          <a:p>
            <a:pPr algn="just"/>
            <a:r>
              <a:rPr lang="ru-RU" sz="2000" b="1" dirty="0"/>
              <a:t>Компонент </a:t>
            </a:r>
            <a:r>
              <a:rPr lang="en-US" sz="2000" b="1" dirty="0" err="1"/>
              <a:t>NumericUpDown</a:t>
            </a:r>
            <a:r>
              <a:rPr lang="en-US" sz="2000" b="1" dirty="0"/>
              <a:t> </a:t>
            </a:r>
            <a:r>
              <a:rPr lang="ru-RU" sz="2000" dirty="0"/>
              <a:t>предназначен для ввода числовых данных и представляет собой текстовое поле и две кнопки, используя которые можно переключать значения внутренней переменной-счетчика на определенную величину. Данные в поле редактирования можно также ввести вручную с клавиатуры.</a:t>
            </a:r>
          </a:p>
          <a:p>
            <a:pPr algn="just"/>
            <a:r>
              <a:rPr lang="ru-RU" sz="2000" dirty="0"/>
              <a:t>Диапазон изменения счётчика определяют свойства </a:t>
            </a:r>
            <a:r>
              <a:rPr lang="en-US" sz="2000" b="1" dirty="0"/>
              <a:t>Minimum</a:t>
            </a:r>
            <a:r>
              <a:rPr lang="ru-RU" sz="2000" dirty="0"/>
              <a:t> и </a:t>
            </a:r>
            <a:r>
              <a:rPr lang="en-US" sz="2000" b="1" dirty="0"/>
              <a:t>Maximum</a:t>
            </a:r>
            <a:r>
              <a:rPr lang="ru-RU" sz="2000" dirty="0"/>
              <a:t>, шаг изменения свойство </a:t>
            </a:r>
            <a:r>
              <a:rPr lang="en-US" sz="2000" b="1" dirty="0"/>
              <a:t>Increment</a:t>
            </a:r>
            <a:r>
              <a:rPr lang="ru-RU" sz="2000" dirty="0"/>
              <a:t>. Свойство </a:t>
            </a:r>
            <a:r>
              <a:rPr lang="en-US" sz="2000" b="1" dirty="0"/>
              <a:t>Value</a:t>
            </a:r>
            <a:r>
              <a:rPr lang="ru-RU" sz="2000" dirty="0"/>
              <a:t> задаёт значение, соответствующее содержимому поля редактирования. Увеличение или уменьшение значения происходит при каждом щелчке на одной из кнопок.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 l="3215" t="23048" r="58200" b="45724"/>
          <a:stretch>
            <a:fillRect/>
          </a:stretch>
        </p:blipFill>
        <p:spPr bwMode="auto">
          <a:xfrm>
            <a:off x="6156176" y="577900"/>
            <a:ext cx="1768624" cy="1410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38393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Список текстовых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992124"/>
            <a:ext cx="8027743" cy="4873752"/>
          </a:xfrm>
        </p:spPr>
        <p:txBody>
          <a:bodyPr/>
          <a:lstStyle/>
          <a:p>
            <a:pPr algn="just"/>
            <a:r>
              <a:rPr lang="ru-RU" sz="2000" b="1" dirty="0"/>
              <a:t>Компонент </a:t>
            </a:r>
            <a:r>
              <a:rPr lang="en-US" sz="2000" b="1" dirty="0" err="1"/>
              <a:t>ListBox</a:t>
            </a:r>
            <a:r>
              <a:rPr lang="ru-RU" sz="2000" dirty="0"/>
              <a:t> представляет собой список, в котором можно выбрать нужный элемент. </a:t>
            </a:r>
          </a:p>
          <a:p>
            <a:pPr algn="just"/>
            <a:r>
              <a:rPr lang="ru-RU" sz="2000" dirty="0"/>
              <a:t>Свойство </a:t>
            </a:r>
            <a:r>
              <a:rPr lang="en-US" sz="2000" b="1" dirty="0"/>
              <a:t>Items</a:t>
            </a:r>
            <a:r>
              <a:rPr lang="ru-RU" sz="2000" dirty="0"/>
              <a:t> задает элементы списка – строки, их можно внести с помощью специального редактора. Свойство </a:t>
            </a:r>
            <a:r>
              <a:rPr lang="en-US" sz="2000" b="1" dirty="0"/>
              <a:t>Items</a:t>
            </a:r>
            <a:r>
              <a:rPr lang="ru-RU" sz="2000" b="1" dirty="0"/>
              <a:t>.</a:t>
            </a:r>
            <a:r>
              <a:rPr lang="en-US" sz="2000" b="1" dirty="0"/>
              <a:t>Count</a:t>
            </a:r>
            <a:r>
              <a:rPr lang="ru-RU" sz="2000" b="1" dirty="0"/>
              <a:t> </a:t>
            </a:r>
            <a:r>
              <a:rPr lang="ru-RU" sz="2000" dirty="0"/>
              <a:t>определяет количество элементов списка. </a:t>
            </a:r>
          </a:p>
          <a:p>
            <a:pPr algn="just"/>
            <a:r>
              <a:rPr lang="ru-RU" sz="2000" dirty="0"/>
              <a:t>Свойство </a:t>
            </a:r>
            <a:r>
              <a:rPr lang="en-US" sz="2000" b="1" dirty="0"/>
              <a:t>Sorted</a:t>
            </a:r>
            <a:r>
              <a:rPr lang="ru-RU" sz="2000" dirty="0"/>
              <a:t> признак необходимости автоматической сортировки списка после добавления в него очередного элемента, это свойство может принимать значения </a:t>
            </a:r>
            <a:r>
              <a:rPr lang="en-US" sz="2000" dirty="0"/>
              <a:t>true</a:t>
            </a:r>
            <a:r>
              <a:rPr lang="ru-RU" sz="2000" dirty="0"/>
              <a:t>-надо сортировать, или  </a:t>
            </a:r>
            <a:r>
              <a:rPr lang="en-US" sz="2000" dirty="0"/>
              <a:t>false</a:t>
            </a:r>
            <a:r>
              <a:rPr lang="ru-RU" sz="2000" dirty="0"/>
              <a:t>-не надо сортировать.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3635333"/>
            <a:ext cx="3520604" cy="283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3495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Свойства списков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32689" y="1268760"/>
            <a:ext cx="7467600" cy="487375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Свойство </a:t>
            </a:r>
            <a:r>
              <a:rPr lang="en-US" b="1" dirty="0" err="1"/>
              <a:t>SelectedIndex</a:t>
            </a:r>
            <a:r>
              <a:rPr lang="ru-RU" dirty="0"/>
              <a:t> отвечает за номер выбранного элемента списка (строки нумеруются с нуля). Если в списке ни один элемент не выбран, то значение свойства равно -1.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 err="1"/>
              <a:t>SelectedItem</a:t>
            </a:r>
            <a:r>
              <a:rPr lang="ru-RU" dirty="0"/>
              <a:t> позволяет получить содержимое (текст) выбранной строки.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 err="1"/>
              <a:t>SelectionMode</a:t>
            </a:r>
            <a:r>
              <a:rPr lang="ru-RU" dirty="0"/>
              <a:t> определяет режим выбора элементов списка: </a:t>
            </a:r>
            <a:r>
              <a:rPr lang="en-US" dirty="0"/>
              <a:t>One</a:t>
            </a:r>
            <a:r>
              <a:rPr lang="ru-RU" dirty="0"/>
              <a:t>-можно выбрать только один элемент, </a:t>
            </a:r>
            <a:r>
              <a:rPr lang="en-US" dirty="0" err="1"/>
              <a:t>MultiSimple</a:t>
            </a:r>
            <a:r>
              <a:rPr lang="ru-RU" dirty="0"/>
              <a:t>-можно выбрать несколько элементов, щёлкнув по ним мышью, </a:t>
            </a:r>
            <a:r>
              <a:rPr lang="en-US" dirty="0" err="1"/>
              <a:t>MultiExtended</a:t>
            </a:r>
            <a:r>
              <a:rPr lang="ru-RU" dirty="0"/>
              <a:t>-можно выбрать несколько элементов, для выделения можно использовать клавиши </a:t>
            </a:r>
            <a:r>
              <a:rPr lang="en-US" dirty="0"/>
              <a:t>Ctrl</a:t>
            </a:r>
            <a:r>
              <a:rPr lang="ru-RU" dirty="0"/>
              <a:t> (отдельные элементы списка) и </a:t>
            </a:r>
            <a:r>
              <a:rPr lang="en-US" dirty="0"/>
              <a:t>Shift</a:t>
            </a:r>
            <a:r>
              <a:rPr lang="ru-RU" dirty="0"/>
              <a:t> (непрерывная область списка).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 err="1"/>
              <a:t>MultiColumn</a:t>
            </a:r>
            <a:r>
              <a:rPr lang="ru-RU" dirty="0"/>
              <a:t> признак необходимости отображать список в несколько колонок.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9913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3528" y="253365"/>
            <a:ext cx="5222726" cy="319930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403648" y="3334340"/>
            <a:ext cx="6986922" cy="339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 спискам можно применять следующие методы: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Add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добавляет в список новый элемент;</a:t>
            </a:r>
          </a:p>
          <a:p>
            <a:pPr>
              <a:spcAft>
                <a:spcPts val="0"/>
              </a:spcAft>
            </a:pPr>
            <a:r>
              <a:rPr lang="ru-RU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Clear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очищает список;</a:t>
            </a: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ontains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проверяет, содержится ли указанный элемент в списке;</a:t>
            </a: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Insert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вставляет элемент в список по указанному индексу;</a:t>
            </a:r>
          </a:p>
          <a:p>
            <a:pPr>
              <a:spcAft>
                <a:spcPts val="0"/>
              </a:spcAft>
            </a:pP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IndexOf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возвращает номер указанного элемента.</a:t>
            </a:r>
          </a:p>
          <a:p>
            <a:pPr>
              <a:spcAft>
                <a:spcPts val="0"/>
              </a:spcAft>
            </a:pP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listBox1.Items.Clear();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listBox1.Items.Add(textBox1.Text);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listBox1.Items.Insert(0,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Орёл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(listBox1.Items.Contains(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Москва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)) label1.Text=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Есть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label2.Text = listBox1.Items.IndexOf(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Москва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ToString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0420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Комбинированный список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340768"/>
            <a:ext cx="8003232" cy="216024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sz="2600" b="1" dirty="0"/>
              <a:t>Компонент </a:t>
            </a:r>
            <a:r>
              <a:rPr lang="en-US" sz="2600" b="1" dirty="0" err="1"/>
              <a:t>ComboBox</a:t>
            </a:r>
            <a:r>
              <a:rPr lang="ru-RU" sz="2600" dirty="0"/>
              <a:t> дает возможность ввести данные в поле редактирования путём набора на клавиатуре или выбрать из списка. </a:t>
            </a:r>
          </a:p>
          <a:p>
            <a:pPr algn="just"/>
            <a:r>
              <a:rPr lang="ru-RU" sz="2600" dirty="0"/>
              <a:t>Свойство </a:t>
            </a:r>
            <a:r>
              <a:rPr lang="en-US" sz="2600" b="1" dirty="0" err="1"/>
              <a:t>DropDownStyle</a:t>
            </a:r>
            <a:r>
              <a:rPr lang="ru-RU" sz="2600" dirty="0"/>
              <a:t> определяет вид компонента: </a:t>
            </a:r>
            <a:r>
              <a:rPr lang="en-US" sz="2600" dirty="0" err="1"/>
              <a:t>DropDown</a:t>
            </a:r>
            <a:r>
              <a:rPr lang="ru-RU" sz="2600" dirty="0"/>
              <a:t>-поле ввода и раскрывающийся список, </a:t>
            </a:r>
            <a:r>
              <a:rPr lang="en-US" sz="2600" dirty="0"/>
              <a:t>Simple</a:t>
            </a:r>
            <a:r>
              <a:rPr lang="ru-RU" sz="2600" dirty="0"/>
              <a:t>-поле ввода со списком, </a:t>
            </a:r>
            <a:r>
              <a:rPr lang="en-US" sz="2600" dirty="0" err="1"/>
              <a:t>DropDownList</a:t>
            </a:r>
            <a:r>
              <a:rPr lang="ru-RU" sz="2600" dirty="0"/>
              <a:t>-раскрывающийся список.</a:t>
            </a:r>
          </a:p>
          <a:p>
            <a:pPr algn="just"/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861048"/>
            <a:ext cx="7442597" cy="240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123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Комбинированный список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8003232" cy="487375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Свойство </a:t>
            </a:r>
            <a:r>
              <a:rPr lang="en-US" b="1" dirty="0"/>
              <a:t>Text</a:t>
            </a:r>
            <a:r>
              <a:rPr lang="ru-RU" dirty="0"/>
              <a:t> позволяет взять текст, находящийся в поле редактирования.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/>
              <a:t>Items</a:t>
            </a:r>
            <a:r>
              <a:rPr lang="ru-RU" dirty="0"/>
              <a:t> задает элементы списка – строки, их можно внести с помощью специального редактора.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/>
              <a:t>Items</a:t>
            </a:r>
            <a:r>
              <a:rPr lang="ru-RU" b="1" dirty="0"/>
              <a:t>.</a:t>
            </a:r>
            <a:r>
              <a:rPr lang="en-US" b="1" dirty="0"/>
              <a:t>Count</a:t>
            </a:r>
            <a:r>
              <a:rPr lang="ru-RU" dirty="0"/>
              <a:t> определяет количество элементов списка.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/>
              <a:t>Sorted</a:t>
            </a:r>
            <a:r>
              <a:rPr lang="ru-RU" b="1" dirty="0"/>
              <a:t> </a:t>
            </a:r>
            <a:r>
              <a:rPr lang="ru-RU" dirty="0"/>
              <a:t>признак необходимости автоматической сортировки списка после добавления в него очередного элемента.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 err="1"/>
              <a:t>SelectedIndex</a:t>
            </a:r>
            <a:r>
              <a:rPr lang="ru-RU" dirty="0"/>
              <a:t> отвечает за номер выбранного элемента списка (строки нумеруются с нуля). Если в списке ни один элемент не выбран, то значение свойства равно -1. </a:t>
            </a:r>
          </a:p>
          <a:p>
            <a:pPr algn="just"/>
            <a:r>
              <a:rPr lang="ru-RU" dirty="0"/>
              <a:t>Свойство </a:t>
            </a:r>
            <a:r>
              <a:rPr lang="en-US" b="1" dirty="0" err="1"/>
              <a:t>MaxDroupDownItems</a:t>
            </a:r>
            <a:r>
              <a:rPr lang="ru-RU" dirty="0"/>
              <a:t> задает количество отображаемых элементов в раскрытом списке. Если количество элементов списка больше, чем </a:t>
            </a:r>
            <a:r>
              <a:rPr lang="en-US" dirty="0" err="1"/>
              <a:t>MaxDroupDownItems</a:t>
            </a:r>
            <a:r>
              <a:rPr lang="ru-RU" dirty="0"/>
              <a:t>, то появляется вертикальная полоса прокрутки.</a:t>
            </a:r>
          </a:p>
        </p:txBody>
      </p:sp>
    </p:spTree>
    <p:extLst>
      <p:ext uri="{BB962C8B-B14F-4D97-AF65-F5344CB8AC3E}">
        <p14:creationId xmlns:p14="http://schemas.microsoft.com/office/powerpoint/2010/main" val="32241518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Список с флажками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75142" y="1182706"/>
            <a:ext cx="6131024" cy="2808312"/>
          </a:xfrm>
        </p:spPr>
        <p:txBody>
          <a:bodyPr>
            <a:normAutofit fontScale="85000" lnSpcReduction="20000"/>
          </a:bodyPr>
          <a:lstStyle/>
          <a:p>
            <a:r>
              <a:rPr lang="ru-RU" sz="2200" b="1" dirty="0"/>
              <a:t>Компонент </a:t>
            </a:r>
            <a:r>
              <a:rPr lang="en-US" sz="2200" b="1" dirty="0" err="1"/>
              <a:t>CheckedListBox</a:t>
            </a:r>
            <a:r>
              <a:rPr lang="ru-RU" sz="2200" dirty="0"/>
              <a:t> представляет собой список с флажками. Флажки могут иметь либо два состояния (установлен или сброшен). Можно пометить несколько элементов списка. </a:t>
            </a:r>
          </a:p>
          <a:p>
            <a:r>
              <a:rPr lang="ru-RU" sz="2200" dirty="0"/>
              <a:t>Свойство </a:t>
            </a:r>
            <a:r>
              <a:rPr lang="en-US" sz="2200" b="1" dirty="0" err="1"/>
              <a:t>CheckedItems</a:t>
            </a:r>
            <a:r>
              <a:rPr lang="ru-RU" sz="2200" dirty="0"/>
              <a:t> запоминает элементы, выбранные в списке. </a:t>
            </a:r>
          </a:p>
          <a:p>
            <a:pPr algn="just"/>
            <a:r>
              <a:rPr lang="ru-RU" sz="2200" dirty="0"/>
              <a:t>Свойство </a:t>
            </a:r>
            <a:r>
              <a:rPr lang="en-US" sz="2200" b="1" dirty="0" err="1"/>
              <a:t>CheckedIndices</a:t>
            </a:r>
            <a:r>
              <a:rPr lang="en-US" sz="2200" dirty="0"/>
              <a:t> </a:t>
            </a:r>
            <a:r>
              <a:rPr lang="ru-RU" sz="2200" dirty="0"/>
              <a:t>представляет номера выбранных элементов списка. </a:t>
            </a:r>
          </a:p>
          <a:p>
            <a:r>
              <a:rPr lang="ru-RU" sz="2200" dirty="0"/>
              <a:t>Остальные свойства этого компонента схожи со свойствами </a:t>
            </a:r>
            <a:r>
              <a:rPr lang="en-US" sz="2200" dirty="0" err="1"/>
              <a:t>ListBox</a:t>
            </a:r>
            <a:r>
              <a:rPr lang="ru-RU" sz="2200" dirty="0"/>
              <a:t>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 l="10379" t="17941" r="48608" b="40588"/>
          <a:stretch>
            <a:fillRect/>
          </a:stretch>
        </p:blipFill>
        <p:spPr bwMode="auto">
          <a:xfrm>
            <a:off x="6506166" y="1182706"/>
            <a:ext cx="216024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241176" y="4221088"/>
            <a:ext cx="8686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button1_Click(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{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&lt; checkedListBox1.SelectedItems.Count;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++)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label1.Text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= checkedListBox1.SelectedItems[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].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ToString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();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042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12 «Расчет заработной платы»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91680" y="908720"/>
            <a:ext cx="5400600" cy="4176464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sz="quarter" idx="1"/>
          </p:nvPr>
        </p:nvSpPr>
        <p:spPr>
          <a:xfrm>
            <a:off x="454073" y="5445224"/>
            <a:ext cx="7467600" cy="115212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b="1" dirty="0"/>
              <a:t>Программа должна рассчитывать: </a:t>
            </a:r>
          </a:p>
          <a:p>
            <a:pPr algn="just"/>
            <a:r>
              <a:rPr lang="ru-RU" dirty="0"/>
              <a:t>начисленную заработную плату для разных должностей с учётом сверхурочных часов; </a:t>
            </a:r>
          </a:p>
          <a:p>
            <a:pPr algn="just"/>
            <a:r>
              <a:rPr lang="ru-RU" dirty="0"/>
              <a:t>подоходный налог (13%), аванс, итого удержано и сумму к выдаче.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13136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92696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05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button1_Click(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MIN_stavka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350.00;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минимальная почасовая ставка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stavka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=0, p1, p2, sum = 0;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d, </a:t>
            </a:r>
            <a:r>
              <a:rPr lang="ru-RU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sv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d =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.ToInt32(numericUpDown1.Value);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// кол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во отработанных дней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sv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.ToInt32(textBox1.Text);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// кол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во сверхурочных часов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n = listBox1.SelectedIndex;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// номер выбранной строчки в списке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endParaRPr lang="ru-RU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stavka = MIN_stavka * (1 + 0.1 * n);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//почасовая ставка для должности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= d * 8 *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stavka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sv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stavka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* 1.5;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расчет заработной платы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p1 = </a:t>
            </a:r>
            <a:r>
              <a:rPr lang="ru-RU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* 0.13;         </a:t>
            </a:r>
            <a:r>
              <a:rPr lang="ru-RU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// подоходный налог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p2 = (</a:t>
            </a:r>
            <a:r>
              <a:rPr lang="ru-RU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- p1) * 0.4;   </a:t>
            </a:r>
            <a:r>
              <a:rPr lang="ru-RU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// аванс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label4.Text = 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 Итого начислено: 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+ </a:t>
            </a:r>
            <a:r>
              <a:rPr lang="ru-RU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sum.ToString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)	                           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   + 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"\n Подоходный налог: 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+ p1.ToString(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 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+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"\n 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Аванс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+ p2.ToString(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  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+ 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"\n Итого удержано: 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+ (p1 + p2).</a:t>
            </a:r>
            <a:r>
              <a:rPr lang="ru-RU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ToString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   + 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"\n Сумма к выдаче: 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+ (</a:t>
            </a:r>
            <a:r>
              <a:rPr lang="ru-RU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- p1 - p2).</a:t>
            </a:r>
            <a:r>
              <a:rPr lang="ru-RU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ToString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"C"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}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25EA6F0C-8FF8-4DDC-880F-97F53FC5B532}"/>
              </a:ext>
            </a:extLst>
          </p:cNvPr>
          <p:cNvSpPr/>
          <p:nvPr/>
        </p:nvSpPr>
        <p:spPr>
          <a:xfrm>
            <a:off x="1043608" y="2708920"/>
            <a:ext cx="3600400" cy="3273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="" xmlns:a16="http://schemas.microsoft.com/office/drawing/2014/main" id="{06F9EEFD-1199-458B-970D-E25CF3AF6D8D}"/>
              </a:ext>
            </a:extLst>
          </p:cNvPr>
          <p:cNvCxnSpPr>
            <a:cxnSpLocks/>
          </p:cNvCxnSpPr>
          <p:nvPr/>
        </p:nvCxnSpPr>
        <p:spPr>
          <a:xfrm>
            <a:off x="3995936" y="2924944"/>
            <a:ext cx="792088" cy="3273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503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50106"/>
          </a:xfrm>
        </p:spPr>
        <p:txBody>
          <a:bodyPr>
            <a:normAutofit fontScale="90000"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Проект «Расчёт скорости, расстояния, времени»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80294" y="1268760"/>
            <a:ext cx="7467600" cy="1900808"/>
          </a:xfrm>
        </p:spPr>
        <p:txBody>
          <a:bodyPr>
            <a:normAutofit/>
          </a:bodyPr>
          <a:lstStyle/>
          <a:p>
            <a:pPr algn="just"/>
            <a:r>
              <a:rPr lang="ru-RU" sz="2000" dirty="0"/>
              <a:t>Требуется разработать приложение, демонстрирующее использование зависимых кнопок выбора, для вычисления скорости, длины дистанции или времени по заданному значению двух величин.</a:t>
            </a:r>
          </a:p>
          <a:p>
            <a:pPr algn="just"/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852936"/>
            <a:ext cx="3384376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5115" y="2852936"/>
            <a:ext cx="3384376" cy="24482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01556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9552" y="260648"/>
            <a:ext cx="806489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radioButton1_Click(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label1.Text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Расстояние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км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label2.Text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Время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ч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5.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"Скорость (км/ч)"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label6.Text 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"Скорость (м/с)"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radioButton2_Click(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label1.Text 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"Скорость(км/ч)"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label2.Text 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"Время(ч)"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label5.Text 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"Расстояние (км)"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label6.Text 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"Расстояние (м)"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radioButton3_Click(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label1.Text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Расстояние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км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label2.Text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Скорость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км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ч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label5.Text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Время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ч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label6.Text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Время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277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52536" y="0"/>
            <a:ext cx="842493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private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button1_Click_1(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EventArgs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e)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try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{  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s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v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		// Исходные данные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r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0,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r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0;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		// Результаты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</a:t>
            </a:r>
            <a:endParaRPr lang="en-US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      if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(radioButton1.Checked ==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s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(textBox1.Text);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t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(textBox2.Text);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r1 = s / t;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Скорость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 км/ч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r2 = s / t * 10 / 36;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Скорость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 м/с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}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(radioButton2.Checked ==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v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(textBox1.Text);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t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Convert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.ToDouble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(textBox2.Text);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r1 = v * t;   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Расстояние в км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r2 = r1 * 1000;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Расстояние в м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	…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label3.Text = r1.ToString(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"F2"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);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Вывод результатов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    label4.Text = r2.ToString(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"F2"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}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catch</a:t>
            </a:r>
            <a:r>
              <a:rPr lang="ru-RU" sz="16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DialogResult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res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MessageBox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.Show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Введите корректные данные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r>
              <a:rPr lang="ru-RU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     }</a:t>
            </a:r>
            <a:endParaRPr lang="ru-RU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</a:rPr>
              <a:t>       }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42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1876</TotalTime>
  <Words>4213</Words>
  <Application>Microsoft Office PowerPoint</Application>
  <PresentationFormat>Экран (4:3)</PresentationFormat>
  <Paragraphs>720</Paragraphs>
  <Slides>72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72</vt:i4>
      </vt:variant>
    </vt:vector>
  </HeadingPairs>
  <TitlesOfParts>
    <vt:vector size="83" baseType="lpstr">
      <vt:lpstr>Arial</vt:lpstr>
      <vt:lpstr>Calibri</vt:lpstr>
      <vt:lpstr>Calibri Light</vt:lpstr>
      <vt:lpstr>Century Schoolbook</vt:lpstr>
      <vt:lpstr>Consolas</vt:lpstr>
      <vt:lpstr>Cooper Std Black</vt:lpstr>
      <vt:lpstr>Times New Roman</vt:lpstr>
      <vt:lpstr>Wingdings</vt:lpstr>
      <vt:lpstr>Wingdings 2</vt:lpstr>
      <vt:lpstr>Эркер</vt:lpstr>
      <vt:lpstr>Тема Office</vt:lpstr>
      <vt:lpstr>Программирование в визуальной среде Visual Studio</vt:lpstr>
      <vt:lpstr>Запуск среды программирования</vt:lpstr>
      <vt:lpstr>Команды главного меню Таблица 1</vt:lpstr>
      <vt:lpstr>Панели инструментов</vt:lpstr>
      <vt:lpstr>Панели инструментов</vt:lpstr>
      <vt:lpstr>Настройка панели инструментов</vt:lpstr>
      <vt:lpstr>Настройка редактора кода</vt:lpstr>
      <vt:lpstr>Конструирование пользовательского интерфейса</vt:lpstr>
      <vt:lpstr>Стандартные элементы управления</vt:lpstr>
      <vt:lpstr>Презентация PowerPoint</vt:lpstr>
      <vt:lpstr>Окно свойств</vt:lpstr>
      <vt:lpstr>Презентация PowerPoint</vt:lpstr>
      <vt:lpstr>Свойства компонентов</vt:lpstr>
      <vt:lpstr>Изменение свойств</vt:lpstr>
      <vt:lpstr>Состав проекта</vt:lpstr>
      <vt:lpstr>Обозреватель решений</vt:lpstr>
      <vt:lpstr>Файл проекта</vt:lpstr>
      <vt:lpstr>Файл описания формы</vt:lpstr>
      <vt:lpstr>Состав проекта</vt:lpstr>
      <vt:lpstr>Презентация PowerPoint</vt:lpstr>
      <vt:lpstr>Создание методов обработки событий</vt:lpstr>
      <vt:lpstr>Создание методов обработки событий </vt:lpstr>
      <vt:lpstr>Окно редактора кода</vt:lpstr>
      <vt:lpstr>Создание событий</vt:lpstr>
      <vt:lpstr>Создание событий</vt:lpstr>
      <vt:lpstr>Общие методы обработки событий</vt:lpstr>
      <vt:lpstr>Общие методы обработки событий</vt:lpstr>
      <vt:lpstr>События компонентов</vt:lpstr>
      <vt:lpstr>Презентация PowerPoint</vt:lpstr>
      <vt:lpstr>Проект 1 «Получение и потеря фокуса»</vt:lpstr>
      <vt:lpstr>Проект 1 «Получение и потеря фокуса»</vt:lpstr>
      <vt:lpstr>Проект 2 «Определение кода нажатой клавиши»</vt:lpstr>
      <vt:lpstr>Проект 3 «Исчезающие кнопки»</vt:lpstr>
      <vt:lpstr>Проект 3 «Исчезающие кнопки»</vt:lpstr>
      <vt:lpstr>Проект 4 «Скорость бега»</vt:lpstr>
      <vt:lpstr>Презентация PowerPoint</vt:lpstr>
      <vt:lpstr>Проект 4 «Скорость бега»</vt:lpstr>
      <vt:lpstr>Проект 4 «Скорость бега»</vt:lpstr>
      <vt:lpstr>Динамическое создание компонентов</vt:lpstr>
      <vt:lpstr>Динамическое создание компонентов</vt:lpstr>
      <vt:lpstr>Назначение событий динамически созданным компонентам</vt:lpstr>
      <vt:lpstr>Презентация PowerPoint</vt:lpstr>
      <vt:lpstr>Динамическое создание компонентов</vt:lpstr>
      <vt:lpstr>Динамическое создание разных компонентов</vt:lpstr>
      <vt:lpstr>Удаление компонентов с панели</vt:lpstr>
      <vt:lpstr>Общая характеристика визуальных компонентов</vt:lpstr>
      <vt:lpstr>Визуальные компоненты</vt:lpstr>
      <vt:lpstr>Компонент textBox</vt:lpstr>
      <vt:lpstr>Методы элементов управления</vt:lpstr>
      <vt:lpstr>Командная кнопка</vt:lpstr>
      <vt:lpstr>Командная кнопка</vt:lpstr>
      <vt:lpstr>Всплывающие подсказки</vt:lpstr>
      <vt:lpstr>Проект 4 «Управление движением рисунка»</vt:lpstr>
      <vt:lpstr>Компоненты – переключатели</vt:lpstr>
      <vt:lpstr>Компоненты-переключатели можно разделить на два вида:</vt:lpstr>
      <vt:lpstr>Зависимые кнопки выбора</vt:lpstr>
      <vt:lpstr>Событие изменения состояния включения</vt:lpstr>
      <vt:lpstr>Событие изменения состояния включения</vt:lpstr>
      <vt:lpstr>Использование свойства Checked</vt:lpstr>
      <vt:lpstr>независимые кнопки (переключатели)</vt:lpstr>
      <vt:lpstr>Переключатель значений</vt:lpstr>
      <vt:lpstr>Список текстовых строк</vt:lpstr>
      <vt:lpstr>Свойства списков</vt:lpstr>
      <vt:lpstr>Презентация PowerPoint</vt:lpstr>
      <vt:lpstr>Комбинированный список</vt:lpstr>
      <vt:lpstr>Комбинированный список</vt:lpstr>
      <vt:lpstr>Список с флажками</vt:lpstr>
      <vt:lpstr>Проект 12 «Расчет заработной платы»</vt:lpstr>
      <vt:lpstr>Презентация PowerPoint</vt:lpstr>
      <vt:lpstr>Проект «Расчёт скорости, расстояния, времени»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Рабочая</dc:creator>
  <cp:lastModifiedBy>user</cp:lastModifiedBy>
  <cp:revision>93</cp:revision>
  <dcterms:created xsi:type="dcterms:W3CDTF">2018-02-12T06:26:13Z</dcterms:created>
  <dcterms:modified xsi:type="dcterms:W3CDTF">2025-10-28T12:06:50Z</dcterms:modified>
</cp:coreProperties>
</file>