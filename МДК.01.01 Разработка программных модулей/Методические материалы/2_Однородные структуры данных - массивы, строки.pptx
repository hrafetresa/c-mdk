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2" r:id="rId1"/>
    <p:sldMasterId id="2147483720" r:id="rId2"/>
  </p:sldMasterIdLst>
  <p:notesMasterIdLst>
    <p:notesMasterId r:id="rId50"/>
  </p:notesMasterIdLst>
  <p:sldIdLst>
    <p:sldId id="256" r:id="rId3"/>
    <p:sldId id="267" r:id="rId4"/>
    <p:sldId id="257" r:id="rId5"/>
    <p:sldId id="332" r:id="rId6"/>
    <p:sldId id="258" r:id="rId7"/>
    <p:sldId id="259" r:id="rId8"/>
    <p:sldId id="260" r:id="rId9"/>
    <p:sldId id="261" r:id="rId10"/>
    <p:sldId id="262" r:id="rId11"/>
    <p:sldId id="266" r:id="rId12"/>
    <p:sldId id="263" r:id="rId13"/>
    <p:sldId id="264" r:id="rId14"/>
    <p:sldId id="265" r:id="rId15"/>
    <p:sldId id="268" r:id="rId16"/>
    <p:sldId id="271" r:id="rId17"/>
    <p:sldId id="269" r:id="rId18"/>
    <p:sldId id="272" r:id="rId19"/>
    <p:sldId id="324" r:id="rId20"/>
    <p:sldId id="323" r:id="rId21"/>
    <p:sldId id="329" r:id="rId22"/>
    <p:sldId id="331" r:id="rId23"/>
    <p:sldId id="330" r:id="rId24"/>
    <p:sldId id="325" r:id="rId25"/>
    <p:sldId id="326" r:id="rId26"/>
    <p:sldId id="327" r:id="rId27"/>
    <p:sldId id="308" r:id="rId28"/>
    <p:sldId id="321" r:id="rId29"/>
    <p:sldId id="306" r:id="rId30"/>
    <p:sldId id="270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328" r:id="rId48"/>
    <p:sldId id="33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32" autoAdjust="0"/>
  </p:normalViewPr>
  <p:slideViewPr>
    <p:cSldViewPr snapToGrid="0">
      <p:cViewPr varScale="1">
        <p:scale>
          <a:sx n="67" d="100"/>
          <a:sy n="67" d="100"/>
        </p:scale>
        <p:origin x="780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7655C-3223-4DCF-AEA6-B4D7142DA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3581C-C697-414C-974B-B62F23E6CE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66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13581C-C697-414C-974B-B62F23E6CECA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706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61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86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90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09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78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71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218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02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12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2080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081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1338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29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360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25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536C6A-5760-45B4-8A28-D72BAE7F6F3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6319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2C48DCA-6CA1-4F35-9F0D-5B12D4519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4E2F6999-AC49-474B-9038-7621C7DB7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9392077-542A-4725-91A5-0CFA8CCE7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94CE319-C84C-459F-BC70-FC41B8BD6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B2B8AA5-B4B0-49D2-BBA7-9D914FFB6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8440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47188CA-8A09-4576-AA14-E10FA753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70E293F-DA7A-480F-90BB-CFABEA46F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BC125F6E-E8E8-41F4-A7F1-9966C3B0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16929AA-D1B4-4337-B2D3-35CAB119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055039F-E27D-4DC0-AA09-6D6879C5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717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CFB57DF-A8AA-40D1-B660-74BEF15E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0398A631-0D3E-4A55-B032-A4B90A38D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76A23BA-7ADB-4F4C-914F-627D71625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2E4816C-5C3D-4621-B6C6-D2E6C068E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656E2E3-F1BF-4312-9B25-A69C17D6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241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AF5C6CC-FCAC-466B-BDBA-DE7D64E62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2069492-D9BB-4582-9AB6-0175146CE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63026321-A915-4AA4-B696-D85F6FC7D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B5408369-A393-4267-ACC8-C3E7C8382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487389CC-5182-456E-B58A-95960C20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1953D139-CEDA-4AC5-BDFE-DE48D94D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099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840B9C3-7D5A-45E0-9733-BBCD802B4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4802A112-2A8F-4BCF-B58A-CF4274AF6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605F74F0-A420-4CD4-8D35-B2C7C100D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774BE58B-3549-422A-8799-163DE95C1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4ADBAA19-2845-43CA-9B2A-CF1FA61DC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73216DCA-B893-4A0B-B4CF-390DE289D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193C32FE-3665-4F73-8C84-391535598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7F56A87A-1BD4-418E-8EA0-97B05D3F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3256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AC0B4E2-D060-40AE-A5EF-EFB19882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A080FA89-6D03-440D-B54E-3DD637623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C7C2E760-C6C8-4F4E-AC81-A383A323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3E51C13F-0D66-4EB6-A95A-55F225EA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854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19C51711-9AFE-4738-A5FB-89BF02C6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55F7F918-743E-4650-AC0E-07AC26685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5A16D9C8-44EA-4EA9-B2CA-9C5CE7D0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788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C960B00-D34D-4A00-A50C-7708662F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DF73DDD-D9AC-48EF-A537-D6C5ECBE1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05850D5B-DA36-42F3-8F6A-8AAE3C315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6E59977E-55A1-444F-A657-B48BD88F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F30CB322-666D-4F32-8ED7-EC11C717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949E4C02-FE54-446B-B6C0-38F46EF5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8813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AF4B111-B807-4693-890E-309EECFC9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FB2CE38A-B276-4776-B0F1-0FF9401DA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7BF046C1-77EE-4343-B26B-BD4B22049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061711E6-79C4-4A1A-BE4B-B0765061B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EB64F5CD-BD7F-4557-A698-1CD63CC5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580B8A5A-7016-4994-B572-62E80C89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6296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0E93999-02D8-43F9-85A3-852BB7776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77CBC73F-9960-456D-A494-2C437F40F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BCB37847-986B-4AAD-86F8-E18F3876D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1413E92-5A73-4565-89DA-DCFFF1F98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92ED6BC-A3A2-4BFA-BFA0-118231BB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2497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889A9B0B-81D9-4F91-BF7E-11725F327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D57FC155-39B1-4127-892A-F012D8CF5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91D12DF-089C-4FFA-8A06-4A6222451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797A1F7-1599-440F-9B27-21226292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882C1103-70C5-444A-80AE-84022264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6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90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0A1A73F-CB7C-487C-8CA2-5C5F0C1A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1E2B9FC-FC67-4D03-8548-EA4A37881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7EF9D02B-CB3A-49A8-BACC-6D5CB4C11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B0FB4A9-9A08-4375-940D-BE7687075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03E3321-8283-4AE7-A397-847AB846D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159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1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53737" y="1297577"/>
            <a:ext cx="8220266" cy="2753259"/>
          </a:xfrm>
        </p:spPr>
        <p:txBody>
          <a:bodyPr/>
          <a:lstStyle/>
          <a:p>
            <a:r>
              <a:rPr lang="ru-RU" sz="4400" dirty="0"/>
              <a:t>Однородные структуры данных: массивы, строки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+mj-lt"/>
              </a:rPr>
              <a:t>МДК.01.01 Разработка программных модулей</a:t>
            </a:r>
          </a:p>
        </p:txBody>
      </p:sp>
    </p:spTree>
    <p:extLst>
      <p:ext uri="{BB962C8B-B14F-4D97-AF65-F5344CB8AC3E}">
        <p14:creationId xmlns:p14="http://schemas.microsoft.com/office/powerpoint/2010/main" val="144088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Массивы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+mj-lt"/>
              </a:rPr>
              <a:t>Раздел </a:t>
            </a:r>
            <a:r>
              <a:rPr lang="en-US" sz="2400" dirty="0">
                <a:latin typeface="+mj-lt"/>
              </a:rPr>
              <a:t>I</a:t>
            </a:r>
            <a:endParaRPr lang="ru-RU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857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6054" y="264160"/>
            <a:ext cx="8596668" cy="812800"/>
          </a:xfrm>
        </p:spPr>
        <p:txBody>
          <a:bodyPr/>
          <a:lstStyle/>
          <a:p>
            <a:r>
              <a:rPr lang="ru-RU" dirty="0"/>
              <a:t>Что такое</a:t>
            </a:r>
            <a:r>
              <a:rPr lang="ru-RU" baseline="0" dirty="0"/>
              <a:t> массив?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014" y="1243118"/>
            <a:ext cx="9320106" cy="3811961"/>
          </a:xfrm>
        </p:spPr>
        <p:txBody>
          <a:bodyPr>
            <a:normAutofit/>
          </a:bodyPr>
          <a:lstStyle/>
          <a:p>
            <a:r>
              <a:rPr lang="ru-RU" sz="3100" b="1" dirty="0"/>
              <a:t>Массив</a:t>
            </a:r>
            <a:r>
              <a:rPr lang="ru-RU" sz="3100" dirty="0"/>
              <a:t> </a:t>
            </a:r>
            <a:r>
              <a:rPr lang="en-US" sz="3100" dirty="0"/>
              <a:t>– </a:t>
            </a:r>
            <a:r>
              <a:rPr lang="ru-RU" sz="3100" dirty="0"/>
              <a:t>это набор однотипных данных, имеющий общее имя.</a:t>
            </a:r>
          </a:p>
          <a:p>
            <a:r>
              <a:rPr lang="ru-RU" sz="3100" dirty="0"/>
              <a:t>Элементы массива в памяти располагаются последовательно, в соседних ячейках.</a:t>
            </a:r>
            <a:endParaRPr lang="en-US" sz="3100" dirty="0"/>
          </a:p>
          <a:p>
            <a:r>
              <a:rPr lang="ru-RU" sz="3100" dirty="0"/>
              <a:t> Объявление массива похоже на объявление переменной за тем исключением, что после указания типа ставятся квадратные скобки.</a:t>
            </a:r>
          </a:p>
          <a:p>
            <a:pPr marL="0" indent="0">
              <a:buNone/>
            </a:pPr>
            <a:endParaRPr lang="ru-RU" sz="3100" dirty="0"/>
          </a:p>
          <a:p>
            <a:pPr marL="0" indent="0">
              <a:buNone/>
            </a:pPr>
            <a:endParaRPr lang="ru-RU" sz="31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305" y="5307086"/>
            <a:ext cx="3160805" cy="45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3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6054" y="264160"/>
            <a:ext cx="8596668" cy="812800"/>
          </a:xfrm>
        </p:spPr>
        <p:txBody>
          <a:bodyPr/>
          <a:lstStyle/>
          <a:p>
            <a:r>
              <a:rPr lang="ru-RU" dirty="0"/>
              <a:t>Выделение памяти под массив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0652" y="1143969"/>
            <a:ext cx="9206812" cy="4805839"/>
          </a:xfrm>
        </p:spPr>
        <p:txBody>
          <a:bodyPr>
            <a:normAutofit fontScale="92500" lnSpcReduction="10000"/>
          </a:bodyPr>
          <a:lstStyle/>
          <a:p>
            <a:endParaRPr lang="ru-RU" sz="3100" dirty="0"/>
          </a:p>
          <a:p>
            <a:pPr marL="0" indent="0">
              <a:buNone/>
            </a:pPr>
            <a:endParaRPr lang="ru-RU" sz="3100" dirty="0"/>
          </a:p>
          <a:p>
            <a:pPr marL="0" indent="0">
              <a:buNone/>
            </a:pPr>
            <a:endParaRPr lang="ru-RU" sz="3100" dirty="0"/>
          </a:p>
          <a:p>
            <a:r>
              <a:rPr lang="ru-RU" sz="3100" dirty="0"/>
              <a:t>Здесь вначале мы объявили массив </a:t>
            </a:r>
            <a:r>
              <a:rPr lang="ru-RU" sz="3100" dirty="0" err="1"/>
              <a:t>nums</a:t>
            </a:r>
            <a:r>
              <a:rPr lang="ru-RU" sz="3100" dirty="0"/>
              <a:t>, который будет хранить данные типа </a:t>
            </a:r>
            <a:r>
              <a:rPr lang="ru-RU" sz="3100" dirty="0" err="1"/>
              <a:t>int</a:t>
            </a:r>
            <a:r>
              <a:rPr lang="ru-RU" sz="3100" dirty="0"/>
              <a:t>. </a:t>
            </a:r>
          </a:p>
          <a:p>
            <a:r>
              <a:rPr lang="ru-RU" sz="3100" dirty="0"/>
              <a:t>Далее используя операцию </a:t>
            </a:r>
            <a:r>
              <a:rPr lang="ru-RU" sz="3100" b="1" dirty="0" err="1"/>
              <a:t>new</a:t>
            </a:r>
            <a:r>
              <a:rPr lang="ru-RU" sz="3100" dirty="0"/>
              <a:t>, мы выделили память для 4 элементов массива. </a:t>
            </a:r>
          </a:p>
          <a:p>
            <a:r>
              <a:rPr lang="ru-RU" sz="3100" dirty="0"/>
              <a:t>При таком определении все элементы получают значение по умолчанию, которое предусмотрено для их типа. Для типа </a:t>
            </a:r>
            <a:r>
              <a:rPr lang="ru-RU" sz="3100" b="1" dirty="0" err="1"/>
              <a:t>int</a:t>
            </a:r>
            <a:r>
              <a:rPr lang="ru-RU" sz="3100" dirty="0"/>
              <a:t> значение по умолчанию </a:t>
            </a:r>
            <a:r>
              <a:rPr lang="ru-RU" sz="3100" b="1" dirty="0"/>
              <a:t>0</a:t>
            </a:r>
            <a:r>
              <a:rPr lang="ru-RU" sz="3100" dirty="0"/>
              <a:t>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99" y="1855921"/>
            <a:ext cx="4795201" cy="45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6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32252"/>
            <a:ext cx="8596668" cy="1320800"/>
          </a:xfrm>
        </p:spPr>
        <p:txBody>
          <a:bodyPr/>
          <a:lstStyle/>
          <a:p>
            <a:r>
              <a:rPr lang="ru-RU" dirty="0"/>
              <a:t>Индексы и получение элементов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553052"/>
            <a:ext cx="8596668" cy="1690051"/>
          </a:xfrm>
        </p:spPr>
        <p:txBody>
          <a:bodyPr>
            <a:noAutofit/>
          </a:bodyPr>
          <a:lstStyle/>
          <a:p>
            <a:r>
              <a:rPr lang="ru-RU" sz="2400" dirty="0"/>
              <a:t>Для обращения к элементам массива используются </a:t>
            </a:r>
            <a:r>
              <a:rPr lang="ru-RU" sz="2400" b="1" dirty="0"/>
              <a:t>индексы</a:t>
            </a:r>
            <a:r>
              <a:rPr lang="ru-RU" sz="2400" dirty="0"/>
              <a:t>. Индекс представляет номер элемента в массиве, при этом нумерация начинается с нуля, поэтому индекс первого элемента будет равен 0, индекс четвертого элемента 3.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3325072"/>
            <a:ext cx="4780793" cy="157303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17" y="3325071"/>
            <a:ext cx="5091666" cy="15730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" y="5384620"/>
            <a:ext cx="10486794" cy="112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3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Свойство </a:t>
            </a:r>
            <a:r>
              <a:rPr lang="ru-RU" sz="3600" b="1" i="0" kern="1200" dirty="0" err="1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Length</a:t>
            </a:r>
            <a:r>
              <a:rPr lang="ru-RU" sz="3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 и длина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52589"/>
            <a:ext cx="8596668" cy="1273491"/>
          </a:xfrm>
        </p:spPr>
        <p:txBody>
          <a:bodyPr>
            <a:noAutofit/>
          </a:bodyPr>
          <a:lstStyle/>
          <a:p>
            <a:r>
              <a:rPr lang="ru-RU" sz="2400" dirty="0"/>
              <a:t>Каждый массив имеет свойство </a:t>
            </a:r>
            <a:r>
              <a:rPr lang="ru-RU" sz="2400" b="1" dirty="0" err="1"/>
              <a:t>Length</a:t>
            </a:r>
            <a:r>
              <a:rPr lang="ru-RU" sz="2400" dirty="0"/>
              <a:t>, которое хранит длину массива. Например, получим длину выше созданного массива </a:t>
            </a:r>
            <a:r>
              <a:rPr lang="ru-RU" sz="2400" dirty="0" err="1"/>
              <a:t>numbers</a:t>
            </a:r>
            <a:r>
              <a:rPr lang="ru-RU" sz="2400" dirty="0"/>
              <a:t>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27" y="3034349"/>
            <a:ext cx="5493275" cy="127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8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2374" y="152400"/>
            <a:ext cx="9330266" cy="853440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Получение элементов с конца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2374" y="900749"/>
            <a:ext cx="9675706" cy="867091"/>
          </a:xfrm>
        </p:spPr>
        <p:txBody>
          <a:bodyPr>
            <a:normAutofit/>
          </a:bodyPr>
          <a:lstStyle/>
          <a:p>
            <a:r>
              <a:rPr lang="ru-RU" sz="2400" dirty="0"/>
              <a:t>Благодаря наличию свойства </a:t>
            </a:r>
            <a:r>
              <a:rPr lang="ru-RU" sz="2400" dirty="0" err="1"/>
              <a:t>Length</a:t>
            </a:r>
            <a:r>
              <a:rPr lang="ru-RU" sz="2400" dirty="0"/>
              <a:t>, мы можем вычислить индекс последнего элемента массива - это длина массива - 1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1690696"/>
            <a:ext cx="6854680" cy="188454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" y="4975339"/>
            <a:ext cx="7645009" cy="180560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362374" y="3710964"/>
            <a:ext cx="947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4A66AC">
                  <a:lumMod val="75000"/>
                </a:srgbClr>
              </a:buClr>
              <a:buSzPct val="80000"/>
              <a:buFont typeface="Wingdings 3" charset="2"/>
              <a:buChar char=""/>
            </a:pPr>
            <a:r>
              <a:rPr lang="ru-RU" sz="2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Начиная, с версии C# 8.0 в язык был добавлен специальный оператор </a:t>
            </a:r>
            <a:r>
              <a:rPr lang="ru-RU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^</a:t>
            </a:r>
            <a:r>
              <a:rPr lang="ru-RU" sz="2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с помощью которого можно задать индекс относительно конца коллекции.</a:t>
            </a:r>
          </a:p>
        </p:txBody>
      </p:sp>
    </p:spTree>
    <p:extLst>
      <p:ext uri="{BB962C8B-B14F-4D97-AF65-F5344CB8AC3E}">
        <p14:creationId xmlns:p14="http://schemas.microsoft.com/office/powerpoint/2010/main" val="221944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60669"/>
            <a:ext cx="8596668" cy="1320800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Перебор массивов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00167"/>
            <a:ext cx="8596668" cy="846771"/>
          </a:xfrm>
        </p:spPr>
        <p:txBody>
          <a:bodyPr>
            <a:normAutofit/>
          </a:bodyPr>
          <a:lstStyle/>
          <a:p>
            <a:r>
              <a:rPr lang="ru-RU" sz="2400" dirty="0"/>
              <a:t>Для перебора массивов мы можем использовать различные типы циклов: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DAABFAA5-1EAF-4344-88C8-E0FA4B6EF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713" y="4443408"/>
            <a:ext cx="4743450" cy="111442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46E841D5-B2DC-457A-9433-7033D57EE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95" y="2298771"/>
            <a:ext cx="4980168" cy="17470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1AF8E6E8-E3F3-4E12-A373-A102D1CA0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438" y="2298491"/>
            <a:ext cx="5076883" cy="1747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581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Многомерные массивы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4322" y="1611949"/>
            <a:ext cx="6949758" cy="2055811"/>
          </a:xfrm>
        </p:spPr>
        <p:txBody>
          <a:bodyPr>
            <a:normAutofit/>
          </a:bodyPr>
          <a:lstStyle/>
          <a:p>
            <a:r>
              <a:rPr lang="ru-RU" sz="2400" dirty="0"/>
              <a:t>Массивы которые имеют два измерения (ранг равен 2) называют двухмерными. </a:t>
            </a:r>
          </a:p>
          <a:p>
            <a:r>
              <a:rPr lang="ru-RU" sz="2400" dirty="0"/>
              <a:t>Например, создадим одномерный и двухмерный массивы, которые имеют одинаковые элементы: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622308"/>
            <a:ext cx="6543675" cy="11049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942" y="457199"/>
            <a:ext cx="3910458" cy="596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0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Различные способы объявления многомерных массивов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82495"/>
            <a:ext cx="8939448" cy="244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4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Массив массивов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99394"/>
            <a:ext cx="8974666" cy="978851"/>
          </a:xfrm>
        </p:spPr>
        <p:txBody>
          <a:bodyPr>
            <a:normAutofit/>
          </a:bodyPr>
          <a:lstStyle/>
          <a:p>
            <a:r>
              <a:rPr lang="ru-RU" sz="2400" dirty="0"/>
              <a:t>От многомерных массивов надо отличать </a:t>
            </a:r>
            <a:r>
              <a:rPr lang="ru-RU" sz="2400" b="1" dirty="0"/>
              <a:t>массив массивов</a:t>
            </a:r>
            <a:r>
              <a:rPr lang="ru-RU" sz="2400" dirty="0"/>
              <a:t> или так называемый "зубчатый массив":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55" y="2478246"/>
            <a:ext cx="6128776" cy="164353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55" y="4502465"/>
            <a:ext cx="4678045" cy="187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7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Основные понятия массивов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42429"/>
            <a:ext cx="8596668" cy="2370771"/>
          </a:xfrm>
        </p:spPr>
        <p:txBody>
          <a:bodyPr>
            <a:normAutofit lnSpcReduction="10000"/>
          </a:bodyPr>
          <a:lstStyle/>
          <a:p>
            <a:r>
              <a:rPr lang="ru-RU" sz="2400" b="1" dirty="0"/>
              <a:t>Ранг</a:t>
            </a:r>
            <a:r>
              <a:rPr lang="ru-RU" sz="2400" dirty="0"/>
              <a:t> (</a:t>
            </a:r>
            <a:r>
              <a:rPr lang="ru-RU" sz="2400" dirty="0" err="1"/>
              <a:t>rank</a:t>
            </a:r>
            <a:r>
              <a:rPr lang="ru-RU" sz="2400" dirty="0"/>
              <a:t>): количество измерений массива – одномерный, двухмерный, трехмерный и т.д.</a:t>
            </a:r>
          </a:p>
          <a:p>
            <a:r>
              <a:rPr lang="ru-RU" sz="2400" b="1" dirty="0"/>
              <a:t>Длина измерения</a:t>
            </a:r>
            <a:r>
              <a:rPr lang="ru-RU" sz="2400" dirty="0"/>
              <a:t> (</a:t>
            </a:r>
            <a:r>
              <a:rPr lang="ru-RU" sz="2400" dirty="0" err="1"/>
              <a:t>dimension</a:t>
            </a:r>
            <a:r>
              <a:rPr lang="ru-RU" sz="2400" dirty="0"/>
              <a:t> </a:t>
            </a:r>
            <a:r>
              <a:rPr lang="ru-RU" sz="2400" dirty="0" err="1"/>
              <a:t>length</a:t>
            </a:r>
            <a:r>
              <a:rPr lang="ru-RU" sz="2400" dirty="0"/>
              <a:t>): длина отдельного измерения массива</a:t>
            </a:r>
          </a:p>
          <a:p>
            <a:r>
              <a:rPr lang="ru-RU" sz="2400" b="1" dirty="0"/>
              <a:t>Длина массива</a:t>
            </a:r>
            <a:r>
              <a:rPr lang="ru-RU" sz="2400" dirty="0"/>
              <a:t> (</a:t>
            </a:r>
            <a:r>
              <a:rPr lang="ru-RU" sz="2400" dirty="0" err="1"/>
              <a:t>array</a:t>
            </a:r>
            <a:r>
              <a:rPr lang="ru-RU" sz="2400" dirty="0"/>
              <a:t> </a:t>
            </a:r>
            <a:r>
              <a:rPr lang="ru-RU" sz="2400" dirty="0" err="1"/>
              <a:t>length</a:t>
            </a:r>
            <a:r>
              <a:rPr lang="ru-RU" sz="2400" dirty="0"/>
              <a:t>): общее количество всех элементов массива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05" y="4414001"/>
            <a:ext cx="44862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0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1886"/>
          </a:xfrm>
        </p:spPr>
        <p:txBody>
          <a:bodyPr>
            <a:normAutofit/>
          </a:bodyPr>
          <a:lstStyle/>
          <a:p>
            <a:r>
              <a:rPr lang="ru-RU" sz="4000" b="1" i="1" kern="120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Примеры массивов:</a:t>
            </a:r>
            <a:endParaRPr lang="ru-RU" sz="4800" b="1" i="1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5475"/>
          <a:stretch/>
        </p:blipFill>
        <p:spPr>
          <a:xfrm>
            <a:off x="184934" y="1302972"/>
            <a:ext cx="11906053" cy="518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8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3146" y="258619"/>
            <a:ext cx="8596668" cy="1422400"/>
          </a:xfrm>
        </p:spPr>
        <p:txBody>
          <a:bodyPr>
            <a:normAutofit fontScale="90000"/>
          </a:bodyPr>
          <a:lstStyle/>
          <a:p>
            <a:r>
              <a:rPr lang="ru-RU" i="1" dirty="0"/>
              <a:t>Пример обработки массива</a:t>
            </a:r>
            <a:br>
              <a:rPr lang="ru-RU" i="1" dirty="0"/>
            </a:br>
            <a:r>
              <a:rPr lang="ru-RU" sz="3100" dirty="0">
                <a:solidFill>
                  <a:schemeClr val="tx1"/>
                </a:solidFill>
              </a:rPr>
              <a:t>Вычисление количества положительных элементов массива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45" y="1958861"/>
            <a:ext cx="8777223" cy="379477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13145" y="5794837"/>
            <a:ext cx="846829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Запишите решение аналогичной задачи для двухмерного массива из 3 строк и 4 столбцов.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81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4621" y="64656"/>
            <a:ext cx="8596668" cy="1422400"/>
          </a:xfrm>
        </p:spPr>
        <p:txBody>
          <a:bodyPr>
            <a:normAutofit fontScale="90000"/>
          </a:bodyPr>
          <a:lstStyle/>
          <a:p>
            <a:r>
              <a:rPr lang="ru-RU" i="1" dirty="0"/>
              <a:t>Пример обработки массива</a:t>
            </a:r>
            <a:br>
              <a:rPr lang="ru-RU" i="1" dirty="0"/>
            </a:br>
            <a:r>
              <a:rPr lang="ru-RU" sz="3100" dirty="0">
                <a:solidFill>
                  <a:schemeClr val="tx1"/>
                </a:solidFill>
              </a:rPr>
              <a:t>Инверсия массива – элементы пойдут в обратном порядке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49" y="1565481"/>
            <a:ext cx="9490652" cy="529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Задача 1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5734" y="1661826"/>
            <a:ext cx="8698268" cy="1441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Получить из одномерного массива новый массив, в который поместить только отрицательные элементы исходного массива, причем в обратном порядке.</a:t>
            </a:r>
          </a:p>
        </p:txBody>
      </p:sp>
    </p:spTree>
    <p:extLst>
      <p:ext uri="{BB962C8B-B14F-4D97-AF65-F5344CB8AC3E}">
        <p14:creationId xmlns:p14="http://schemas.microsoft.com/office/powerpoint/2010/main" val="134693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Задача 2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5734" y="1661826"/>
            <a:ext cx="8596668" cy="1441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Найти все максимальные элементы одномерного массива и вывести их индексы.</a:t>
            </a:r>
          </a:p>
        </p:txBody>
      </p:sp>
    </p:spTree>
    <p:extLst>
      <p:ext uri="{BB962C8B-B14F-4D97-AF65-F5344CB8AC3E}">
        <p14:creationId xmlns:p14="http://schemas.microsoft.com/office/powerpoint/2010/main" val="343240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Прямоуг. 2"/>
          <p:cNvSpPr>
            <a:spLocks noGrp="1" noChangeArrowheads="1"/>
          </p:cNvSpPr>
          <p:nvPr>
            <p:ph type="title"/>
          </p:nvPr>
        </p:nvSpPr>
        <p:spPr>
          <a:xfrm>
            <a:off x="484909" y="369095"/>
            <a:ext cx="8686800" cy="7921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altLang="ru-RU" sz="4000" b="1" i="1" dirty="0">
                <a:solidFill>
                  <a:schemeClr val="accent3">
                    <a:lumMod val="75000"/>
                  </a:schemeClr>
                </a:solidFill>
              </a:rPr>
              <a:t>Рассмотрим двухмерный массив</a:t>
            </a:r>
            <a:r>
              <a:rPr lang="ru-RU" altLang="ru-RU" sz="3200" i="1" dirty="0">
                <a:solidFill>
                  <a:schemeClr val="tx1"/>
                </a:solidFill>
              </a:rPr>
              <a:t/>
            </a:r>
            <a:br>
              <a:rPr lang="ru-RU" altLang="ru-RU" sz="3200" i="1" dirty="0">
                <a:solidFill>
                  <a:schemeClr val="tx1"/>
                </a:solidFill>
              </a:rPr>
            </a:br>
            <a:endParaRPr lang="ru-RU" altLang="ru-RU" sz="4800" dirty="0">
              <a:solidFill>
                <a:schemeClr val="tx1"/>
              </a:solidFill>
            </a:endParaRPr>
          </a:p>
        </p:txBody>
      </p:sp>
      <p:sp>
        <p:nvSpPr>
          <p:cNvPr id="87043" name="Прямоуг. 3"/>
          <p:cNvSpPr>
            <a:spLocks noGrp="1" noChangeArrowheads="1"/>
          </p:cNvSpPr>
          <p:nvPr>
            <p:ph type="body" sz="half" idx="1"/>
          </p:nvPr>
        </p:nvSpPr>
        <p:spPr>
          <a:xfrm>
            <a:off x="615877" y="1260476"/>
            <a:ext cx="8424863" cy="5288106"/>
          </a:xfrm>
        </p:spPr>
        <p:txBody>
          <a:bodyPr rtlCol="0">
            <a:normAutofit/>
          </a:bodyPr>
          <a:lstStyle/>
          <a:p>
            <a:pPr>
              <a:buNone/>
              <a:defRPr/>
            </a:pPr>
            <a:r>
              <a:rPr lang="ru-RU" sz="3200" dirty="0"/>
              <a:t>Порядковые номера  элементов  массива</a:t>
            </a:r>
            <a:r>
              <a:rPr lang="ru-RU" sz="32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ru-RU" sz="3200" dirty="0"/>
              <a:t>(индексы)</a:t>
            </a:r>
            <a:r>
              <a:rPr lang="ru-RU" sz="2800" dirty="0">
                <a:solidFill>
                  <a:srgbClr val="002060"/>
                </a:solidFill>
              </a:rPr>
              <a:t>   </a:t>
            </a:r>
            <a:r>
              <a:rPr lang="ru-RU" sz="2800" i="1" dirty="0">
                <a:solidFill>
                  <a:srgbClr val="002060"/>
                </a:solidFill>
              </a:rPr>
              <a:t>                 </a:t>
            </a:r>
            <a:r>
              <a:rPr lang="en-US" sz="2800" i="1" dirty="0">
                <a:solidFill>
                  <a:srgbClr val="002060"/>
                </a:solidFill>
              </a:rPr>
              <a:t>      </a:t>
            </a:r>
            <a:endParaRPr lang="ru-RU" sz="2800" i="1" dirty="0">
              <a:solidFill>
                <a:srgbClr val="002060"/>
              </a:solidFill>
            </a:endParaRPr>
          </a:p>
          <a:p>
            <a:pPr>
              <a:buNone/>
              <a:defRPr/>
            </a:pPr>
            <a:r>
              <a:rPr lang="en-US" sz="2800" i="1" dirty="0">
                <a:solidFill>
                  <a:srgbClr val="002060"/>
                </a:solidFill>
              </a:rPr>
              <a:t> </a:t>
            </a:r>
            <a:r>
              <a:rPr lang="ru-RU" sz="2800" i="1" dirty="0">
                <a:solidFill>
                  <a:srgbClr val="002060"/>
                </a:solidFill>
              </a:rPr>
              <a:t>                                              </a:t>
            </a:r>
            <a:r>
              <a:rPr lang="en-US" sz="2800" i="1" dirty="0">
                <a:solidFill>
                  <a:srgbClr val="002060"/>
                </a:solidFill>
              </a:rPr>
              <a:t> </a:t>
            </a:r>
            <a:r>
              <a:rPr lang="en-US" sz="3200" i="1" dirty="0">
                <a:solidFill>
                  <a:srgbClr val="FF0000"/>
                </a:solidFill>
              </a:rPr>
              <a:t>j</a:t>
            </a:r>
            <a:r>
              <a:rPr lang="ru-RU" sz="3200" i="1" dirty="0">
                <a:solidFill>
                  <a:srgbClr val="0070C0"/>
                </a:solidFill>
              </a:rPr>
              <a:t> </a:t>
            </a:r>
            <a:r>
              <a:rPr lang="ru-RU" sz="3200" i="1" dirty="0">
                <a:solidFill>
                  <a:srgbClr val="003399"/>
                </a:solidFill>
              </a:rPr>
              <a:t>номера столбцов</a:t>
            </a:r>
            <a:endParaRPr lang="ru-RU" sz="2800" i="1" dirty="0">
              <a:solidFill>
                <a:srgbClr val="003399"/>
              </a:solidFill>
            </a:endParaRPr>
          </a:p>
          <a:p>
            <a:pPr>
              <a:buNone/>
              <a:defRPr/>
            </a:pPr>
            <a:endParaRPr lang="ru-RU" sz="2800" i="1" dirty="0">
              <a:solidFill>
                <a:srgbClr val="00FF00"/>
              </a:solidFill>
            </a:endParaRPr>
          </a:p>
          <a:p>
            <a:pPr>
              <a:buNone/>
              <a:defRPr/>
            </a:pPr>
            <a:r>
              <a:rPr lang="en-US" sz="3200" i="1" dirty="0">
                <a:solidFill>
                  <a:srgbClr val="0070C0"/>
                </a:solidFill>
              </a:rPr>
              <a:t>	</a:t>
            </a:r>
            <a:r>
              <a:rPr lang="ru-RU" sz="3200" i="1" dirty="0">
                <a:solidFill>
                  <a:srgbClr val="0070C0"/>
                </a:solidFill>
              </a:rPr>
              <a:t> </a:t>
            </a:r>
            <a:r>
              <a:rPr lang="en-US" sz="3200" i="1" dirty="0" err="1">
                <a:solidFill>
                  <a:srgbClr val="FF0000"/>
                </a:solidFill>
              </a:rPr>
              <a:t>i</a:t>
            </a:r>
            <a:r>
              <a:rPr lang="en-US" sz="3200" i="1" dirty="0">
                <a:solidFill>
                  <a:srgbClr val="0070C0"/>
                </a:solidFill>
              </a:rPr>
              <a:t> </a:t>
            </a:r>
            <a:r>
              <a:rPr lang="ru-RU" sz="3200" i="1" dirty="0">
                <a:solidFill>
                  <a:srgbClr val="003399"/>
                </a:solidFill>
              </a:rPr>
              <a:t>номера строк</a:t>
            </a:r>
            <a:endParaRPr lang="en-US" sz="3200" i="1" dirty="0">
              <a:solidFill>
                <a:srgbClr val="003399"/>
              </a:solidFill>
            </a:endParaRPr>
          </a:p>
          <a:p>
            <a:pPr>
              <a:buNone/>
              <a:defRPr/>
            </a:pPr>
            <a:endParaRPr lang="en-US" sz="2800" b="1" dirty="0">
              <a:solidFill>
                <a:srgbClr val="00FF00"/>
              </a:solidFill>
            </a:endParaRPr>
          </a:p>
          <a:p>
            <a:pPr>
              <a:buNone/>
              <a:defRPr/>
            </a:pPr>
            <a:r>
              <a:rPr lang="en-US" sz="2800" b="1" dirty="0">
                <a:solidFill>
                  <a:srgbClr val="66FF33"/>
                </a:solidFill>
              </a:rPr>
              <a:t>          </a:t>
            </a:r>
            <a:endParaRPr lang="ru-RU" sz="2800" b="1" dirty="0">
              <a:solidFill>
                <a:srgbClr val="66FF33"/>
              </a:solidFill>
            </a:endParaRPr>
          </a:p>
          <a:p>
            <a:pPr>
              <a:buNone/>
              <a:defRPr/>
            </a:pPr>
            <a:r>
              <a:rPr lang="ru-RU" sz="4000" b="1" dirty="0">
                <a:solidFill>
                  <a:srgbClr val="FF0000"/>
                </a:solidFill>
              </a:rPr>
              <a:t>		</a:t>
            </a:r>
            <a:r>
              <a:rPr lang="ru-RU" sz="4000" b="1" dirty="0">
                <a:solidFill>
                  <a:srgbClr val="C00000"/>
                </a:solidFill>
              </a:rPr>
              <a:t>В</a:t>
            </a:r>
            <a:r>
              <a:rPr lang="en-US" sz="4000" b="1" dirty="0">
                <a:solidFill>
                  <a:srgbClr val="C00000"/>
                </a:solidFill>
              </a:rPr>
              <a:t> [</a:t>
            </a:r>
            <a:r>
              <a:rPr lang="ru-RU" sz="4000" b="1" dirty="0">
                <a:solidFill>
                  <a:srgbClr val="C00000"/>
                </a:solidFill>
              </a:rPr>
              <a:t>3, 4</a:t>
            </a:r>
            <a:r>
              <a:rPr lang="en-US" sz="4000" b="1" dirty="0">
                <a:solidFill>
                  <a:srgbClr val="C00000"/>
                </a:solidFill>
              </a:rPr>
              <a:t>]</a:t>
            </a:r>
            <a:endParaRPr lang="ru-RU" sz="4000" b="1" dirty="0">
              <a:solidFill>
                <a:srgbClr val="C00000"/>
              </a:solidFill>
            </a:endParaRPr>
          </a:p>
        </p:txBody>
      </p:sp>
      <p:graphicFrame>
        <p:nvGraphicFramePr>
          <p:cNvPr id="43012" name="Объект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92015378"/>
              </p:ext>
            </p:extLst>
          </p:nvPr>
        </p:nvGraphicFramePr>
        <p:xfrm>
          <a:off x="4055920" y="2786785"/>
          <a:ext cx="4608513" cy="368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Visio" r:id="rId3" imgW="1703327" imgH="1361545" progId="">
                  <p:embed/>
                </p:oleObj>
              </mc:Choice>
              <mc:Fallback>
                <p:oleObj name="Visio" r:id="rId3" imgW="1703327" imgH="1361545" progId="">
                  <p:embed/>
                  <p:pic>
                    <p:nvPicPr>
                      <p:cNvPr id="0" name="Picture 2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5920" y="2786785"/>
                        <a:ext cx="4608513" cy="368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5494790"/>
      </p:ext>
    </p:extLst>
  </p:cSld>
  <p:clrMapOvr>
    <a:masterClrMapping/>
  </p:clrMapOvr>
  <p:transition>
    <p:split orient="vert"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двухмерного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550990"/>
            <a:ext cx="8596668" cy="1164502"/>
          </a:xfrm>
        </p:spPr>
        <p:txBody>
          <a:bodyPr>
            <a:normAutofit/>
          </a:bodyPr>
          <a:lstStyle/>
          <a:p>
            <a:r>
              <a:rPr lang="ru-RU" sz="2800" dirty="0"/>
              <a:t>По строкам (в горизонтальном направлении)</a:t>
            </a:r>
          </a:p>
          <a:p>
            <a:r>
              <a:rPr lang="ru-RU" sz="2800" dirty="0"/>
              <a:t>По столбцам (в вертикальном направлении)</a:t>
            </a:r>
          </a:p>
        </p:txBody>
      </p:sp>
    </p:spTree>
    <p:extLst>
      <p:ext uri="{BB962C8B-B14F-4D97-AF65-F5344CB8AC3E}">
        <p14:creationId xmlns:p14="http://schemas.microsoft.com/office/powerpoint/2010/main" val="2120447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Прямоуг. 2"/>
          <p:cNvSpPr>
            <a:spLocks noGrp="1" noChangeArrowheads="1"/>
          </p:cNvSpPr>
          <p:nvPr>
            <p:ph type="title"/>
          </p:nvPr>
        </p:nvSpPr>
        <p:spPr>
          <a:xfrm>
            <a:off x="416583" y="353683"/>
            <a:ext cx="8172450" cy="908050"/>
          </a:xfrm>
        </p:spPr>
        <p:txBody>
          <a:bodyPr>
            <a:normAutofit/>
          </a:bodyPr>
          <a:lstStyle/>
          <a:p>
            <a:r>
              <a:rPr lang="ru-RU" altLang="ru-RU" b="1" dirty="0"/>
              <a:t>Обработка всего массива: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F5576BA-FEDB-407A-A1E9-4AF307BF72B1}"/>
              </a:ext>
            </a:extLst>
          </p:cNvPr>
          <p:cNvSpPr txBox="1"/>
          <p:nvPr/>
        </p:nvSpPr>
        <p:spPr>
          <a:xfrm>
            <a:off x="864991" y="1383589"/>
            <a:ext cx="7508633" cy="3477875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 = 0;</a:t>
            </a:r>
          </a:p>
          <a:p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3; i++)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    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4;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S += B[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j];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Сумма элементов массива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07759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Прямоуг. 2"/>
          <p:cNvSpPr>
            <a:spLocks noGrp="1" noChangeArrowheads="1"/>
          </p:cNvSpPr>
          <p:nvPr>
            <p:ph type="title"/>
          </p:nvPr>
        </p:nvSpPr>
        <p:spPr>
          <a:xfrm>
            <a:off x="416583" y="353683"/>
            <a:ext cx="8172450" cy="908050"/>
          </a:xfrm>
        </p:spPr>
        <p:txBody>
          <a:bodyPr>
            <a:normAutofit/>
          </a:bodyPr>
          <a:lstStyle/>
          <a:p>
            <a:r>
              <a:rPr lang="ru-RU" altLang="ru-RU" b="1" dirty="0"/>
              <a:t>Обработка по строкам: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C3FE841-A442-4C30-B0A1-4E6EAD132581}"/>
              </a:ext>
            </a:extLst>
          </p:cNvPr>
          <p:cNvSpPr txBox="1"/>
          <p:nvPr/>
        </p:nvSpPr>
        <p:spPr>
          <a:xfrm>
            <a:off x="513298" y="1436343"/>
            <a:ext cx="8402101" cy="3477875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3; i++)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 = 0;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   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4;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 += B[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j];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Сумма в строке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i}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 равна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75926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Прямоуг. 2"/>
          <p:cNvSpPr>
            <a:spLocks noGrp="1" noChangeArrowheads="1"/>
          </p:cNvSpPr>
          <p:nvPr>
            <p:ph type="title"/>
          </p:nvPr>
        </p:nvSpPr>
        <p:spPr>
          <a:xfrm>
            <a:off x="416583" y="353683"/>
            <a:ext cx="8172450" cy="908050"/>
          </a:xfrm>
        </p:spPr>
        <p:txBody>
          <a:bodyPr>
            <a:normAutofit/>
          </a:bodyPr>
          <a:lstStyle/>
          <a:p>
            <a:r>
              <a:rPr lang="ru-RU" altLang="ru-RU" b="1" dirty="0"/>
              <a:t>Обработка по столбцам: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CAE9A9F-CF1F-48CE-BCB6-98FAE2573143}"/>
              </a:ext>
            </a:extLst>
          </p:cNvPr>
          <p:cNvSpPr txBox="1"/>
          <p:nvPr/>
        </p:nvSpPr>
        <p:spPr>
          <a:xfrm>
            <a:off x="513298" y="1436343"/>
            <a:ext cx="8507610" cy="3477875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4;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n-NO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 = 0;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  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3; i++)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 += B[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j];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Сумма в столбце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j}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 равна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829644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Прямоуг. 2"/>
          <p:cNvSpPr>
            <a:spLocks noGrp="1" noChangeArrowheads="1"/>
          </p:cNvSpPr>
          <p:nvPr>
            <p:ph type="title"/>
          </p:nvPr>
        </p:nvSpPr>
        <p:spPr>
          <a:xfrm>
            <a:off x="397308" y="216478"/>
            <a:ext cx="7791450" cy="1871663"/>
          </a:xfrm>
        </p:spPr>
        <p:txBody>
          <a:bodyPr/>
          <a:lstStyle/>
          <a:p>
            <a:r>
              <a:rPr lang="ru-RU" altLang="ru-RU" sz="2800" b="1" dirty="0"/>
              <a:t>Сформулируйте условия задач</a:t>
            </a:r>
            <a:br>
              <a:rPr lang="ru-RU" altLang="ru-RU" sz="2800" b="1" dirty="0"/>
            </a:br>
            <a:r>
              <a:rPr lang="ru-RU" altLang="ru-RU" sz="2800" b="1" dirty="0"/>
              <a:t/>
            </a:r>
            <a:br>
              <a:rPr lang="ru-RU" altLang="ru-RU" sz="2800" b="1" dirty="0"/>
            </a:br>
            <a:r>
              <a:rPr lang="ru-RU" altLang="ru-RU" sz="2800" b="1" dirty="0"/>
              <a:t>1.                                         2.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5F6EC6F9-735A-4063-AF55-8F0CD790C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919162"/>
            <a:ext cx="1809750" cy="593310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7714E60F-3A85-467B-AB09-B7548A9E8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24" y="440746"/>
            <a:ext cx="1876426" cy="640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11889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555E3819-8BB7-4292-A313-55C1FA772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639" y="0"/>
            <a:ext cx="1789792" cy="6858000"/>
          </a:xfrm>
          <a:prstGeom prst="rect">
            <a:avLst/>
          </a:prstGeom>
        </p:spPr>
      </p:pic>
      <p:sp>
        <p:nvSpPr>
          <p:cNvPr id="13314" name="Прямоуг. 2"/>
          <p:cNvSpPr>
            <a:spLocks noGrp="1" noChangeArrowheads="1"/>
          </p:cNvSpPr>
          <p:nvPr>
            <p:ph type="title"/>
          </p:nvPr>
        </p:nvSpPr>
        <p:spPr>
          <a:xfrm>
            <a:off x="619125" y="231054"/>
            <a:ext cx="10344419" cy="1225550"/>
          </a:xfrm>
        </p:spPr>
        <p:txBody>
          <a:bodyPr>
            <a:normAutofit/>
          </a:bodyPr>
          <a:lstStyle/>
          <a:p>
            <a:r>
              <a:rPr lang="ru-RU" altLang="ru-RU" sz="2800" b="1" dirty="0"/>
              <a:t>3.                                         </a:t>
            </a:r>
            <a:r>
              <a:rPr lang="en-US" altLang="ru-RU" sz="2800" b="1" dirty="0"/>
              <a:t>        </a:t>
            </a:r>
            <a:r>
              <a:rPr lang="ru-RU" altLang="ru-RU" sz="2800" b="1" dirty="0"/>
              <a:t>4.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43D9976B-C333-461F-9092-899B9BE67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70" y="0"/>
            <a:ext cx="1950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6774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Прямоуг. 2"/>
          <p:cNvSpPr>
            <a:spLocks noGrp="1" noChangeArrowheads="1"/>
          </p:cNvSpPr>
          <p:nvPr>
            <p:ph type="title"/>
          </p:nvPr>
        </p:nvSpPr>
        <p:spPr>
          <a:xfrm>
            <a:off x="450994" y="185162"/>
            <a:ext cx="7829550" cy="1081087"/>
          </a:xfrm>
        </p:spPr>
        <p:txBody>
          <a:bodyPr>
            <a:normAutofit/>
          </a:bodyPr>
          <a:lstStyle/>
          <a:p>
            <a:r>
              <a:rPr lang="ru-RU" altLang="ru-RU" sz="2800" b="1" dirty="0"/>
              <a:t>5.                                         6.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513A36FA-2650-4EA6-91EE-1AC45C0B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671" y="0"/>
            <a:ext cx="2019107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BE39F766-3A66-44E9-805A-7870EE284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58" y="0"/>
            <a:ext cx="1868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93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Задача </a:t>
            </a:r>
            <a:r>
              <a:rPr lang="en-US" b="1" dirty="0">
                <a:solidFill>
                  <a:srgbClr val="C00000"/>
                </a:solidFill>
              </a:rPr>
              <a:t>3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5460" y="1930400"/>
            <a:ext cx="8596668" cy="1441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Найти </a:t>
            </a:r>
            <a:r>
              <a:rPr lang="ru-RU" sz="2600" dirty="0" smtClean="0"/>
              <a:t>сумму положительных </a:t>
            </a:r>
            <a:r>
              <a:rPr lang="ru-RU" sz="2600" dirty="0"/>
              <a:t>элементов </a:t>
            </a:r>
            <a:r>
              <a:rPr lang="ru-RU" sz="2600" b="1" dirty="0"/>
              <a:t>в каждой строке </a:t>
            </a:r>
            <a:r>
              <a:rPr lang="ru-RU" sz="2600" dirty="0"/>
              <a:t>двухмерного массива </a:t>
            </a:r>
            <a:r>
              <a:rPr lang="en-US" sz="2600" dirty="0"/>
              <a:t>B[3, 4]</a:t>
            </a:r>
            <a:r>
              <a:rPr lang="ru-RU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2006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1273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Задача 4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5459" y="1867310"/>
            <a:ext cx="9260993" cy="1718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Найти сумму положительных элементов </a:t>
            </a:r>
            <a:r>
              <a:rPr lang="ru-RU" sz="2600" b="1" dirty="0"/>
              <a:t>в каждом столбце </a:t>
            </a:r>
            <a:r>
              <a:rPr lang="ru-RU" sz="2600" dirty="0"/>
              <a:t>двухмерного массива </a:t>
            </a:r>
            <a:r>
              <a:rPr lang="en-US" sz="2600" dirty="0"/>
              <a:t>B[3, 4]</a:t>
            </a:r>
            <a:r>
              <a:rPr lang="ru-RU" sz="2600" dirty="0"/>
              <a:t>. </a:t>
            </a:r>
          </a:p>
          <a:p>
            <a:pPr marL="0" indent="0">
              <a:buNone/>
            </a:pPr>
            <a:r>
              <a:rPr lang="ru-RU" sz="2600" dirty="0"/>
              <a:t>Определить столбец с наибольшей суммой и указать его индекс.</a:t>
            </a:r>
          </a:p>
        </p:txBody>
      </p:sp>
    </p:spTree>
    <p:extLst>
      <p:ext uri="{BB962C8B-B14F-4D97-AF65-F5344CB8AC3E}">
        <p14:creationId xmlns:p14="http://schemas.microsoft.com/office/powerpoint/2010/main" val="3478935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Строки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+mj-lt"/>
              </a:rPr>
              <a:t>Раздел </a:t>
            </a:r>
            <a:r>
              <a:rPr lang="en-US" sz="2400" dirty="0">
                <a:latin typeface="+mj-lt"/>
              </a:rPr>
              <a:t>II</a:t>
            </a:r>
            <a:endParaRPr lang="ru-RU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8626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Строки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2679" y="1569462"/>
            <a:ext cx="8596668" cy="3242683"/>
          </a:xfrm>
        </p:spPr>
        <p:txBody>
          <a:bodyPr>
            <a:normAutofit/>
          </a:bodyPr>
          <a:lstStyle/>
          <a:p>
            <a:r>
              <a:rPr lang="ru-RU" sz="2600" dirty="0"/>
              <a:t>В языке C# строковые значения представляет тип </a:t>
            </a:r>
            <a:r>
              <a:rPr lang="ru-RU" sz="2600" dirty="0" err="1"/>
              <a:t>string</a:t>
            </a:r>
            <a:r>
              <a:rPr lang="ru-RU" sz="2600" dirty="0"/>
              <a:t>, а вся функциональность работы с данным типом сосредоточена в классе </a:t>
            </a:r>
            <a:r>
              <a:rPr lang="ru-RU" sz="2600" dirty="0" err="1"/>
              <a:t>System.String</a:t>
            </a:r>
            <a:r>
              <a:rPr lang="ru-RU" sz="2600" dirty="0"/>
              <a:t>. </a:t>
            </a:r>
          </a:p>
          <a:p>
            <a:r>
              <a:rPr lang="ru-RU" sz="2600" dirty="0"/>
              <a:t>Объекты этого класса представляют текст как последовательность символов </a:t>
            </a:r>
            <a:r>
              <a:rPr lang="ru-RU" sz="2600" dirty="0" err="1"/>
              <a:t>Unicode</a:t>
            </a:r>
            <a:r>
              <a:rPr lang="ru-RU" sz="2600" dirty="0"/>
              <a:t>. </a:t>
            </a:r>
          </a:p>
          <a:p>
            <a:r>
              <a:rPr lang="ru-RU" sz="2600" dirty="0"/>
              <a:t>Максимальный размер объекта </a:t>
            </a:r>
            <a:r>
              <a:rPr lang="ru-RU" sz="2600" dirty="0" err="1"/>
              <a:t>String</a:t>
            </a:r>
            <a:r>
              <a:rPr lang="ru-RU" sz="2600" dirty="0"/>
              <a:t> может составлять в памяти 2 ГБ, или около 1 миллиарда символов.</a:t>
            </a:r>
          </a:p>
        </p:txBody>
      </p:sp>
    </p:spTree>
    <p:extLst>
      <p:ext uri="{BB962C8B-B14F-4D97-AF65-F5344CB8AC3E}">
        <p14:creationId xmlns:p14="http://schemas.microsoft.com/office/powerpoint/2010/main" val="28840470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78690"/>
            <a:ext cx="8596668" cy="914400"/>
          </a:xfrm>
        </p:spPr>
        <p:txBody>
          <a:bodyPr/>
          <a:lstStyle/>
          <a:p>
            <a:r>
              <a:rPr lang="ru-RU" dirty="0"/>
              <a:t>Создание строк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209243"/>
            <a:ext cx="8956193" cy="1210684"/>
          </a:xfrm>
        </p:spPr>
        <p:txBody>
          <a:bodyPr>
            <a:noAutofit/>
          </a:bodyPr>
          <a:lstStyle/>
          <a:p>
            <a:r>
              <a:rPr lang="ru-RU" sz="2600" dirty="0"/>
              <a:t>Создавать строки можно, как используя переменную типа </a:t>
            </a:r>
            <a:r>
              <a:rPr lang="ru-RU" sz="2600" dirty="0" err="1"/>
              <a:t>string</a:t>
            </a:r>
            <a:r>
              <a:rPr lang="ru-RU" sz="2600" dirty="0"/>
              <a:t> и присваивая ей значение, так и применяя один из конструкторов класса </a:t>
            </a:r>
            <a:r>
              <a:rPr lang="ru-RU" sz="2600" dirty="0" err="1"/>
              <a:t>String</a:t>
            </a:r>
            <a:r>
              <a:rPr lang="ru-RU" sz="2600" dirty="0"/>
              <a:t>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19" y="2745366"/>
            <a:ext cx="9830633" cy="340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41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32509"/>
            <a:ext cx="8596668" cy="1320800"/>
          </a:xfrm>
        </p:spPr>
        <p:txBody>
          <a:bodyPr/>
          <a:lstStyle/>
          <a:p>
            <a:r>
              <a:rPr lang="ru-RU" dirty="0"/>
              <a:t>Строка как набор символов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01607"/>
            <a:ext cx="8596668" cy="2910175"/>
          </a:xfrm>
        </p:spPr>
        <p:txBody>
          <a:bodyPr>
            <a:normAutofit/>
          </a:bodyPr>
          <a:lstStyle/>
          <a:p>
            <a:r>
              <a:rPr lang="ru-RU" sz="2400" dirty="0"/>
              <a:t>Так как строка хранит коллекцию символов, в ней определен индексатор для доступа к этим символам</a:t>
            </a:r>
          </a:p>
          <a:p>
            <a:r>
              <a:rPr lang="ru-RU" sz="2400" dirty="0"/>
              <a:t>Применяя индексатор, мы можем обратиться к строке как к массиву символов и получить по индексу любой из ее символов</a:t>
            </a:r>
          </a:p>
          <a:p>
            <a:r>
              <a:rPr lang="ru-RU" sz="2400" dirty="0"/>
              <a:t>Используя свойство </a:t>
            </a:r>
            <a:r>
              <a:rPr lang="ru-RU" sz="2400" b="1" dirty="0" err="1"/>
              <a:t>Length</a:t>
            </a:r>
            <a:r>
              <a:rPr lang="ru-RU" sz="2400" dirty="0"/>
              <a:t>, как и в обычном массиве, можно получить длину строки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68" y="4324796"/>
            <a:ext cx="7173535" cy="218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80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1224" y="314036"/>
            <a:ext cx="8596668" cy="794327"/>
          </a:xfrm>
        </p:spPr>
        <p:txBody>
          <a:bodyPr/>
          <a:lstStyle/>
          <a:p>
            <a:r>
              <a:rPr lang="ru-RU" dirty="0"/>
              <a:t>Перебор строк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1223" y="1277797"/>
            <a:ext cx="8771467" cy="1807148"/>
          </a:xfrm>
        </p:spPr>
        <p:txBody>
          <a:bodyPr>
            <a:noAutofit/>
          </a:bodyPr>
          <a:lstStyle/>
          <a:p>
            <a:r>
              <a:rPr lang="ru-RU" sz="2400" dirty="0"/>
              <a:t>Класс </a:t>
            </a:r>
            <a:r>
              <a:rPr lang="ru-RU" sz="2400" dirty="0" err="1"/>
              <a:t>String</a:t>
            </a:r>
            <a:r>
              <a:rPr lang="ru-RU" sz="2400" dirty="0"/>
              <a:t> реализует интерфейс </a:t>
            </a:r>
            <a:r>
              <a:rPr lang="ru-RU" sz="2400" dirty="0" err="1"/>
              <a:t>IEnumerable</a:t>
            </a:r>
            <a:r>
              <a:rPr lang="ru-RU" sz="2400" dirty="0"/>
              <a:t>, благодаря чему строку можно перебрать в цикле </a:t>
            </a:r>
            <a:r>
              <a:rPr lang="ru-RU" sz="2400" dirty="0" err="1"/>
              <a:t>foreach</a:t>
            </a:r>
            <a:r>
              <a:rPr lang="ru-RU" sz="2400" dirty="0"/>
              <a:t> как набор объектов </a:t>
            </a:r>
            <a:r>
              <a:rPr lang="ru-RU" sz="2400" dirty="0" err="1"/>
              <a:t>char</a:t>
            </a:r>
            <a:r>
              <a:rPr lang="ru-RU" sz="2400" dirty="0"/>
              <a:t>. Также можно с помощью других типов циклов перебрать строку, применяя обращение к символам по индексу.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61" y="2900013"/>
            <a:ext cx="6250778" cy="364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21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строк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80298"/>
            <a:ext cx="8596668" cy="979775"/>
          </a:xfrm>
        </p:spPr>
        <p:txBody>
          <a:bodyPr>
            <a:normAutofit/>
          </a:bodyPr>
          <a:lstStyle/>
          <a:p>
            <a:r>
              <a:rPr lang="ru-RU" sz="2400" dirty="0"/>
              <a:t>В отличие от других классов строки сравниваются по значению их символов, а не по ссылкам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04" y="2670348"/>
            <a:ext cx="7503702" cy="145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53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856509"/>
          </a:xfrm>
        </p:spPr>
        <p:txBody>
          <a:bodyPr>
            <a:normAutofit/>
          </a:bodyPr>
          <a:lstStyle/>
          <a:p>
            <a:r>
              <a:rPr lang="ru-RU" dirty="0"/>
              <a:t>Операции со строками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	</a:t>
            </a:r>
            <a:r>
              <a:rPr lang="ru-RU" i="1" dirty="0"/>
              <a:t>Объединение строк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2095" y="2742981"/>
            <a:ext cx="8596668" cy="961302"/>
          </a:xfrm>
        </p:spPr>
        <p:txBody>
          <a:bodyPr>
            <a:normAutofit/>
          </a:bodyPr>
          <a:lstStyle/>
          <a:p>
            <a:r>
              <a:rPr lang="ru-RU" sz="2400" dirty="0"/>
              <a:t>Конкатенация строк или объединение может производиться как с помощью операции +, так и с помощью метода </a:t>
            </a:r>
            <a:r>
              <a:rPr lang="ru-RU" sz="2400" b="1" dirty="0" err="1"/>
              <a:t>Concat</a:t>
            </a:r>
            <a:endParaRPr lang="ru-RU" sz="24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17" y="3709111"/>
            <a:ext cx="10567349" cy="156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24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932765"/>
            <a:ext cx="9067030" cy="1771143"/>
          </a:xfrm>
        </p:spPr>
        <p:txBody>
          <a:bodyPr>
            <a:noAutofit/>
          </a:bodyPr>
          <a:lstStyle/>
          <a:p>
            <a:r>
              <a:rPr lang="ru-RU" sz="2400" dirty="0"/>
              <a:t>Для объединения строк также может использоваться метод </a:t>
            </a:r>
            <a:r>
              <a:rPr lang="ru-RU" sz="2400" b="1" dirty="0" err="1"/>
              <a:t>Join</a:t>
            </a:r>
            <a:endParaRPr lang="ru-RU" sz="2400" b="1" dirty="0"/>
          </a:p>
          <a:p>
            <a:r>
              <a:rPr lang="ru-RU" sz="2400" dirty="0"/>
              <a:t>Метод получает два параметра: строку-разделитель</a:t>
            </a:r>
            <a:br>
              <a:rPr lang="ru-RU" sz="2400" dirty="0"/>
            </a:br>
            <a:r>
              <a:rPr lang="ru-RU" sz="2400" dirty="0"/>
              <a:t>(в данном случае пробел) и массив строк, которые будут соединяться и разделяться разделителем.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77334" y="286434"/>
            <a:ext cx="45752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i="1" dirty="0">
                <a:solidFill>
                  <a:srgbClr val="4A66AC">
                    <a:lumMod val="75000"/>
                  </a:srgbClr>
                </a:solidFill>
                <a:latin typeface="Trebuchet MS"/>
                <a:ea typeface="+mj-ea"/>
                <a:cs typeface="+mj-cs"/>
              </a:rPr>
              <a:t>Объединение строк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45" y="2703908"/>
            <a:ext cx="7586969" cy="306447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DBEDC0E6-5475-41D9-97B0-13EC1ABBF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45" y="5981517"/>
            <a:ext cx="7586969" cy="6918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4601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32509"/>
            <a:ext cx="8596668" cy="785091"/>
          </a:xfrm>
        </p:spPr>
        <p:txBody>
          <a:bodyPr/>
          <a:lstStyle/>
          <a:p>
            <a:r>
              <a:rPr lang="ru-RU" i="1" dirty="0"/>
              <a:t>Сравнение строк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6710" y="1731817"/>
            <a:ext cx="4051686" cy="4793674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Метод </a:t>
            </a:r>
            <a:r>
              <a:rPr lang="ru-RU" sz="2400" b="1" dirty="0" err="1"/>
              <a:t>Compare</a:t>
            </a:r>
            <a:r>
              <a:rPr lang="ru-RU" sz="2400" dirty="0"/>
              <a:t> принимает две строки и возвращает число.</a:t>
            </a:r>
          </a:p>
          <a:p>
            <a:r>
              <a:rPr lang="ru-RU" sz="2400" dirty="0"/>
              <a:t>Если первая строка по алфавиту стоит выше второй, то возвращается число </a:t>
            </a:r>
            <a:r>
              <a:rPr lang="ru-RU" sz="2400" b="1" dirty="0"/>
              <a:t>меньше нуля</a:t>
            </a:r>
            <a:r>
              <a:rPr lang="ru-RU" sz="2400" dirty="0"/>
              <a:t>. </a:t>
            </a:r>
          </a:p>
          <a:p>
            <a:r>
              <a:rPr lang="ru-RU" sz="2400" dirty="0"/>
              <a:t>В противном случае возвращается число </a:t>
            </a:r>
            <a:r>
              <a:rPr lang="ru-RU" sz="2400" b="1" dirty="0"/>
              <a:t>больше нуля</a:t>
            </a:r>
            <a:r>
              <a:rPr lang="ru-RU" sz="2400" dirty="0"/>
              <a:t>. </a:t>
            </a:r>
          </a:p>
          <a:p>
            <a:r>
              <a:rPr lang="ru-RU" sz="2400" dirty="0"/>
              <a:t>И третий случай - если строки равны, то возвращается </a:t>
            </a:r>
            <a:r>
              <a:rPr lang="ru-RU" sz="2400" b="1" dirty="0"/>
              <a:t>число 0</a:t>
            </a:r>
            <a:r>
              <a:rPr lang="ru-RU" sz="24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273" y="1108678"/>
            <a:ext cx="7568017" cy="553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23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67855"/>
            <a:ext cx="8596668" cy="895927"/>
          </a:xfrm>
        </p:spPr>
        <p:txBody>
          <a:bodyPr/>
          <a:lstStyle/>
          <a:p>
            <a:r>
              <a:rPr lang="ru-RU" i="1" dirty="0"/>
              <a:t>Поиск подстроки в строке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163782"/>
            <a:ext cx="8743757" cy="2244436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С помощью метода </a:t>
            </a:r>
            <a:r>
              <a:rPr lang="ru-RU" sz="2400" b="1" dirty="0" err="1"/>
              <a:t>IndexOf</a:t>
            </a:r>
            <a:r>
              <a:rPr lang="ru-RU" sz="2400" dirty="0"/>
              <a:t> мы можем определить индекс первого вхождения отдельного символа или подстроки в строке</a:t>
            </a:r>
          </a:p>
          <a:p>
            <a:r>
              <a:rPr lang="ru-RU" sz="2400" dirty="0"/>
              <a:t>Подобным образом действует метод </a:t>
            </a:r>
            <a:r>
              <a:rPr lang="ru-RU" sz="2400" b="1" dirty="0" err="1"/>
              <a:t>LastIndexOf</a:t>
            </a:r>
            <a:r>
              <a:rPr lang="ru-RU" sz="2400" dirty="0"/>
              <a:t>, только находит индекс последнего вхождения символа или подстроки в строку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744" y="3595956"/>
            <a:ext cx="8005219" cy="285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41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8789" y="221672"/>
            <a:ext cx="8596668" cy="1320800"/>
          </a:xfrm>
        </p:spPr>
        <p:txBody>
          <a:bodyPr/>
          <a:lstStyle/>
          <a:p>
            <a:r>
              <a:rPr lang="ru-RU" i="1" dirty="0"/>
              <a:t>Поиск подстроки в начале или </a:t>
            </a:r>
            <a:br>
              <a:rPr lang="ru-RU" i="1" dirty="0"/>
            </a:br>
            <a:r>
              <a:rPr lang="ru-RU" i="1" dirty="0"/>
              <a:t>в конце строки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8971" y="1636548"/>
            <a:ext cx="5474084" cy="2567709"/>
          </a:xfrm>
        </p:spPr>
        <p:txBody>
          <a:bodyPr>
            <a:normAutofit/>
          </a:bodyPr>
          <a:lstStyle/>
          <a:p>
            <a:r>
              <a:rPr lang="ru-RU" sz="2400" dirty="0"/>
              <a:t>Еще одна группа методов позволяет узнать начинается или заканчивается ли строка на определенную подстроку. Для этого предназначены методы </a:t>
            </a:r>
            <a:r>
              <a:rPr lang="ru-RU" sz="2400" b="1" dirty="0" err="1"/>
              <a:t>StartsWith</a:t>
            </a:r>
            <a:r>
              <a:rPr lang="ru-RU" sz="2400" dirty="0"/>
              <a:t> и </a:t>
            </a:r>
            <a:r>
              <a:rPr lang="ru-RU" sz="2400" b="1" dirty="0" err="1"/>
              <a:t>EndsWith</a:t>
            </a:r>
            <a:r>
              <a:rPr lang="ru-RU" sz="2400" dirty="0"/>
              <a:t>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055" y="1636548"/>
            <a:ext cx="5307282" cy="50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152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2405" y="387027"/>
            <a:ext cx="8596668" cy="775855"/>
          </a:xfrm>
        </p:spPr>
        <p:txBody>
          <a:bodyPr/>
          <a:lstStyle/>
          <a:p>
            <a:r>
              <a:rPr lang="ru-RU" i="1" dirty="0"/>
              <a:t>Разделение строк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5734" y="1385455"/>
            <a:ext cx="8910011" cy="1635556"/>
          </a:xfrm>
        </p:spPr>
        <p:txBody>
          <a:bodyPr>
            <a:normAutofit/>
          </a:bodyPr>
          <a:lstStyle/>
          <a:p>
            <a:r>
              <a:rPr lang="ru-RU" sz="2400" dirty="0"/>
              <a:t>С помощью функции </a:t>
            </a:r>
            <a:r>
              <a:rPr lang="ru-RU" sz="2400" dirty="0" err="1"/>
              <a:t>Split</a:t>
            </a:r>
            <a:r>
              <a:rPr lang="ru-RU" sz="2400" dirty="0"/>
              <a:t> мы можем разделить строку на массив подстрок. В качестве параметра функция </a:t>
            </a:r>
            <a:r>
              <a:rPr lang="ru-RU" sz="2400" dirty="0" err="1"/>
              <a:t>Split</a:t>
            </a:r>
            <a:r>
              <a:rPr lang="ru-RU" sz="2400" dirty="0"/>
              <a:t> принимает массив символов или строк, которые и будут служить разделителями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3243583"/>
            <a:ext cx="6742642" cy="282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315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1152" y="295204"/>
            <a:ext cx="8596668" cy="859702"/>
          </a:xfrm>
        </p:spPr>
        <p:txBody>
          <a:bodyPr>
            <a:normAutofit fontScale="90000"/>
          </a:bodyPr>
          <a:lstStyle/>
          <a:p>
            <a:r>
              <a:rPr lang="ru-RU" i="1" dirty="0"/>
              <a:t>Обрезка начальных или концевых символов строк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1152" y="1690614"/>
            <a:ext cx="8928484" cy="2992582"/>
          </a:xfrm>
        </p:spPr>
        <p:txBody>
          <a:bodyPr>
            <a:normAutofit/>
          </a:bodyPr>
          <a:lstStyle/>
          <a:p>
            <a:r>
              <a:rPr lang="ru-RU" sz="2400" dirty="0"/>
              <a:t>Функция </a:t>
            </a:r>
            <a:r>
              <a:rPr lang="ru-RU" sz="2400" b="1" dirty="0" err="1"/>
              <a:t>Trim</a:t>
            </a:r>
            <a:r>
              <a:rPr lang="ru-RU" sz="2400" dirty="0"/>
              <a:t> без параметров обрезает начальные и конечные пробелы и возвращает обрезанную строку. Чтобы явным образом указать, какие начальные и конечные символы следует обрезать, мы можем передать в функцию массив этих символов.</a:t>
            </a:r>
          </a:p>
          <a:p>
            <a:r>
              <a:rPr lang="ru-RU" sz="2400" dirty="0"/>
              <a:t>Эта функция имеет частичные аналоги: функция </a:t>
            </a:r>
            <a:r>
              <a:rPr lang="ru-RU" sz="2400" b="1" dirty="0" err="1"/>
              <a:t>TrimStart</a:t>
            </a:r>
            <a:r>
              <a:rPr lang="ru-RU" sz="2400" dirty="0"/>
              <a:t> обрезает начальные символы, а функция </a:t>
            </a:r>
            <a:r>
              <a:rPr lang="ru-RU" sz="2400" b="1" dirty="0" err="1"/>
              <a:t>TrimEnd</a:t>
            </a:r>
            <a:r>
              <a:rPr lang="ru-RU" sz="2400" dirty="0"/>
              <a:t> обрезает конечные символы.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68" y="4784437"/>
            <a:ext cx="9180238" cy="14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0300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93169"/>
            <a:ext cx="8596668" cy="803564"/>
          </a:xfrm>
        </p:spPr>
        <p:txBody>
          <a:bodyPr/>
          <a:lstStyle/>
          <a:p>
            <a:r>
              <a:rPr lang="ru-RU" i="1" dirty="0"/>
              <a:t>Получение части строки (вырезка)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136073"/>
            <a:ext cx="8596668" cy="2014247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Функция </a:t>
            </a:r>
            <a:r>
              <a:rPr lang="ru-RU" sz="2400" b="1" dirty="0" err="1"/>
              <a:t>Substring</a:t>
            </a:r>
            <a:r>
              <a:rPr lang="ru-RU" sz="2400" dirty="0"/>
              <a:t> возвращает обрезанную строку. </a:t>
            </a:r>
          </a:p>
          <a:p>
            <a:r>
              <a:rPr lang="ru-RU" sz="2400" dirty="0"/>
              <a:t>В качестве параметра первая использованная версия применяет индекс, начиная с которого надо вырезать строку. Вторая версия применяет два параметра - индекс начала обрезки и длину вырезаемой части строки.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902" y="3289659"/>
            <a:ext cx="6858897" cy="337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034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52581"/>
            <a:ext cx="8596668" cy="738909"/>
          </a:xfrm>
        </p:spPr>
        <p:txBody>
          <a:bodyPr/>
          <a:lstStyle/>
          <a:p>
            <a:r>
              <a:rPr lang="ru-RU" i="1" dirty="0"/>
              <a:t>Вставка подстроки в строку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93970"/>
            <a:ext cx="9076266" cy="1792575"/>
          </a:xfrm>
        </p:spPr>
        <p:txBody>
          <a:bodyPr>
            <a:normAutofit/>
          </a:bodyPr>
          <a:lstStyle/>
          <a:p>
            <a:r>
              <a:rPr lang="ru-RU" sz="2400" dirty="0"/>
              <a:t>Для вставки одной строки в другую применяется функция </a:t>
            </a:r>
            <a:r>
              <a:rPr lang="ru-RU" sz="2400" b="1" dirty="0" err="1"/>
              <a:t>Insert</a:t>
            </a:r>
            <a:r>
              <a:rPr lang="ru-RU" sz="2400" dirty="0"/>
              <a:t>.</a:t>
            </a:r>
          </a:p>
          <a:p>
            <a:r>
              <a:rPr lang="ru-RU" sz="2400" dirty="0"/>
              <a:t>Первым параметром в функции </a:t>
            </a:r>
            <a:r>
              <a:rPr lang="ru-RU" sz="2400" b="1" dirty="0" err="1"/>
              <a:t>Insert</a:t>
            </a:r>
            <a:r>
              <a:rPr lang="ru-RU" sz="2400" dirty="0"/>
              <a:t> является индекс, по которому надо вставлять подстроку, а второй параметр - собственно подстрока.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54" y="3186545"/>
            <a:ext cx="8285256" cy="186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350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86327"/>
            <a:ext cx="8596668" cy="775855"/>
          </a:xfrm>
        </p:spPr>
        <p:txBody>
          <a:bodyPr/>
          <a:lstStyle/>
          <a:p>
            <a:r>
              <a:rPr lang="ru-RU" i="1" dirty="0"/>
              <a:t>Удаление символов в строке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37673"/>
            <a:ext cx="9076266" cy="1774103"/>
          </a:xfrm>
        </p:spPr>
        <p:txBody>
          <a:bodyPr>
            <a:noAutofit/>
          </a:bodyPr>
          <a:lstStyle/>
          <a:p>
            <a:r>
              <a:rPr lang="ru-RU" sz="2400" dirty="0"/>
              <a:t>Удалить часть строки помогает метод </a:t>
            </a:r>
            <a:r>
              <a:rPr lang="ru-RU" sz="2400" b="1" dirty="0" err="1"/>
              <a:t>Remove</a:t>
            </a:r>
            <a:r>
              <a:rPr lang="ru-RU" sz="2400" b="1" dirty="0"/>
              <a:t> </a:t>
            </a:r>
          </a:p>
          <a:p>
            <a:r>
              <a:rPr lang="ru-RU" sz="2400" dirty="0"/>
              <a:t>Первая версия метода </a:t>
            </a:r>
            <a:r>
              <a:rPr lang="ru-RU" sz="2400" dirty="0" err="1"/>
              <a:t>Remove</a:t>
            </a:r>
            <a:r>
              <a:rPr lang="ru-RU" sz="2400" dirty="0"/>
              <a:t> принимает индекс в строке, начиная с которого надо удалить все символы. Вторая версия принимает еще один параметр - сколько символов надо удалить.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66" y="3187267"/>
            <a:ext cx="5775726" cy="346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738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87927"/>
            <a:ext cx="8596668" cy="720436"/>
          </a:xfrm>
        </p:spPr>
        <p:txBody>
          <a:bodyPr/>
          <a:lstStyle/>
          <a:p>
            <a:r>
              <a:rPr lang="ru-RU" i="1" dirty="0"/>
              <a:t>Замена символов в строке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9697" y="1357745"/>
            <a:ext cx="8504306" cy="2493820"/>
          </a:xfrm>
        </p:spPr>
        <p:txBody>
          <a:bodyPr>
            <a:normAutofit/>
          </a:bodyPr>
          <a:lstStyle/>
          <a:p>
            <a:r>
              <a:rPr lang="ru-RU" sz="2400" dirty="0"/>
              <a:t>Чтобы заменить один символ или подстроку на другую, применяется метод </a:t>
            </a:r>
            <a:r>
              <a:rPr lang="ru-RU" sz="2400" b="1" dirty="0" err="1"/>
              <a:t>Replace</a:t>
            </a:r>
            <a:endParaRPr lang="ru-RU" sz="2400" b="1" dirty="0"/>
          </a:p>
          <a:p>
            <a:r>
              <a:rPr lang="ru-RU" sz="2400" dirty="0"/>
              <a:t>Во втором случае применения функции </a:t>
            </a:r>
            <a:r>
              <a:rPr lang="ru-RU" sz="2400" b="1" dirty="0" err="1"/>
              <a:t>Replace</a:t>
            </a:r>
            <a:r>
              <a:rPr lang="ru-RU" sz="2400" dirty="0"/>
              <a:t> строка из одного символа "о" заменяется на пустую строку, то есть фактически удаляется из текста. Подобным способом легко удалять какой-то определенный текст в строках.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279" y="3851565"/>
            <a:ext cx="5985168" cy="249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544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71055"/>
            <a:ext cx="8596668" cy="960582"/>
          </a:xfrm>
        </p:spPr>
        <p:txBody>
          <a:bodyPr/>
          <a:lstStyle/>
          <a:p>
            <a:r>
              <a:rPr lang="ru-RU" i="1" dirty="0"/>
              <a:t>Смена регистра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541754"/>
            <a:ext cx="8863830" cy="868937"/>
          </a:xfrm>
        </p:spPr>
        <p:txBody>
          <a:bodyPr>
            <a:normAutofit/>
          </a:bodyPr>
          <a:lstStyle/>
          <a:p>
            <a:r>
              <a:rPr lang="ru-RU" sz="2400" dirty="0"/>
              <a:t>Для приведения строки </a:t>
            </a:r>
            <a:r>
              <a:rPr lang="ru-RU" sz="2400" b="1" dirty="0"/>
              <a:t>к верхнему и нижнему регистру </a:t>
            </a:r>
            <a:r>
              <a:rPr lang="ru-RU" sz="2400" dirty="0"/>
              <a:t>используются соответственно функции </a:t>
            </a:r>
            <a:r>
              <a:rPr lang="ru-RU" sz="2400" b="1" dirty="0" err="1"/>
              <a:t>ToUpper</a:t>
            </a:r>
            <a:r>
              <a:rPr lang="ru-RU" sz="2400" b="1" dirty="0"/>
              <a:t>() </a:t>
            </a:r>
            <a:r>
              <a:rPr lang="ru-RU" sz="2400" dirty="0"/>
              <a:t>и </a:t>
            </a:r>
            <a:r>
              <a:rPr lang="ru-RU" sz="2400" b="1" dirty="0" err="1"/>
              <a:t>ToLower</a:t>
            </a:r>
            <a:r>
              <a:rPr lang="ru-RU" sz="2400" b="1" dirty="0"/>
              <a:t>()</a:t>
            </a:r>
            <a:r>
              <a:rPr lang="ru-RU" sz="2400" dirty="0"/>
              <a:t>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27" y="2735255"/>
            <a:ext cx="7380868" cy="147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220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Задача 5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700635"/>
            <a:ext cx="7947920" cy="24834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/>
              <a:t>В заданной с клавиатуры строке подсчитать:</a:t>
            </a:r>
          </a:p>
          <a:p>
            <a:pPr lvl="1"/>
            <a:r>
              <a:rPr lang="ru-RU" sz="2800" dirty="0"/>
              <a:t> Количество букв латинского алфавита;</a:t>
            </a:r>
          </a:p>
          <a:p>
            <a:pPr lvl="1"/>
            <a:r>
              <a:rPr lang="ru-RU" sz="2800" dirty="0"/>
              <a:t> Количество знаков препинания.</a:t>
            </a:r>
          </a:p>
        </p:txBody>
      </p:sp>
    </p:spTree>
    <p:extLst>
      <p:ext uri="{BB962C8B-B14F-4D97-AF65-F5344CB8AC3E}">
        <p14:creationId xmlns:p14="http://schemas.microsoft.com/office/powerpoint/2010/main" val="4250401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Задача 6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700635"/>
            <a:ext cx="8743757" cy="2483438"/>
          </a:xfrm>
        </p:spPr>
        <p:txBody>
          <a:bodyPr>
            <a:noAutofit/>
          </a:bodyPr>
          <a:lstStyle/>
          <a:p>
            <a:r>
              <a:rPr lang="ru-RU" sz="2800" dirty="0"/>
              <a:t>В заданном с клавиатуры тексте найти слова, которые заканчиваются на сочетания букв «</a:t>
            </a:r>
            <a:r>
              <a:rPr lang="ru-RU" sz="2800" dirty="0" err="1"/>
              <a:t>ов</a:t>
            </a:r>
            <a:r>
              <a:rPr lang="ru-RU" sz="2800" dirty="0"/>
              <a:t>» или «</a:t>
            </a:r>
            <a:r>
              <a:rPr lang="ru-RU" sz="2800" dirty="0" err="1"/>
              <a:t>ова</a:t>
            </a:r>
            <a:r>
              <a:rPr lang="ru-RU" sz="2800" dirty="0"/>
              <a:t>». </a:t>
            </a:r>
            <a:br>
              <a:rPr lang="ru-RU" sz="2800" dirty="0"/>
            </a:br>
            <a:r>
              <a:rPr lang="ru-RU" sz="2800" dirty="0"/>
              <a:t>Слова в тексте разделены пробелами и знаками препинания.</a:t>
            </a:r>
          </a:p>
          <a:p>
            <a:r>
              <a:rPr lang="ru-RU" sz="2800" dirty="0"/>
              <a:t>Если таких слов нет, то вывести сообщение об этом.</a:t>
            </a:r>
          </a:p>
        </p:txBody>
      </p:sp>
    </p:spTree>
    <p:extLst>
      <p:ext uri="{BB962C8B-B14F-4D97-AF65-F5344CB8AC3E}">
        <p14:creationId xmlns:p14="http://schemas.microsoft.com/office/powerpoint/2010/main" val="40758966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Другая 2">
      <a:majorFont>
        <a:latin typeface="Trebuchet MS"/>
        <a:ea typeface=""/>
        <a:cs typeface=""/>
      </a:majorFont>
      <a:minorFont>
        <a:latin typeface="Times New Roman"/>
        <a:ea typeface=""/>
        <a:cs typeface="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2061</TotalTime>
  <Words>1133</Words>
  <Application>Microsoft Office PowerPoint</Application>
  <PresentationFormat>Широкоэкранный</PresentationFormat>
  <Paragraphs>153</Paragraphs>
  <Slides>47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7" baseType="lpstr">
      <vt:lpstr>Arial</vt:lpstr>
      <vt:lpstr>Calibri</vt:lpstr>
      <vt:lpstr>Calibri Light</vt:lpstr>
      <vt:lpstr>Consolas</vt:lpstr>
      <vt:lpstr>Times New Roman</vt:lpstr>
      <vt:lpstr>Trebuchet MS</vt:lpstr>
      <vt:lpstr>Wingdings 3</vt:lpstr>
      <vt:lpstr>Аспект</vt:lpstr>
      <vt:lpstr>Тема Office</vt:lpstr>
      <vt:lpstr>Visio</vt:lpstr>
      <vt:lpstr>Однородные структуры данных: массивы, строки</vt:lpstr>
      <vt:lpstr>Массивы</vt:lpstr>
      <vt:lpstr>Что такое массив?</vt:lpstr>
      <vt:lpstr>Выделение памяти под массив</vt:lpstr>
      <vt:lpstr>Индексы и получение элементов массива</vt:lpstr>
      <vt:lpstr>Свойство Length и длина массива</vt:lpstr>
      <vt:lpstr>Получение элементов с конца массива</vt:lpstr>
      <vt:lpstr>Перебор массивов</vt:lpstr>
      <vt:lpstr>Многомерные массивы</vt:lpstr>
      <vt:lpstr>Различные способы объявления многомерных массивов</vt:lpstr>
      <vt:lpstr>Массив массивов</vt:lpstr>
      <vt:lpstr>Основные понятия массивов</vt:lpstr>
      <vt:lpstr>Примеры массивов:</vt:lpstr>
      <vt:lpstr>Пример обработки массива Вычисление количества положительных элементов массива</vt:lpstr>
      <vt:lpstr>Пример обработки массива Инверсия массива – элементы пойдут в обратном порядке</vt:lpstr>
      <vt:lpstr>Задача 1</vt:lpstr>
      <vt:lpstr>Задача 2</vt:lpstr>
      <vt:lpstr>Рассмотрим двухмерный массив </vt:lpstr>
      <vt:lpstr>Обработка двухмерного массива</vt:lpstr>
      <vt:lpstr>Обработка всего массива:</vt:lpstr>
      <vt:lpstr>Обработка по строкам:</vt:lpstr>
      <vt:lpstr>Обработка по столбцам:</vt:lpstr>
      <vt:lpstr>Сформулируйте условия задач  1.                                         2.</vt:lpstr>
      <vt:lpstr>3.                                                 4.</vt:lpstr>
      <vt:lpstr>5.                                         6.</vt:lpstr>
      <vt:lpstr>Задача 3</vt:lpstr>
      <vt:lpstr>Задача 4</vt:lpstr>
      <vt:lpstr>Строки</vt:lpstr>
      <vt:lpstr>Строки</vt:lpstr>
      <vt:lpstr>Создание строк</vt:lpstr>
      <vt:lpstr>Строка как набор символов</vt:lpstr>
      <vt:lpstr>Перебор строк</vt:lpstr>
      <vt:lpstr>Сравнение строк</vt:lpstr>
      <vt:lpstr>Операции со строками   Объединение строк</vt:lpstr>
      <vt:lpstr> </vt:lpstr>
      <vt:lpstr>Сравнение строк</vt:lpstr>
      <vt:lpstr>Поиск подстроки в строке</vt:lpstr>
      <vt:lpstr>Поиск подстроки в начале или  в конце строки</vt:lpstr>
      <vt:lpstr>Разделение строк</vt:lpstr>
      <vt:lpstr>Обрезка начальных или концевых символов строк</vt:lpstr>
      <vt:lpstr>Получение части строки (вырезка)</vt:lpstr>
      <vt:lpstr>Вставка подстроки в строку</vt:lpstr>
      <vt:lpstr>Удаление символов в строке</vt:lpstr>
      <vt:lpstr>Замена символов в строке</vt:lpstr>
      <vt:lpstr>Смена регистра</vt:lpstr>
      <vt:lpstr>Задача 5</vt:lpstr>
      <vt:lpstr>Задача 6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Наталья</dc:creator>
  <cp:lastModifiedBy>user</cp:lastModifiedBy>
  <cp:revision>81</cp:revision>
  <dcterms:created xsi:type="dcterms:W3CDTF">2022-09-14T20:29:10Z</dcterms:created>
  <dcterms:modified xsi:type="dcterms:W3CDTF">2025-09-10T09:34:46Z</dcterms:modified>
</cp:coreProperties>
</file>