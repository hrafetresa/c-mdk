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256" r:id="rId3"/>
    <p:sldId id="257" r:id="rId4"/>
    <p:sldId id="258" r:id="rId5"/>
    <p:sldId id="259" r:id="rId6"/>
    <p:sldId id="263" r:id="rId7"/>
    <p:sldId id="262" r:id="rId8"/>
    <p:sldId id="260" r:id="rId9"/>
    <p:sldId id="279" r:id="rId10"/>
    <p:sldId id="280" r:id="rId11"/>
    <p:sldId id="261" r:id="rId12"/>
    <p:sldId id="264" r:id="rId13"/>
    <p:sldId id="269" r:id="rId14"/>
    <p:sldId id="268" r:id="rId15"/>
    <p:sldId id="285" r:id="rId16"/>
    <p:sldId id="272" r:id="rId17"/>
    <p:sldId id="265" r:id="rId18"/>
    <p:sldId id="270" r:id="rId19"/>
    <p:sldId id="271" r:id="rId20"/>
    <p:sldId id="284" r:id="rId21"/>
    <p:sldId id="286" r:id="rId22"/>
    <p:sldId id="281" r:id="rId23"/>
    <p:sldId id="273" r:id="rId24"/>
    <p:sldId id="282" r:id="rId25"/>
    <p:sldId id="283" r:id="rId26"/>
    <p:sldId id="274" r:id="rId27"/>
    <p:sldId id="266" r:id="rId28"/>
    <p:sldId id="267" r:id="rId29"/>
    <p:sldId id="275" r:id="rId30"/>
    <p:sldId id="27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45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05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15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53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84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246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09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171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9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50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458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74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3900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129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994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580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2CC7A-679C-4C66-A328-0EEF9D9A8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E34ABA-97C4-42AB-9D11-3FDE908DF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0F8724-4F02-49DA-98B0-22051F06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46C8E7-A9D5-4F3A-BEF9-5F310F5BA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5171BE-5FAA-41FA-9398-0F6877FF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40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D58F4-0ACE-440F-9C7D-1C4B6DAB6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072B23-038E-4EF8-AC31-CC268F854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5B14CA-DCEE-4FA2-A7CB-D2FE686D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CC0015-EB6A-4A32-9954-9A09014A0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FF13DA-1919-44A9-B553-293AB9A2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328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204C3-673A-46D3-87FE-C65299F2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672704-986B-4AEB-92DC-8E8EABC13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49BB34-8C10-4119-864B-DA1BEBEF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1FF1D3-75F9-4E63-A923-FAA152D3D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64D7E2-DDEA-409C-AB3C-30CB4739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034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0F71B-198A-4F59-8F88-FAEB3083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288AC-B2DC-4761-8F1E-6118AE876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259D0F-2B3F-409E-A6F7-22B47E105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83186D-A43F-4D26-B3EE-7F04D9AC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1950A6-0805-44ED-9928-6808EB04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3AF390-511D-4C46-BE78-AB56DECD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62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5689C-F6AA-461C-A0E5-DBCEC1146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AC797A-0E55-4021-85F6-B3EBF45C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D8DBCB-FAC6-48FE-9982-A89ED5DB0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6E57A5-9489-4A81-A855-1B79BE9FC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58F4F2B-AF88-4E6A-81E9-B1A198E63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31763F7-C803-4E8D-88D0-CF33453C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755E93E-58F4-49C6-9473-DEF9F680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3C0702-CC63-49EE-8012-4D7FC7A4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7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1D70D-3378-405C-83F6-37F16994B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031205-0EB1-4338-AFE5-7F0AD79E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4BCA4A-BED5-4257-A86A-C01EB406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DEC3B9-C74B-43D6-B7DE-42B1B025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340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32B352-08E0-41B5-82D9-2FB5D85E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373C17-F6DD-4519-AA8D-32057740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EBFB03-23A3-46E4-83A0-D330DE4D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4373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E683C6-78AC-4711-A03C-A55A016E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F00A0-E6B0-451C-9F48-D24396822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8920E5-BFCF-4D52-A830-2FD20E32D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9B05BC-9C4E-44B8-B7CD-EB2DF606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868C89-CBE3-4469-B363-8E2F94F2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3F44CA-BBBD-4BCB-9756-8EF02B2A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23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E42502-7FF2-4A60-969E-D86504BB4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17BC585-383F-4602-8FF3-ABD91185D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02E979-9A7D-424A-B30C-AE8192DE6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C5519C-05F9-4FEC-A798-08D3F9D68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B27D4D-6A11-4346-8E34-F99DE75E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85DF4C-22A9-4F2C-99AF-8BEABBA4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805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7B2886-D0CF-4F30-82AF-75D7DDD0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412CED-262E-4C8C-9AFC-BD8CA546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B5A6C3-9BD6-471E-B8DD-A60681B6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A6CD3D-B17A-4436-9D2B-D2B63C0D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03654C-F987-425E-B346-DD5EEE70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3350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AF3A60D-DDA4-491A-8861-11D12393B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C83F29-FDB0-4630-9369-C054382DE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C01567-8068-4320-B74F-E1281ADB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68F790-BB17-47E2-A1E8-84FBD31A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0888BE-B168-4412-8708-E65B8E58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78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99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CD4FE-D5F8-4A7B-BF59-EB378535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88B854-D349-4C97-80C7-2143F2521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310BA5-7AFC-401D-9691-2071360C1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777CB-FAB6-41C9-BABB-4D05E5A63732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E476E7-8E6D-4081-B745-833C0DA5B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B771B7-2B0F-4218-9156-04EE4A7C6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61341-8285-4205-A7DF-FD03DA7CD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9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D14B7-768F-445E-93FB-38B304622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Работа с графикой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EAF8C6-1A32-46BD-BFC5-8003FAEE0E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МДК.01.01 Разработка программных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1177973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A5A0D9-B4C5-43CA-A900-DE4DFF53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объекта </a:t>
            </a:r>
            <a:r>
              <a:rPr lang="en-US" dirty="0"/>
              <a:t>Graphics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9CD4E0-D955-46B3-9B0B-BF8A128A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3864"/>
            <a:ext cx="8596668" cy="44211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Перед тем, как начать заниматься рисованием линий и фигур, отрисовкой текста или отображением изображений и управления ими с помощью GDI+, необходимо создать объект </a:t>
            </a:r>
            <a:r>
              <a:rPr lang="ru-RU" sz="2400" dirty="0">
                <a:solidFill>
                  <a:srgbClr val="161616"/>
                </a:solidFill>
                <a:latin typeface="Segoe UI" panose="020B0502040204020203" pitchFamily="34" charset="0"/>
              </a:rPr>
              <a:t>Graphics</a:t>
            </a:r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</a:t>
            </a:r>
            <a:endParaRPr lang="en-US" sz="24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Объект </a:t>
            </a:r>
            <a:r>
              <a:rPr lang="ru-RU" sz="2400" dirty="0">
                <a:solidFill>
                  <a:srgbClr val="161616"/>
                </a:solidFill>
                <a:latin typeface="Segoe UI" panose="020B0502040204020203" pitchFamily="34" charset="0"/>
              </a:rPr>
              <a:t>Graphics</a:t>
            </a:r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представляет собой поверхность рисования GDI+ и используется для создания графических изображений.</a:t>
            </a:r>
            <a:endParaRPr lang="en-US" sz="24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algn="l"/>
            <a:endParaRPr lang="ru-RU" sz="24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ru-RU" sz="24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Существует два этапа работы с графикой:</a:t>
            </a:r>
          </a:p>
          <a:p>
            <a:r>
              <a:rPr lang="ru-RU" sz="2400" dirty="0">
                <a:solidFill>
                  <a:srgbClr val="161616"/>
                </a:solidFill>
                <a:latin typeface="Segoe UI" panose="020B0502040204020203" pitchFamily="34" charset="0"/>
              </a:rPr>
              <a:t>Создание объекта Graphics.</a:t>
            </a:r>
          </a:p>
          <a:p>
            <a:r>
              <a:rPr lang="ru-RU" sz="2400" dirty="0">
                <a:solidFill>
                  <a:srgbClr val="161616"/>
                </a:solidFill>
                <a:latin typeface="Segoe UI" panose="020B0502040204020203" pitchFamily="34" charset="0"/>
              </a:rPr>
              <a:t>Использование объекта Graphics для рисования линий и фигур, отрисовки текста или отображения изображений и управления ими.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8829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70CBA5-4E87-4E47-9088-00BB3874F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7202"/>
            <a:ext cx="8596668" cy="1320800"/>
          </a:xfrm>
        </p:spPr>
        <p:txBody>
          <a:bodyPr/>
          <a:lstStyle/>
          <a:p>
            <a:r>
              <a:rPr lang="ru-RU" dirty="0"/>
              <a:t>Как создать графический объект?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33CC30-400E-46CD-8714-2FDA466D0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9634"/>
            <a:ext cx="8596668" cy="32755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600" b="1" i="0" dirty="0">
                <a:solidFill>
                  <a:schemeClr val="accent6">
                    <a:lumMod val="75000"/>
                  </a:schemeClr>
                </a:solidFill>
                <a:effectLst/>
                <a:latin typeface="Segoe UI" panose="020B0502040204020203" pitchFamily="34" charset="0"/>
              </a:rPr>
              <a:t>Способ 1</a:t>
            </a:r>
          </a:p>
          <a:p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Получите ссылку на графический объект как часть 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PaintEventArgs</a:t>
            </a:r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события формы или элемента управления 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Paint</a:t>
            </a:r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Обычно ссылка на графический объект таким образом берется при создании кода рисования для элемента управления. </a:t>
            </a:r>
          </a:p>
          <a:p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Аналогичным образом можно также получить графический объект в качестве свойства 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PrintPageEventArgs</a:t>
            </a:r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при обработке события 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PrintPage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для объекта 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PrintDocument</a:t>
            </a:r>
            <a:r>
              <a:rPr lang="ru-RU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AB593-F047-48EE-BB1D-AEBB7ED4DDC5}"/>
              </a:ext>
            </a:extLst>
          </p:cNvPr>
          <p:cNvSpPr txBox="1"/>
          <p:nvPr/>
        </p:nvSpPr>
        <p:spPr>
          <a:xfrm>
            <a:off x="172864" y="4760445"/>
            <a:ext cx="91011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Graphics g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Pen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(pen, 20, 20, 200, 200);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043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21B11-9B63-41B5-A69C-3919882FD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создать графический объект?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2D82FA-2E8B-49F5-B60C-615BBF4D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96" y="1569166"/>
            <a:ext cx="9322343" cy="24209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600" b="1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</a:rPr>
              <a:t>Способ 2</a:t>
            </a:r>
          </a:p>
          <a:p>
            <a:r>
              <a:rPr lang="ru-RU" sz="2400" dirty="0">
                <a:solidFill>
                  <a:srgbClr val="161616"/>
                </a:solidFill>
                <a:latin typeface="Segoe UI" panose="020B0502040204020203" pitchFamily="34" charset="0"/>
              </a:rPr>
              <a:t>Вызовите метод элемента управления или формы 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CreateGraphics</a:t>
            </a:r>
            <a:r>
              <a:rPr lang="ru-RU" sz="2400" dirty="0">
                <a:solidFill>
                  <a:srgbClr val="161616"/>
                </a:solidFill>
                <a:latin typeface="Segoe UI" panose="020B0502040204020203" pitchFamily="34" charset="0"/>
              </a:rPr>
              <a:t>, чтобы получить ссылку на объект 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Graphics</a:t>
            </a:r>
            <a:r>
              <a:rPr lang="ru-RU" sz="2400" dirty="0">
                <a:solidFill>
                  <a:srgbClr val="161616"/>
                </a:solidFill>
                <a:latin typeface="Segoe UI" panose="020B0502040204020203" pitchFamily="34" charset="0"/>
              </a:rPr>
              <a:t>, представляющий собой </a:t>
            </a:r>
            <a:r>
              <a:rPr lang="ru-RU" sz="2400" b="1" dirty="0">
                <a:solidFill>
                  <a:srgbClr val="161616"/>
                </a:solidFill>
                <a:latin typeface="Segoe UI" panose="020B0502040204020203" pitchFamily="34" charset="0"/>
              </a:rPr>
              <a:t>область рисования этого элемента </a:t>
            </a:r>
            <a:r>
              <a:rPr lang="ru-RU" sz="2400" dirty="0">
                <a:solidFill>
                  <a:srgbClr val="161616"/>
                </a:solidFill>
                <a:latin typeface="Segoe UI" panose="020B0502040204020203" pitchFamily="34" charset="0"/>
              </a:rPr>
              <a:t>управления или формы. Используйте этот метод, если необходимо нарисовать на форме или элементе управления, которые уже существуют.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19D83-D385-4091-8E58-9579B7F734ED}"/>
              </a:ext>
            </a:extLst>
          </p:cNvPr>
          <p:cNvSpPr txBox="1"/>
          <p:nvPr/>
        </p:nvSpPr>
        <p:spPr>
          <a:xfrm>
            <a:off x="394282" y="4252280"/>
            <a:ext cx="81867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panel1_Click(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g = panel1.CreateGraphics();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(pen, 20, 20, 200, 200);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900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B44D8-8BB0-4197-8FED-13E07091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2060"/>
            <a:ext cx="8596668" cy="515936"/>
          </a:xfrm>
        </p:spPr>
        <p:txBody>
          <a:bodyPr>
            <a:normAutofit fontScale="90000"/>
          </a:bodyPr>
          <a:lstStyle/>
          <a:p>
            <a:r>
              <a:rPr lang="ru-RU" dirty="0"/>
              <a:t>Результат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4C49D2-064C-40F6-AE42-FC58F5C75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634" y="1254922"/>
            <a:ext cx="8596668" cy="515936"/>
          </a:xfrm>
        </p:spPr>
        <p:txBody>
          <a:bodyPr>
            <a:normAutofit/>
          </a:bodyPr>
          <a:lstStyle/>
          <a:p>
            <a:r>
              <a:rPr lang="ru-RU" sz="2000" dirty="0"/>
              <a:t>Линия на поверхности формы и на поверхности панели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31D17E-F795-4168-808C-E842193D7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171" y="1888306"/>
            <a:ext cx="6179977" cy="374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14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21B11-9B63-41B5-A69C-3919882F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1827"/>
            <a:ext cx="8596668" cy="954523"/>
          </a:xfrm>
        </p:spPr>
        <p:txBody>
          <a:bodyPr/>
          <a:lstStyle/>
          <a:p>
            <a:r>
              <a:rPr lang="ru-RU" dirty="0"/>
              <a:t>Как создать графический объект?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2D82FA-2E8B-49F5-B60C-615BBF4D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1465"/>
            <a:ext cx="8596668" cy="2420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rgbClr val="161616"/>
                </a:solidFill>
                <a:latin typeface="Segoe UI" panose="020B0502040204020203" pitchFamily="34" charset="0"/>
              </a:rPr>
              <a:t>Способ 3</a:t>
            </a:r>
          </a:p>
          <a:p>
            <a:r>
              <a:rPr lang="ru-RU" sz="2000" dirty="0">
                <a:solidFill>
                  <a:srgbClr val="161616"/>
                </a:solidFill>
                <a:latin typeface="Segoe UI" panose="020B0502040204020203" pitchFamily="34" charset="0"/>
              </a:rPr>
              <a:t>Создайте объект 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Graphics</a:t>
            </a:r>
            <a:r>
              <a:rPr lang="ru-RU" sz="2000" dirty="0">
                <a:solidFill>
                  <a:srgbClr val="161616"/>
                </a:solidFill>
                <a:latin typeface="Segoe UI" panose="020B0502040204020203" pitchFamily="34" charset="0"/>
              </a:rPr>
              <a:t> из любого объекта, наследуемого от Image. Этот вариант подходит если вы хотите изменить уже существующее изображение.</a:t>
            </a:r>
          </a:p>
          <a:p>
            <a:r>
              <a:rPr lang="ru-RU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Вызовите метод </a:t>
            </a:r>
            <a:r>
              <a:rPr lang="ru-R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Graphics.FromImage</a:t>
            </a:r>
            <a:r>
              <a:rPr lang="ru-RU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, указав имя переменной изображения, из которой требуется создать объект 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Graphics</a:t>
            </a:r>
            <a:r>
              <a:rPr lang="ru-RU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</a:t>
            </a:r>
            <a:endParaRPr lang="ru-RU" sz="2000" dirty="0">
              <a:solidFill>
                <a:srgbClr val="161616"/>
              </a:solidFill>
              <a:latin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19D83-D385-4091-8E58-9579B7F734ED}"/>
              </a:ext>
            </a:extLst>
          </p:cNvPr>
          <p:cNvSpPr txBox="1"/>
          <p:nvPr/>
        </p:nvSpPr>
        <p:spPr>
          <a:xfrm>
            <a:off x="234892" y="4150489"/>
            <a:ext cx="8186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Bitmap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myBitmap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Bitmap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@"C:\temp\</a:t>
            </a:r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.bmp"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.FromImage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myBitmap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4595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5A6DA-9BC9-4E2C-81A7-D431A014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08" y="313645"/>
            <a:ext cx="8914341" cy="990600"/>
          </a:xfrm>
        </p:spPr>
        <p:txBody>
          <a:bodyPr/>
          <a:lstStyle/>
          <a:p>
            <a:r>
              <a:rPr lang="ru-RU" dirty="0"/>
              <a:t>Задание толщины и выравнивания пера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2BDC82-FE88-4DE6-AE1C-1AF4F41E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15" y="3774198"/>
            <a:ext cx="6745287" cy="2817442"/>
          </a:xfrm>
        </p:spPr>
        <p:txBody>
          <a:bodyPr>
            <a:noAutofit/>
          </a:bodyPr>
          <a:lstStyle/>
          <a:p>
            <a:r>
              <a:rPr lang="ru-RU" sz="2200" dirty="0"/>
              <a:t>Установим значение свойства </a:t>
            </a:r>
            <a:r>
              <a:rPr lang="ru-RU" sz="2200" dirty="0" err="1"/>
              <a:t>Alignment</a:t>
            </a:r>
            <a:r>
              <a:rPr lang="ru-RU" sz="2200" dirty="0"/>
              <a:t> равным Center (значение по умолчанию), чтобы указать, что рисуемые зеленым пером пиксели должны быть центрированы по абстрактной линии.</a:t>
            </a:r>
          </a:p>
          <a:p>
            <a:r>
              <a:rPr lang="ru-RU" sz="2200" dirty="0"/>
              <a:t>В примере кода линия рисуется дважды: в первый раз — черным пером толщиной 1, а во второй — зеленым пером толщиной 10.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7D28DE-4D1D-4F68-898C-5EEABE0DA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902" y="2836643"/>
            <a:ext cx="3889461" cy="35810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93197F-269B-4822-9441-104245595117}"/>
              </a:ext>
            </a:extLst>
          </p:cNvPr>
          <p:cNvSpPr txBox="1"/>
          <p:nvPr/>
        </p:nvSpPr>
        <p:spPr>
          <a:xfrm>
            <a:off x="324908" y="1120676"/>
            <a:ext cx="95906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blackPen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(255, 0, 0, 0), 1);</a:t>
            </a:r>
          </a:p>
          <a:p>
            <a:r>
              <a:rPr lang="ru-RU" dirty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greenPen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(255, 0, 255, 0), 10);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greenPen.Alignment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PenAlignment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.Center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         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greenPen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20, 20, 200, 200);          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blackPen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20, 20, 200, 200);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645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EC28A-04B0-4EF1-A6C3-50241570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1000"/>
            <a:ext cx="8596668" cy="895350"/>
          </a:xfrm>
        </p:spPr>
        <p:txBody>
          <a:bodyPr/>
          <a:lstStyle/>
          <a:p>
            <a:r>
              <a:rPr lang="ru-RU" dirty="0"/>
              <a:t>Выравнивание пера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50BD71-3F05-4CD1-A763-BE23D197F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395" y="3942592"/>
            <a:ext cx="7209366" cy="1538061"/>
          </a:xfrm>
        </p:spPr>
        <p:txBody>
          <a:bodyPr>
            <a:noAutofit/>
          </a:bodyPr>
          <a:lstStyle/>
          <a:p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Измените выравнивание зеленого пера на </a:t>
            </a:r>
            <a:r>
              <a:rPr lang="en-US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Inset</a:t>
            </a:r>
          </a:p>
          <a:p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Теперь пиксели жирной зеленой линии располагаются внутри прямоугольника</a:t>
            </a:r>
            <a:endParaRPr lang="ru-RU" sz="2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C6454F-A383-49F6-B7D1-9889F3467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087692"/>
            <a:ext cx="3810000" cy="35078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9F7595-00E7-4029-9E98-7AD2D6407EE0}"/>
              </a:ext>
            </a:extLst>
          </p:cNvPr>
          <p:cNvSpPr txBox="1"/>
          <p:nvPr/>
        </p:nvSpPr>
        <p:spPr>
          <a:xfrm>
            <a:off x="-401388" y="1377347"/>
            <a:ext cx="98012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blackPen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(255, 0, 0, 0), 1);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greenPen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(255, 0, 255, 0), 10);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greenPen.Alignment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PenAlignment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.Inset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      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greenPen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20, 20, 200, 200);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blackPen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20, 20, 200, 200);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5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ABEB3-53C1-47F6-AF15-CDF85193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линий с наконечниками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51AF21-4AE8-459C-B17A-E87170C45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747782"/>
            <a:ext cx="6590241" cy="3006463"/>
          </a:xfrm>
        </p:spPr>
        <p:txBody>
          <a:bodyPr>
            <a:normAutofit/>
          </a:bodyPr>
          <a:lstStyle/>
          <a:p>
            <a:pPr algn="l"/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Наконечники можно установить для начала линии (наконечник начала) и ее конца (наконечник конца), а также для строк пунктирной линии (наконечники пунктира).</a:t>
            </a:r>
          </a:p>
          <a:p>
            <a:pPr algn="l"/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В следующем примере рисуется линия со стрелкой на одном конце и круглым наконечником на другом.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81F6D6-F29B-44AD-84EB-91DBC9D20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3" y="2806701"/>
            <a:ext cx="3939747" cy="32417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3085D5-8E22-416C-934E-48017EF5C0E5}"/>
              </a:ext>
            </a:extLst>
          </p:cNvPr>
          <p:cNvSpPr txBox="1"/>
          <p:nvPr/>
        </p:nvSpPr>
        <p:spPr>
          <a:xfrm>
            <a:off x="-347662" y="1397675"/>
            <a:ext cx="109585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(255, 0, 0, 255), 8);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pen.StartCap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LineCap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.ArrowAnchor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pen.EndCap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LineCap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.RoundAnchor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(pen, 20, 175, 300, 175);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3222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1A9D2-52A2-49EB-98D1-49BED2B3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5568"/>
            <a:ext cx="8596668" cy="935057"/>
          </a:xfrm>
        </p:spPr>
        <p:txBody>
          <a:bodyPr/>
          <a:lstStyle/>
          <a:p>
            <a:r>
              <a:rPr lang="ru-RU" dirty="0"/>
              <a:t>Пунктирные линии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94172B-7264-468B-A339-205B51CB4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220" y="4789488"/>
            <a:ext cx="6654643" cy="2068512"/>
          </a:xfrm>
        </p:spPr>
        <p:txBody>
          <a:bodyPr>
            <a:noAutofit/>
          </a:bodyPr>
          <a:lstStyle/>
          <a:p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Чтобы нарисовать настраиваемую пунктирную линию, введите длину штриха и пробелов в массив, затем назначьте массив в качестве значения свойства </a:t>
            </a:r>
            <a:r>
              <a:rPr lang="ru-RU" sz="2200" dirty="0" err="1">
                <a:latin typeface="Segoe UI" panose="020B0502040204020203" pitchFamily="34" charset="0"/>
              </a:rPr>
              <a:t>DashPattern</a:t>
            </a:r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объекта </a:t>
            </a:r>
            <a:r>
              <a:rPr lang="ru-RU" sz="2200" dirty="0" err="1">
                <a:latin typeface="Segoe UI" panose="020B0502040204020203" pitchFamily="34" charset="0"/>
              </a:rPr>
              <a:t>Pen</a:t>
            </a:r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 </a:t>
            </a:r>
            <a:endParaRPr lang="ru-RU" sz="2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5F9AB5-AECA-412B-8DDB-F8D156699E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146"/>
          <a:stretch/>
        </p:blipFill>
        <p:spPr>
          <a:xfrm>
            <a:off x="7347478" y="4280398"/>
            <a:ext cx="4167188" cy="23220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DE6479-46AE-4075-8C93-0FF835082545}"/>
              </a:ext>
            </a:extLst>
          </p:cNvPr>
          <p:cNvSpPr txBox="1"/>
          <p:nvPr/>
        </p:nvSpPr>
        <p:spPr>
          <a:xfrm>
            <a:off x="-734296" y="1097162"/>
            <a:ext cx="108933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dashValues1 = { 5, 2 };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массив пунктиров-пунктир 5, пропуск 2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Pen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pen.DashPattern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dashValues1;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(pen,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Point(20, 20),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Point(300, 20));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dashValues2 = { 1, 2, 10, 2 };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pen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pen.DashPattern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dashValues2;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(pen,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Point(20, 50),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Point(300, 50));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4741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17B75-BAE3-4EFD-86F7-899CA99D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контурных изображений - </a:t>
            </a:r>
            <a:r>
              <a:rPr lang="ru-RU" dirty="0">
                <a:solidFill>
                  <a:srgbClr val="0070C0"/>
                </a:solidFill>
              </a:rPr>
              <a:t>прямоугольник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5F5DF9-87EB-4CDF-8A51-89047C24D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219933"/>
            <a:ext cx="5287238" cy="1920808"/>
          </a:xfrm>
        </p:spPr>
        <p:txBody>
          <a:bodyPr>
            <a:noAutofit/>
          </a:bodyPr>
          <a:lstStyle/>
          <a:p>
            <a:r>
              <a:rPr lang="ru-RU" sz="2200" dirty="0"/>
              <a:t>Нужно задать перо (цвет, толщина) </a:t>
            </a:r>
          </a:p>
          <a:p>
            <a:r>
              <a:rPr lang="ru-RU" sz="2200" dirty="0"/>
              <a:t>Рисуем контурный прямоугольник, указав: координаты верхнего левого угла прямоугольника, его ширину и высоту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370C81-748E-45E0-A12E-F4C84384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107" y="3173161"/>
            <a:ext cx="3816685" cy="29675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2DA91A-7603-42A8-B08B-4712BA90359C}"/>
              </a:ext>
            </a:extLst>
          </p:cNvPr>
          <p:cNvSpPr txBox="1"/>
          <p:nvPr/>
        </p:nvSpPr>
        <p:spPr>
          <a:xfrm>
            <a:off x="-264254" y="2036967"/>
            <a:ext cx="8443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(pen, 20, 20, 300, 200);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6104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17B75-BAE3-4EFD-86F7-899CA99D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контурных изображений - </a:t>
            </a:r>
            <a:r>
              <a:rPr lang="ru-RU" dirty="0">
                <a:solidFill>
                  <a:srgbClr val="0070C0"/>
                </a:solidFill>
              </a:rPr>
              <a:t>эллипс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5F5DF9-87EB-4CDF-8A51-89047C24D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762" y="3995468"/>
            <a:ext cx="5287238" cy="2573112"/>
          </a:xfrm>
        </p:spPr>
        <p:txBody>
          <a:bodyPr>
            <a:noAutofit/>
          </a:bodyPr>
          <a:lstStyle/>
          <a:p>
            <a:r>
              <a:rPr lang="ru-RU" sz="2000" dirty="0"/>
              <a:t>Нужно задать перо (цвет, толщина) </a:t>
            </a:r>
          </a:p>
          <a:p>
            <a:r>
              <a:rPr lang="ru-RU" sz="2000" dirty="0"/>
              <a:t>Рисуем контурный эллипс, указав: координаты верхнего левого угла прямоугольной области, в которой находится эллипс, и его размеры относительно верхнего угла - ширину и высоту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DA91A-7603-42A8-B08B-4712BA90359C}"/>
              </a:ext>
            </a:extLst>
          </p:cNvPr>
          <p:cNvSpPr txBox="1"/>
          <p:nvPr/>
        </p:nvSpPr>
        <p:spPr>
          <a:xfrm>
            <a:off x="-264254" y="2036967"/>
            <a:ext cx="8443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.Green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g.DrawEllipse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(pen, 20, 20, 300, 200);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919A21-B522-4C15-80BA-5CF923F5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565" y="2717479"/>
            <a:ext cx="4046704" cy="314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24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17B75-BAE3-4EFD-86F7-899CA99D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контурных изображений - </a:t>
            </a:r>
            <a:r>
              <a:rPr lang="ru-RU" dirty="0">
                <a:solidFill>
                  <a:srgbClr val="0070C0"/>
                </a:solidFill>
              </a:rPr>
              <a:t>многоугольник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5F5DF9-87EB-4CDF-8A51-89047C24D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11" y="4572348"/>
            <a:ext cx="5287238" cy="2100371"/>
          </a:xfrm>
        </p:spPr>
        <p:txBody>
          <a:bodyPr>
            <a:normAutofit/>
          </a:bodyPr>
          <a:lstStyle/>
          <a:p>
            <a:r>
              <a:rPr lang="ru-RU" sz="2000" dirty="0"/>
              <a:t>Нужно задать перо (цвет, толщина)</a:t>
            </a:r>
          </a:p>
          <a:p>
            <a:r>
              <a:rPr lang="ru-RU" sz="2000" dirty="0"/>
              <a:t>Создать массив координат вершин фигуры</a:t>
            </a:r>
          </a:p>
          <a:p>
            <a:r>
              <a:rPr lang="ru-RU" sz="2000" dirty="0"/>
              <a:t>Нарисовать контурный многоугольник указанным пером по этим координатам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DA91A-7603-42A8-B08B-4712BA90359C}"/>
              </a:ext>
            </a:extLst>
          </p:cNvPr>
          <p:cNvSpPr txBox="1"/>
          <p:nvPr/>
        </p:nvSpPr>
        <p:spPr>
          <a:xfrm>
            <a:off x="-574252" y="2135324"/>
            <a:ext cx="94078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points = {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(20, 20),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(20, 200),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(200, 200)};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g.DrawPolygon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(pen, points);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175CE7-1FAD-437B-B4F2-8359F8464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941" y="3663955"/>
            <a:ext cx="3967687" cy="308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00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C397E93-212F-41AF-9C7E-2F87363C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276" y="3613666"/>
            <a:ext cx="3171825" cy="2447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D8976-A1AE-4FB7-9C23-056B84534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13" y="282894"/>
            <a:ext cx="8596668" cy="1320800"/>
          </a:xfrm>
        </p:spPr>
        <p:txBody>
          <a:bodyPr/>
          <a:lstStyle/>
          <a:p>
            <a:r>
              <a:rPr lang="ru-RU" dirty="0"/>
              <a:t>Рисование контурных изображений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23B31-769D-4484-989F-C906DB785BDA}"/>
              </a:ext>
            </a:extLst>
          </p:cNvPr>
          <p:cNvSpPr txBox="1"/>
          <p:nvPr/>
        </p:nvSpPr>
        <p:spPr>
          <a:xfrm>
            <a:off x="-417353" y="1182231"/>
            <a:ext cx="108176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GraphicsPath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path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GraphicsPath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path.StartFigure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старт фигуры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path.AddArc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(205, 70, 70, 70, 40, -200);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path.AddLine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(100, 40, 300, 40);                      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e.Graphics.DrawPath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(255, 0, 0, 255), 4), path);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60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6755B9FC-2CEA-49AF-B06F-0DF054C44994}"/>
              </a:ext>
            </a:extLst>
          </p:cNvPr>
          <p:cNvSpPr/>
          <p:nvPr/>
        </p:nvSpPr>
        <p:spPr>
          <a:xfrm>
            <a:off x="4238537" y="5076455"/>
            <a:ext cx="75501" cy="671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7BEB4B4-B2B9-4DE4-B92C-45CE0116DD9C}"/>
              </a:ext>
            </a:extLst>
          </p:cNvPr>
          <p:cNvCxnSpPr>
            <a:cxnSpLocks/>
          </p:cNvCxnSpPr>
          <p:nvPr/>
        </p:nvCxnSpPr>
        <p:spPr>
          <a:xfrm flipH="1">
            <a:off x="4454554" y="4399630"/>
            <a:ext cx="1073791" cy="5960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E1C70F9-05C3-41DD-A65B-46F597FAA553}"/>
              </a:ext>
            </a:extLst>
          </p:cNvPr>
          <p:cNvSpPr txBox="1"/>
          <p:nvPr/>
        </p:nvSpPr>
        <p:spPr>
          <a:xfrm>
            <a:off x="5551523" y="4195326"/>
            <a:ext cx="3123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стартовая точка фигуры</a:t>
            </a:r>
          </a:p>
        </p:txBody>
      </p:sp>
    </p:spTree>
    <p:extLst>
      <p:ext uri="{BB962C8B-B14F-4D97-AF65-F5344CB8AC3E}">
        <p14:creationId xmlns:p14="http://schemas.microsoft.com/office/powerpoint/2010/main" val="772136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17B75-BAE3-4EFD-86F7-899CA99D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10" y="332764"/>
            <a:ext cx="8596668" cy="1320800"/>
          </a:xfrm>
        </p:spPr>
        <p:txBody>
          <a:bodyPr/>
          <a:lstStyle/>
          <a:p>
            <a:r>
              <a:rPr lang="ru-RU" dirty="0"/>
              <a:t>Создание сложных контурных изображений – </a:t>
            </a:r>
            <a:r>
              <a:rPr lang="ru-RU" dirty="0">
                <a:solidFill>
                  <a:srgbClr val="0070C0"/>
                </a:solidFill>
              </a:rPr>
              <a:t>метод базовой точки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5F5DF9-87EB-4CDF-8A51-89047C24D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10" y="1581452"/>
            <a:ext cx="9305565" cy="519047"/>
          </a:xfrm>
        </p:spPr>
        <p:txBody>
          <a:bodyPr>
            <a:normAutofit/>
          </a:bodyPr>
          <a:lstStyle/>
          <a:p>
            <a:r>
              <a:rPr lang="ru-RU" dirty="0"/>
              <a:t>Нужно рассчитать координаты вершин фигуры от базовой точки.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DA91A-7603-42A8-B08B-4712BA90359C}"/>
              </a:ext>
            </a:extLst>
          </p:cNvPr>
          <p:cNvSpPr txBox="1"/>
          <p:nvPr/>
        </p:nvSpPr>
        <p:spPr>
          <a:xfrm>
            <a:off x="-406472" y="2175848"/>
            <a:ext cx="8308902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x = 200, y = 20;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базовая точка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[] points =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(x, y),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(x+100, y+90),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(x+60, y+200),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(x-60, y+200),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(x-100, y+90)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g.DrawLine(pen, points[0], points[2]);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g.DrawLine(pen, points[2], points[4]);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g.DrawLine(pen, points[4], points[1]);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g.DrawLine(pen, points[1], points[3]);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g.DrawLine(pen, points[3], points[0]);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6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CEF7BF2-172B-4CB8-B261-656B0F804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22" y="2686891"/>
            <a:ext cx="4689446" cy="3775004"/>
          </a:xfrm>
          <a:prstGeom prst="rect">
            <a:avLst/>
          </a:prstGeom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2AF54C5-8334-4A0F-A533-A67779D5592C}"/>
              </a:ext>
            </a:extLst>
          </p:cNvPr>
          <p:cNvGrpSpPr/>
          <p:nvPr/>
        </p:nvGrpSpPr>
        <p:grpSpPr>
          <a:xfrm>
            <a:off x="5978568" y="2672037"/>
            <a:ext cx="5220553" cy="3845574"/>
            <a:chOff x="6033534" y="3253746"/>
            <a:chExt cx="3917973" cy="2767351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3110E64A-8BCE-4745-96CC-528DB2C46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3534" y="3253746"/>
              <a:ext cx="3592400" cy="2767351"/>
            </a:xfrm>
            <a:prstGeom prst="rect">
              <a:avLst/>
            </a:prstGeom>
          </p:spPr>
        </p:pic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C2ABEAC5-BA44-4699-B8CF-7A7887764998}"/>
                </a:ext>
              </a:extLst>
            </p:cNvPr>
            <p:cNvSpPr/>
            <p:nvPr/>
          </p:nvSpPr>
          <p:spPr>
            <a:xfrm>
              <a:off x="7719893" y="3643487"/>
              <a:ext cx="83890" cy="8107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52395D04-C2D1-4269-BE4C-428F92E2C766}"/>
                </a:ext>
              </a:extLst>
            </p:cNvPr>
            <p:cNvCxnSpPr>
              <a:cxnSpLocks/>
            </p:cNvCxnSpPr>
            <p:nvPr/>
          </p:nvCxnSpPr>
          <p:spPr>
            <a:xfrm>
              <a:off x="7231237" y="3559437"/>
              <a:ext cx="0" cy="2378526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8A3B0A21-6FE9-4516-9842-C06D95EDC181}"/>
                </a:ext>
              </a:extLst>
            </p:cNvPr>
            <p:cNvCxnSpPr>
              <a:cxnSpLocks/>
            </p:cNvCxnSpPr>
            <p:nvPr/>
          </p:nvCxnSpPr>
          <p:spPr>
            <a:xfrm>
              <a:off x="8303176" y="3559437"/>
              <a:ext cx="0" cy="2421566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473ABA6B-5C8D-4A2E-BFC2-8B701FD89E77}"/>
                </a:ext>
              </a:extLst>
            </p:cNvPr>
            <p:cNvCxnSpPr>
              <a:cxnSpLocks/>
            </p:cNvCxnSpPr>
            <p:nvPr/>
          </p:nvCxnSpPr>
          <p:spPr>
            <a:xfrm>
              <a:off x="7760685" y="3806923"/>
              <a:ext cx="56456" cy="219606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5A2314-DC9E-4D47-B807-826BB0EDB15A}"/>
                </a:ext>
              </a:extLst>
            </p:cNvPr>
            <p:cNvSpPr txBox="1"/>
            <p:nvPr/>
          </p:nvSpPr>
          <p:spPr>
            <a:xfrm>
              <a:off x="7519332" y="3363937"/>
              <a:ext cx="595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x, y</a:t>
              </a:r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6547BB-2A35-4262-A999-7F1B6C955A52}"/>
                </a:ext>
              </a:extLst>
            </p:cNvPr>
            <p:cNvSpPr txBox="1"/>
            <p:nvPr/>
          </p:nvSpPr>
          <p:spPr>
            <a:xfrm>
              <a:off x="8459042" y="4223828"/>
              <a:ext cx="149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x+100, y+90</a:t>
              </a:r>
              <a:endParaRPr lang="ru-R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A3ADECB-D956-4783-B538-2654847E4F78}"/>
                </a:ext>
              </a:extLst>
            </p:cNvPr>
            <p:cNvSpPr txBox="1"/>
            <p:nvPr/>
          </p:nvSpPr>
          <p:spPr>
            <a:xfrm>
              <a:off x="8349714" y="5224919"/>
              <a:ext cx="149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x+60, y+200</a:t>
              </a:r>
              <a:endParaRPr lang="ru-R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D3D635-61DD-4E0C-8D73-637F9D59B292}"/>
                </a:ext>
              </a:extLst>
            </p:cNvPr>
            <p:cNvSpPr txBox="1"/>
            <p:nvPr/>
          </p:nvSpPr>
          <p:spPr>
            <a:xfrm>
              <a:off x="6224356" y="5224919"/>
              <a:ext cx="149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x-60, y+200</a:t>
              </a:r>
              <a:endParaRPr lang="ru-RU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BE2D20-66E2-42A3-81B4-C0B30CA3A9FA}"/>
                </a:ext>
              </a:extLst>
            </p:cNvPr>
            <p:cNvSpPr txBox="1"/>
            <p:nvPr/>
          </p:nvSpPr>
          <p:spPr>
            <a:xfrm>
              <a:off x="6040663" y="4198332"/>
              <a:ext cx="1078780" cy="265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x-100, y+90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46574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50BAAA-9A12-4EC8-B7C0-1518F070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закрашенных изображений</a:t>
            </a:r>
            <a:r>
              <a:rPr lang="en-US" dirty="0"/>
              <a:t> – </a:t>
            </a:r>
            <a:r>
              <a:rPr lang="ru-RU" dirty="0">
                <a:solidFill>
                  <a:srgbClr val="0070C0"/>
                </a:solidFill>
              </a:rPr>
              <a:t>закрашенный прямоугольник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C7695-8F55-4116-A46D-1946AB1D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380144"/>
            <a:ext cx="5580853" cy="1332759"/>
          </a:xfrm>
        </p:spPr>
        <p:txBody>
          <a:bodyPr>
            <a:noAutofit/>
          </a:bodyPr>
          <a:lstStyle/>
          <a:p>
            <a:r>
              <a:rPr lang="ru-RU" sz="2000" dirty="0"/>
              <a:t>Задаем сплошную кисть</a:t>
            </a:r>
          </a:p>
          <a:p>
            <a:r>
              <a:rPr lang="ru-RU" sz="2000" dirty="0"/>
              <a:t>Указываем координаты верхнего левого угла, ширину и высоту закрашенного прямоугольника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AB432-A4C4-496A-8392-335E36531731}"/>
              </a:ext>
            </a:extLst>
          </p:cNvPr>
          <p:cNvSpPr txBox="1"/>
          <p:nvPr/>
        </p:nvSpPr>
        <p:spPr>
          <a:xfrm>
            <a:off x="-346124" y="2137761"/>
            <a:ext cx="91881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private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Form1_Paint(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brush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        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g.FillRectangle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(brush, 20, 20, 300, 200);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0C57BD0-D984-4643-A07C-C971785BB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276" y="3429000"/>
            <a:ext cx="3729617" cy="289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31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50BAAA-9A12-4EC8-B7C0-1518F070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закрашенных изображений</a:t>
            </a:r>
            <a:r>
              <a:rPr lang="en-US" dirty="0"/>
              <a:t> – </a:t>
            </a:r>
            <a:r>
              <a:rPr lang="ru-RU" dirty="0">
                <a:solidFill>
                  <a:srgbClr val="0070C0"/>
                </a:solidFill>
              </a:rPr>
              <a:t>закрашенный эллипс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C7695-8F55-4116-A46D-1946AB1D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211273"/>
            <a:ext cx="5580853" cy="1625824"/>
          </a:xfrm>
        </p:spPr>
        <p:txBody>
          <a:bodyPr>
            <a:normAutofit lnSpcReduction="10000"/>
          </a:bodyPr>
          <a:lstStyle/>
          <a:p>
            <a:r>
              <a:rPr lang="ru-RU" sz="2000" dirty="0"/>
              <a:t>Задаем сплошную кисть</a:t>
            </a:r>
          </a:p>
          <a:p>
            <a:r>
              <a:rPr lang="ru-RU" sz="2000" dirty="0"/>
              <a:t>Указываем координаты верхнего левого угла, ширину и высоту прямоугольной области, в которой будет выводится закрашенный эллипс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AB432-A4C4-496A-8392-335E36531731}"/>
              </a:ext>
            </a:extLst>
          </p:cNvPr>
          <p:cNvSpPr txBox="1"/>
          <p:nvPr/>
        </p:nvSpPr>
        <p:spPr>
          <a:xfrm>
            <a:off x="-379680" y="2055558"/>
            <a:ext cx="91881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private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Form1_Paint(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brush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Green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        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(brush, 20, 20, 300, 200);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306EED-6A0F-4FD8-803C-6E2027A0F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496" y="3358220"/>
            <a:ext cx="3858630" cy="300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16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50BAAA-9A12-4EC8-B7C0-1518F070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закрашенных изображений</a:t>
            </a:r>
            <a:r>
              <a:rPr lang="en-US" dirty="0"/>
              <a:t> – </a:t>
            </a:r>
            <a:r>
              <a:rPr lang="ru-RU" dirty="0">
                <a:solidFill>
                  <a:srgbClr val="0070C0"/>
                </a:solidFill>
              </a:rPr>
              <a:t>закрашенный многоугольник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C7695-8F55-4116-A46D-1946AB1D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11" y="4812207"/>
            <a:ext cx="5580853" cy="1328534"/>
          </a:xfrm>
        </p:spPr>
        <p:txBody>
          <a:bodyPr>
            <a:noAutofit/>
          </a:bodyPr>
          <a:lstStyle/>
          <a:p>
            <a:r>
              <a:rPr lang="ru-RU" sz="2000" dirty="0"/>
              <a:t>Задаем сплошную кисть</a:t>
            </a:r>
          </a:p>
          <a:p>
            <a:r>
              <a:rPr lang="ru-RU" sz="2000" dirty="0"/>
              <a:t>Указываем координаты вершин закрашенного многоугольника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2F4091-D029-40DA-8A57-C6CFBBAE0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929" y="3739393"/>
            <a:ext cx="3670032" cy="28535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0AB432-A4C4-496A-8392-335E36531731}"/>
              </a:ext>
            </a:extLst>
          </p:cNvPr>
          <p:cNvSpPr txBox="1"/>
          <p:nvPr/>
        </p:nvSpPr>
        <p:spPr>
          <a:xfrm>
            <a:off x="-287402" y="2146150"/>
            <a:ext cx="91881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private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Form1_Paint(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brush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points = {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(20, 20),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(20, 200),        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(200, 200)};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g.FillPolygon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(brush, points);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61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94EDC-E794-4B59-A2E3-9615D5648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33" y="321533"/>
            <a:ext cx="8596668" cy="673916"/>
          </a:xfrm>
        </p:spPr>
        <p:txBody>
          <a:bodyPr/>
          <a:lstStyle/>
          <a:p>
            <a:r>
              <a:rPr lang="ru-RU" dirty="0"/>
              <a:t>Заливка фигуры текстурой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C0B1AF-9AE3-42FA-8BDB-785C9F3A8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19" y="3906031"/>
            <a:ext cx="5220126" cy="1857205"/>
          </a:xfrm>
        </p:spPr>
        <p:txBody>
          <a:bodyPr>
            <a:normAutofit lnSpcReduction="10000"/>
          </a:bodyPr>
          <a:lstStyle/>
          <a:p>
            <a:r>
              <a:rPr lang="ru-RU" sz="2000" dirty="0"/>
              <a:t>Создаем текстурную кисть, указываем название файла с изображением</a:t>
            </a:r>
          </a:p>
          <a:p>
            <a:r>
              <a:rPr lang="ru-RU" sz="2000" dirty="0"/>
              <a:t>Нарисуем заполненный текстурой эллипс</a:t>
            </a:r>
          </a:p>
          <a:p>
            <a:r>
              <a:rPr lang="ru-RU" sz="2000" dirty="0"/>
              <a:t>Контур эллипса нарисован отдельно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94E54F-CEE7-4CA2-9FD7-3FD82C36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281" y="3687660"/>
            <a:ext cx="3346218" cy="2848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4C2BF-565C-4C5D-9EEB-386B9090221F}"/>
              </a:ext>
            </a:extLst>
          </p:cNvPr>
          <p:cNvSpPr txBox="1"/>
          <p:nvPr/>
        </p:nvSpPr>
        <p:spPr>
          <a:xfrm>
            <a:off x="-578869" y="1379336"/>
            <a:ext cx="108679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Image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image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Bitmap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"Texture1.PNG"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TextureBrush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TextureBrush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(image);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bluePen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e.Graphics.FillEllipse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(40, 40, 270, 170));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e.Graphics.DrawEllipse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bluePen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(40, 40, 270, 170));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5825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94EDC-E794-4B59-A2E3-9615D5648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23" y="361915"/>
            <a:ext cx="8596668" cy="769736"/>
          </a:xfrm>
        </p:spPr>
        <p:txBody>
          <a:bodyPr/>
          <a:lstStyle/>
          <a:p>
            <a:r>
              <a:rPr lang="ru-RU" dirty="0"/>
              <a:t>Заливка контура текстурой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C0B1AF-9AE3-42FA-8BDB-785C9F3A8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19" y="3906031"/>
            <a:ext cx="5220126" cy="2342369"/>
          </a:xfrm>
        </p:spPr>
        <p:txBody>
          <a:bodyPr>
            <a:normAutofit/>
          </a:bodyPr>
          <a:lstStyle/>
          <a:p>
            <a:r>
              <a:rPr lang="ru-RU" sz="2000" dirty="0"/>
              <a:t>Создаем текстурную кисть, указываем название файла с изображением</a:t>
            </a:r>
          </a:p>
          <a:p>
            <a:r>
              <a:rPr lang="ru-RU" sz="2000" dirty="0"/>
              <a:t>Создаем перо с текстурой, шириной 30 пикселей</a:t>
            </a:r>
          </a:p>
          <a:p>
            <a:r>
              <a:rPr lang="ru-RU" sz="2000" dirty="0"/>
              <a:t>Контур эллипса рисуем этим пером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4C2BF-565C-4C5D-9EEB-386B9090221F}"/>
              </a:ext>
            </a:extLst>
          </p:cNvPr>
          <p:cNvSpPr txBox="1"/>
          <p:nvPr/>
        </p:nvSpPr>
        <p:spPr>
          <a:xfrm>
            <a:off x="-578869" y="1379336"/>
            <a:ext cx="108679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Bitmap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"Texture1.PNG"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TextureBrush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TextureBrush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(image);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bluePen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30);          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e.Graphics.DrawEllipse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bluePen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(40, 40, 270, 170));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BEB4AC-B040-4AC1-815C-E08F01381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780" y="3604120"/>
            <a:ext cx="35242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05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53C3E-1BD1-4677-A953-0CBA72EE4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1809"/>
            <a:ext cx="8596668" cy="874052"/>
          </a:xfrm>
        </p:spPr>
        <p:txBody>
          <a:bodyPr/>
          <a:lstStyle/>
          <a:p>
            <a:r>
              <a:rPr lang="ru-RU" dirty="0"/>
              <a:t>Замостить фигуру рисунком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2B732-9195-4AA3-9853-0034C6D19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1653" y="4572746"/>
            <a:ext cx="5371129" cy="2023449"/>
          </a:xfrm>
        </p:spPr>
        <p:txBody>
          <a:bodyPr>
            <a:normAutofit/>
          </a:bodyPr>
          <a:lstStyle/>
          <a:p>
            <a:r>
              <a:rPr lang="ru-RU" sz="2000" dirty="0"/>
              <a:t>Создаем текстурную кисть, указываем название файла с изображением</a:t>
            </a:r>
          </a:p>
          <a:p>
            <a:r>
              <a:rPr lang="ru-RU" sz="2000" dirty="0"/>
              <a:t>Так как картинка небольшого размера, то она дублируется, то есть «замостит» фигуру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0090ED-FF16-492A-80A8-91E9DDE50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66" y="3689059"/>
            <a:ext cx="3006448" cy="29071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FFAA1B-947E-48E2-A974-EA062A2FF174}"/>
              </a:ext>
            </a:extLst>
          </p:cNvPr>
          <p:cNvSpPr txBox="1"/>
          <p:nvPr/>
        </p:nvSpPr>
        <p:spPr>
          <a:xfrm>
            <a:off x="-510719" y="1225861"/>
            <a:ext cx="106582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Image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image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Bitmap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"house_and_tree.gif"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TextureBrush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TextureBrush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(image);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bluePen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e.Graphics.FillRectangle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(0, 0, 220, 220));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bluePen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(0, 0, 220, 220));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57C8C1E-AFE0-457A-A19E-F1AAD40FC363}"/>
              </a:ext>
            </a:extLst>
          </p:cNvPr>
          <p:cNvGrpSpPr/>
          <p:nvPr/>
        </p:nvGrpSpPr>
        <p:grpSpPr>
          <a:xfrm>
            <a:off x="5727506" y="3741487"/>
            <a:ext cx="2778285" cy="666750"/>
            <a:chOff x="5157700" y="5632139"/>
            <a:chExt cx="2778285" cy="666750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006E2B0F-1988-4860-953C-268824C7C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7700" y="5632139"/>
              <a:ext cx="752475" cy="6667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169A78-BA27-4C8D-9919-93E8552CF7FC}"/>
                </a:ext>
              </a:extLst>
            </p:cNvPr>
            <p:cNvSpPr txBox="1"/>
            <p:nvPr/>
          </p:nvSpPr>
          <p:spPr>
            <a:xfrm>
              <a:off x="6325299" y="5754848"/>
              <a:ext cx="1610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- картинка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5242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6608A-BF65-4BBA-9EDA-FBC84B60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51177"/>
            <a:ext cx="8596668" cy="673916"/>
          </a:xfrm>
        </p:spPr>
        <p:txBody>
          <a:bodyPr/>
          <a:lstStyle/>
          <a:p>
            <a:r>
              <a:rPr lang="ru-RU" dirty="0"/>
              <a:t>Градиентная заливка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95374B-1AC2-40E1-A9BB-4F0F6B064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12" y="4261144"/>
            <a:ext cx="7101682" cy="2542301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Конструктор </a:t>
            </a:r>
            <a:r>
              <a:rPr lang="ru-RU" dirty="0" err="1">
                <a:solidFill>
                  <a:srgbClr val="161616"/>
                </a:solidFill>
                <a:latin typeface="Segoe UI" panose="020B0502040204020203" pitchFamily="34" charset="0"/>
              </a:rPr>
              <a:t>LinearGradientBrush</a:t>
            </a:r>
            <a:r>
              <a:rPr lang="ru-RU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получает четыре аргумента: две точки и два цвета. Первая точка (0, 10) связана с первым цветом (красным), а со второй точкой (200, 10) связан второй цвет (синий). Как можно догадаться, линия, нарисованная от (0, 10) до (200, 10), постепенно меняется с красного на синий.</a:t>
            </a:r>
          </a:p>
          <a:p>
            <a:pPr algn="l"/>
            <a:r>
              <a:rPr lang="ru-RU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Сами значения «10» в точках (10, 10) и (200, 10) не так важны. Важно то, что две точки имеют одну и ту же </a:t>
            </a:r>
            <a:r>
              <a:rPr lang="ru-RU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вторую координату</a:t>
            </a:r>
            <a:r>
              <a:rPr lang="ru-RU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 — они, таким образом, соединены горизонтальной линией.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FB103B-277B-4AE5-BD87-C4B32B87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494" y="2549401"/>
            <a:ext cx="4356871" cy="2787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686E71-1F04-46B1-8857-DF3DEC53C60F}"/>
              </a:ext>
            </a:extLst>
          </p:cNvPr>
          <p:cNvSpPr txBox="1"/>
          <p:nvPr/>
        </p:nvSpPr>
        <p:spPr>
          <a:xfrm>
            <a:off x="-447412" y="826005"/>
            <a:ext cx="1154325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LinearGradientBrush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linGrBrush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LinearGradientBrush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(0, 10),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(200, 10),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s-ES" sz="1600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.FromArgb(255, 255, 0, 0),   </a:t>
            </a:r>
            <a:r>
              <a:rPr lang="es-E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Opaque red</a:t>
            </a: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(255, 0, 0, 255));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Opaque blue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linGrBrush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4);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e.Graphics.DrawLine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(pen, 10, 10, 200, 10);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e.Graphics.FillEllipse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linGrBrush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10, 30, 190, 100);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e.Graphics.FillRectangle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linGrBrush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10, 155, 500, 100);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442431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635E4-C387-4EAB-A3B5-1D4597E95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01192"/>
            <a:ext cx="8596668" cy="1320800"/>
          </a:xfrm>
        </p:spPr>
        <p:txBody>
          <a:bodyPr/>
          <a:lstStyle/>
          <a:p>
            <a:r>
              <a:rPr lang="ru-RU" dirty="0"/>
              <a:t>Создание диагональных линейных градиентов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430FF1-F290-4D07-81DE-48367285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54" y="4531092"/>
            <a:ext cx="6025470" cy="232690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19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В этом примере точки (0, 0) и (200, 100) передаются в конструктор </a:t>
            </a:r>
            <a:r>
              <a:rPr lang="ru-RU" sz="1900" dirty="0" err="1">
                <a:solidFill>
                  <a:srgbClr val="161616"/>
                </a:solidFill>
                <a:latin typeface="Segoe UI" panose="020B0502040204020203" pitchFamily="34" charset="0"/>
              </a:rPr>
              <a:t>LinearGradientBrush</a:t>
            </a:r>
            <a:r>
              <a:rPr lang="ru-RU" sz="19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Синий цвет связан с точкой (0, 0), а цвет зеленый — с (200, 100). Линия и эллипс заполняются линейной кистью градиента.</a:t>
            </a:r>
          </a:p>
          <a:p>
            <a:pPr algn="l"/>
            <a:r>
              <a:rPr lang="ru-RU" sz="19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Обратите внимание, что цвет эллипса изменяется постепенно по мере перемещения по любой линии, параллельной линии, проходящей через </a:t>
            </a:r>
            <a:br>
              <a:rPr lang="ru-RU" sz="19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</a:br>
            <a:r>
              <a:rPr lang="ru-RU" sz="19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(0, 0) и (200, 100).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C385BC-A490-4099-B5CE-884C69505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456" y="2814607"/>
            <a:ext cx="5024291" cy="30033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766748-93E3-4E61-8A95-86F36611D5ED}"/>
              </a:ext>
            </a:extLst>
          </p:cNvPr>
          <p:cNvSpPr txBox="1"/>
          <p:nvPr/>
        </p:nvSpPr>
        <p:spPr>
          <a:xfrm>
            <a:off x="-543797" y="1384473"/>
            <a:ext cx="112234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LinearGradientBrush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linGrBrush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LinearGradientBrush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(10, 10),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(200, 100),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(255, 0, 0, 255),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blue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pt-BR" sz="1600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.FromArgb(255, 0, 255, 0));  </a:t>
            </a:r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// green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linGrBrush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10);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e.Graphics.DrawLine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(pen, 10, 10, 600, 300);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e.Graphics.FillEllipse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linGrBrush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10, 200, 200, 100);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16115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F9521-6C75-4E62-8F5E-144CD9EA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64" y="248874"/>
            <a:ext cx="8596668" cy="1320800"/>
          </a:xfrm>
        </p:spPr>
        <p:txBody>
          <a:bodyPr/>
          <a:lstStyle/>
          <a:p>
            <a:r>
              <a:rPr lang="ru-RU" dirty="0"/>
              <a:t>Указание пути градиента вдоль контура фигуры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B6EAED-E928-4E6B-BFB8-FFC8C5721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164" y="4432381"/>
            <a:ext cx="6579143" cy="1909696"/>
          </a:xfrm>
        </p:spPr>
        <p:txBody>
          <a:bodyPr>
            <a:noAutofit/>
          </a:bodyPr>
          <a:lstStyle/>
          <a:p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По умолчанию кисть градиента пути не работает за пределами пути. Если вы используете кисть градиента пути для заполнения фигуры вне границы пути, область экрана за пределами пути заполнена не будет.</a:t>
            </a:r>
            <a:endParaRPr lang="ru-RU" sz="2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7B53E3-B2C9-4997-BCDC-DC246EEA5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033"/>
          <a:stretch/>
        </p:blipFill>
        <p:spPr>
          <a:xfrm>
            <a:off x="7546901" y="3429000"/>
            <a:ext cx="3675384" cy="2913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DD1330-81DE-4971-A78E-2CB35B032B67}"/>
              </a:ext>
            </a:extLst>
          </p:cNvPr>
          <p:cNvSpPr txBox="1"/>
          <p:nvPr/>
        </p:nvSpPr>
        <p:spPr>
          <a:xfrm>
            <a:off x="-499146" y="1610660"/>
            <a:ext cx="1003742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GraphicsPath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path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GraphicsPath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путь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градиента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path.AddEllipse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(40, 40, 180, 120);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путь в виде эллипса        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PathGradientBrush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pthGrBrush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PathGradientBrush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(path);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pthGrBrush.CenterColor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(255, 0, 0, 255);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цвет центра           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[] colors = {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(255, 0, 255, 255) };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pthGrBrush.SurroundColors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colors;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e.Graphics.FillEllipse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pthGrBrush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40, 40, 180, 120);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545537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E8197-0AF5-4F23-9267-B589EAB0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63478"/>
            <a:ext cx="8596668" cy="1320800"/>
          </a:xfrm>
        </p:spPr>
        <p:txBody>
          <a:bodyPr/>
          <a:lstStyle/>
          <a:p>
            <a:r>
              <a:rPr lang="ru-RU" dirty="0"/>
              <a:t>Штриховка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A55F77-4C7A-4620-8415-80F0B6A3E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606" y="1167761"/>
            <a:ext cx="9490123" cy="1818720"/>
          </a:xfrm>
        </p:spPr>
        <p:txBody>
          <a:bodyPr>
            <a:noAutofit/>
          </a:bodyPr>
          <a:lstStyle/>
          <a:p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Конструктор </a:t>
            </a:r>
            <a:r>
              <a:rPr lang="ru-RU" sz="2200" dirty="0" err="1">
                <a:latin typeface="Segoe UI" panose="020B0502040204020203" pitchFamily="34" charset="0"/>
              </a:rPr>
              <a:t>HatchBrush</a:t>
            </a:r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принимает три аргумента: стиль штриховки, цвет линий штриховки и цвет фона. Аргумент стиля штриховки может иметь любое значение из перечисления </a:t>
            </a:r>
            <a:r>
              <a:rPr lang="ru-RU" sz="2200" dirty="0" err="1">
                <a:latin typeface="Segoe UI" panose="020B0502040204020203" pitchFamily="34" charset="0"/>
              </a:rPr>
              <a:t>HatchStyle</a:t>
            </a:r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</a:t>
            </a:r>
            <a:endParaRPr lang="en-US" sz="22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Перечисление </a:t>
            </a:r>
            <a:r>
              <a:rPr lang="ru-RU" sz="2200" dirty="0" err="1">
                <a:latin typeface="Segoe UI" panose="020B0502040204020203" pitchFamily="34" charset="0"/>
              </a:rPr>
              <a:t>HatchStyle</a:t>
            </a:r>
            <a:r>
              <a:rPr lang="ru-RU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содержит более пятидесяти элементов.</a:t>
            </a:r>
            <a:endParaRPr lang="ru-RU" sz="2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B4C80A-3D59-4165-8E53-3D85C90CD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517" y="2906869"/>
            <a:ext cx="2532338" cy="37985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ED3786-F5D5-450F-AC21-6305CEC45E9A}"/>
              </a:ext>
            </a:extLst>
          </p:cNvPr>
          <p:cNvSpPr txBox="1"/>
          <p:nvPr/>
        </p:nvSpPr>
        <p:spPr>
          <a:xfrm>
            <a:off x="-587667" y="3507750"/>
            <a:ext cx="87455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Form1_Paint(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PaintEventArgs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HatchBrush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hBrush1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HatchBrush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HatchStyle.Horizontal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.FromArgb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(255, 128, 255, 255));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e.Graphics.FillEllipse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(hBrush1, 20, 20, 200, 140);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9827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572F5-B461-4043-9394-7216E943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9217" y="227088"/>
            <a:ext cx="5715077" cy="1026253"/>
          </a:xfrm>
        </p:spPr>
        <p:txBody>
          <a:bodyPr/>
          <a:lstStyle/>
          <a:p>
            <a:r>
              <a:rPr lang="ru-RU" dirty="0"/>
              <a:t>Отрисовка текста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86555D-FB44-4F58-B360-3D616A3214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171"/>
          <a:stretch/>
        </p:blipFill>
        <p:spPr>
          <a:xfrm>
            <a:off x="4853157" y="4281768"/>
            <a:ext cx="3741185" cy="206031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725E38-C082-42C7-A4F1-E37312E34431}"/>
              </a:ext>
            </a:extLst>
          </p:cNvPr>
          <p:cNvSpPr txBox="1"/>
          <p:nvPr/>
        </p:nvSpPr>
        <p:spPr>
          <a:xfrm>
            <a:off x="-771967" y="1003654"/>
            <a:ext cx="116397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Привет!"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Font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Font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"Arial"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24);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150.0F;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 = 50.0F;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StringFormat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drawFormat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StringFormat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formGraphics.DrawString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drawBrush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x, y,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drawFormat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drawFont.Dispose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drawBrush.Dispose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formGraphics.Dispose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1993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572F5-B461-4043-9394-7216E943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Отрисовка текста</a:t>
            </a:r>
            <a:r>
              <a:rPr lang="en-US" dirty="0"/>
              <a:t> </a:t>
            </a:r>
            <a:r>
              <a:rPr lang="ru-RU" dirty="0"/>
              <a:t>по вертикали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25E38-C082-42C7-A4F1-E37312E34431}"/>
              </a:ext>
            </a:extLst>
          </p:cNvPr>
          <p:cNvSpPr txBox="1"/>
          <p:nvPr/>
        </p:nvSpPr>
        <p:spPr>
          <a:xfrm>
            <a:off x="-608200" y="1781591"/>
            <a:ext cx="1163972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DrawVerticalString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Привет!"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dirty="0">
                <a:solidFill>
                  <a:srgbClr val="2B91AF"/>
                </a:solidFill>
                <a:latin typeface="Consolas" panose="020B0609020204030204" pitchFamily="49" charset="0"/>
              </a:rPr>
              <a:t>Font 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drawFont =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2B91AF"/>
                </a:solidFill>
                <a:latin typeface="Consolas" panose="020B0609020204030204" pitchFamily="49" charset="0"/>
              </a:rPr>
              <a:t>Font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onsolas" panose="020B0609020204030204" pitchFamily="49" charset="0"/>
              </a:rPr>
              <a:t>"Arial"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, 24);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 = 150.0F;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y = 150.0F;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StringFormat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drawFormat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StringFormat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drawFormat.FormatFlags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StringFormatFlags.DirectionVertical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formGraphics.DrawString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x, y,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drawFormat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drawFont.Dispose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drawBrush.Dispose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formGraphics.Dispose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08FCE2-0BB5-4AB2-8F0D-28FF26A2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660" y="684004"/>
            <a:ext cx="423862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48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95DBE-6B78-41DF-B4DE-FC1776654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808" y="282430"/>
            <a:ext cx="8596668" cy="1320800"/>
          </a:xfrm>
        </p:spPr>
        <p:txBody>
          <a:bodyPr/>
          <a:lstStyle/>
          <a:p>
            <a:r>
              <a:rPr lang="ru-RU" dirty="0"/>
              <a:t>Проект «Светофор»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8E0345-A09C-48C9-9D72-996F9EC27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3635"/>
            <a:ext cx="8596668" cy="1547345"/>
          </a:xfrm>
        </p:spPr>
        <p:txBody>
          <a:bodyPr>
            <a:noAutofit/>
          </a:bodyPr>
          <a:lstStyle/>
          <a:p>
            <a:r>
              <a:rPr lang="ru-RU" sz="2000" dirty="0"/>
              <a:t>Разработать проект, имитирующий работу светофора. </a:t>
            </a:r>
            <a:endParaRPr lang="en-US" sz="2000" dirty="0"/>
          </a:p>
          <a:p>
            <a:r>
              <a:rPr lang="ru-RU" sz="2000" dirty="0"/>
              <a:t>С помощью таймера программа должна отсчитывать время, в течение которого горит красный сигнал, затем красный и жёлтый, потом зелёный сигнал.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6CBEA8-CBB8-417B-8203-590643D78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96" y="3094319"/>
            <a:ext cx="2238375" cy="34194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E67010-5960-47C7-BF40-663E8B854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245" y="3094319"/>
            <a:ext cx="2238375" cy="34194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4E5C72-EA2B-4039-B315-A9F28982A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094" y="3094319"/>
            <a:ext cx="22383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29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DF1363-6A28-474B-B30F-2112AF7F8894}"/>
              </a:ext>
            </a:extLst>
          </p:cNvPr>
          <p:cNvSpPr txBox="1"/>
          <p:nvPr/>
        </p:nvSpPr>
        <p:spPr>
          <a:xfrm>
            <a:off x="689993" y="86916"/>
            <a:ext cx="8772788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sec = 0;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= 40, y = 20;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базовая точка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w = 80, h = 80;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ширина и высота кружка</a:t>
            </a:r>
            <a:endParaRPr lang="en-US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timer1_Tick(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sec++;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1400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g =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(sec == 15)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sec = 0;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sec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горит красный свет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Brushes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x, y, w, h);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Brushes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.LightGray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x, (y + h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 w, h);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Brushes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.LightGray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x, (y + h * 2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 2), w, h);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sec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5)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горит красный и желтый свет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Brushes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x, y, w, h);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Brushes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.Yellow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x, (y + h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 w, h);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Brushes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.LightGray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x, (y + h * 2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 2), w, h);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sec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10)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горит зеленый свет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Brushes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.LightGray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x, y, w, h);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Brushes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.LightGray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x, (y + h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 w, h);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Brushes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.Green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x, (y + h * 2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 2), w, h);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F8057B-F592-4D2B-A721-2B398DA32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763" y="388557"/>
            <a:ext cx="22383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4709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797</TotalTime>
  <Words>3356</Words>
  <Application>Microsoft Office PowerPoint</Application>
  <PresentationFormat>Широкоэкранный</PresentationFormat>
  <Paragraphs>331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29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Segoe UI</vt:lpstr>
      <vt:lpstr>Trebuchet MS</vt:lpstr>
      <vt:lpstr>Wingdings 3</vt:lpstr>
      <vt:lpstr>Аспект</vt:lpstr>
      <vt:lpstr>Тема Office</vt:lpstr>
      <vt:lpstr>Работа с графикой</vt:lpstr>
      <vt:lpstr>Создание объекта Graphics</vt:lpstr>
      <vt:lpstr>Как создать графический объект?</vt:lpstr>
      <vt:lpstr>Как создать графический объект?</vt:lpstr>
      <vt:lpstr>Результат</vt:lpstr>
      <vt:lpstr>Как создать графический объект?</vt:lpstr>
      <vt:lpstr>Задание толщины и выравнивания пера</vt:lpstr>
      <vt:lpstr>Выравнивание пера</vt:lpstr>
      <vt:lpstr>Создание линий с наконечниками</vt:lpstr>
      <vt:lpstr>Пунктирные линии</vt:lpstr>
      <vt:lpstr>Создание контурных изображений - прямоугольник</vt:lpstr>
      <vt:lpstr>Создание контурных изображений - эллипс</vt:lpstr>
      <vt:lpstr>Создание контурных изображений - многоугольник</vt:lpstr>
      <vt:lpstr>Рисование контурных изображений</vt:lpstr>
      <vt:lpstr>Создание сложных контурных изображений – метод базовой точки</vt:lpstr>
      <vt:lpstr>Создание закрашенных изображений – закрашенный прямоугольник</vt:lpstr>
      <vt:lpstr>Создание закрашенных изображений – закрашенный эллипс</vt:lpstr>
      <vt:lpstr>Создание закрашенных изображений – закрашенный многоугольник</vt:lpstr>
      <vt:lpstr>Заливка фигуры текстурой</vt:lpstr>
      <vt:lpstr>Заливка контура текстурой</vt:lpstr>
      <vt:lpstr>Замостить фигуру рисунком</vt:lpstr>
      <vt:lpstr>Градиентная заливка</vt:lpstr>
      <vt:lpstr>Создание диагональных линейных градиентов</vt:lpstr>
      <vt:lpstr>Указание пути градиента вдоль контура фигуры</vt:lpstr>
      <vt:lpstr>Штриховка</vt:lpstr>
      <vt:lpstr>Отрисовка текста</vt:lpstr>
      <vt:lpstr>Отрисовка текста по вертикали</vt:lpstr>
      <vt:lpstr>Проект «Светофор»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329197</dc:creator>
  <cp:lastModifiedBy>329192</cp:lastModifiedBy>
  <cp:revision>50</cp:revision>
  <dcterms:created xsi:type="dcterms:W3CDTF">2023-11-28T12:04:06Z</dcterms:created>
  <dcterms:modified xsi:type="dcterms:W3CDTF">2025-02-04T07:41:53Z</dcterms:modified>
</cp:coreProperties>
</file>