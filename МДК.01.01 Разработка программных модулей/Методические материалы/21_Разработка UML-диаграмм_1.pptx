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</p:sldMasterIdLst>
  <p:sldIdLst>
    <p:sldId id="387" r:id="rId3"/>
    <p:sldId id="257" r:id="rId4"/>
    <p:sldId id="258" r:id="rId5"/>
    <p:sldId id="259" r:id="rId6"/>
    <p:sldId id="261" r:id="rId7"/>
    <p:sldId id="260" r:id="rId8"/>
    <p:sldId id="310" r:id="rId9"/>
    <p:sldId id="313" r:id="rId10"/>
    <p:sldId id="314" r:id="rId11"/>
    <p:sldId id="263" r:id="rId12"/>
    <p:sldId id="264" r:id="rId13"/>
    <p:sldId id="265" r:id="rId14"/>
    <p:sldId id="266" r:id="rId15"/>
    <p:sldId id="267" r:id="rId16"/>
    <p:sldId id="268" r:id="rId17"/>
    <p:sldId id="356" r:id="rId18"/>
    <p:sldId id="357" r:id="rId19"/>
    <p:sldId id="349" r:id="rId20"/>
    <p:sldId id="350" r:id="rId21"/>
    <p:sldId id="351" r:id="rId22"/>
    <p:sldId id="352" r:id="rId23"/>
    <p:sldId id="353" r:id="rId24"/>
    <p:sldId id="354" r:id="rId25"/>
    <p:sldId id="358" r:id="rId26"/>
    <p:sldId id="359" r:id="rId27"/>
    <p:sldId id="360" r:id="rId28"/>
    <p:sldId id="361" r:id="rId29"/>
    <p:sldId id="374" r:id="rId30"/>
    <p:sldId id="311" r:id="rId31"/>
    <p:sldId id="312" r:id="rId32"/>
    <p:sldId id="367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364" r:id="rId42"/>
    <p:sldId id="324" r:id="rId43"/>
    <p:sldId id="369" r:id="rId44"/>
    <p:sldId id="370" r:id="rId45"/>
    <p:sldId id="371" r:id="rId46"/>
    <p:sldId id="372" r:id="rId47"/>
    <p:sldId id="373" r:id="rId48"/>
    <p:sldId id="381" r:id="rId49"/>
    <p:sldId id="382" r:id="rId50"/>
    <p:sldId id="383" r:id="rId51"/>
    <p:sldId id="326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412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17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928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787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546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67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496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750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939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53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267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42603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7273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089074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6739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4955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184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4721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46318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84047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306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56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60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0508F1E-2C87-4727-95B6-FA294CC16A9D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480F3B3-EF50-4870-B29E-15A8EED8F1E4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38576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858208" y="1335382"/>
            <a:ext cx="6889712" cy="2309642"/>
          </a:xfrm>
        </p:spPr>
        <p:txBody>
          <a:bodyPr>
            <a:noAutofit/>
          </a:bodyPr>
          <a:lstStyle/>
          <a:p>
            <a:r>
              <a:rPr lang="ru-RU" sz="4400" dirty="0"/>
              <a:t>Унифицированный язык моделирования</a:t>
            </a:r>
            <a:br>
              <a:rPr lang="ru-RU" sz="4400" dirty="0"/>
            </a:br>
            <a:r>
              <a:rPr lang="ru-RU" sz="3600" dirty="0">
                <a:latin typeface="Consolas" panose="020B0609020204030204" pitchFamily="49" charset="0"/>
              </a:rPr>
              <a:t>Раздел 1</a:t>
            </a:r>
            <a:endParaRPr lang="ru-RU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72748" y="4039307"/>
            <a:ext cx="8550265" cy="585918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МДК 01.01 Разработка программных модулей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B8B60-D4B0-4605-82E4-D8FDAFAB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BC1402-F23E-479F-BBD4-6507C745F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46914"/>
            <a:ext cx="10058400" cy="1572185"/>
          </a:xfrm>
        </p:spPr>
        <p:txBody>
          <a:bodyPr>
            <a:normAutofit/>
          </a:bodyPr>
          <a:lstStyle/>
          <a:p>
            <a:r>
              <a:rPr lang="ru-RU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Системное моделирование - процесс создания абстрактных моделей программной системы, отображающих различные ее аспекты.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665447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15A89B-E262-4053-B3E8-19B63283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21412"/>
          </a:xfrm>
        </p:spPr>
        <p:txBody>
          <a:bodyPr/>
          <a:lstStyle/>
          <a:p>
            <a:r>
              <a:rPr lang="ru-RU" dirty="0"/>
              <a:t>Цели моделирования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B96B84D-DC66-4AF0-878F-01FD0D62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84551"/>
              </p:ext>
            </p:extLst>
          </p:nvPr>
        </p:nvGraphicFramePr>
        <p:xfrm>
          <a:off x="1134176" y="1746056"/>
          <a:ext cx="10021503" cy="4048351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914229">
                  <a:extLst>
                    <a:ext uri="{9D8B030D-6E8A-4147-A177-3AD203B41FA5}">
                      <a16:colId xmlns:a16="http://schemas.microsoft.com/office/drawing/2014/main" val="1751040686"/>
                    </a:ext>
                  </a:extLst>
                </a:gridCol>
                <a:gridCol w="7107274">
                  <a:extLst>
                    <a:ext uri="{9D8B030D-6E8A-4147-A177-3AD203B41FA5}">
                      <a16:colId xmlns:a16="http://schemas.microsoft.com/office/drawing/2014/main" val="3098121363"/>
                    </a:ext>
                  </a:extLst>
                </a:gridCol>
              </a:tblGrid>
              <a:tr h="458601">
                <a:tc>
                  <a:txBody>
                    <a:bodyPr/>
                    <a:lstStyle/>
                    <a:p>
                      <a:pPr marL="37592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spc="-10" dirty="0">
                          <a:effectLst/>
                          <a:latin typeface="Arial Black" panose="020B0A040201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Процесс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471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 Black" panose="020B0A040201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Цель</a:t>
                      </a:r>
                      <a:r>
                        <a:rPr lang="ru-RU" sz="1800" spc="5" dirty="0">
                          <a:effectLst/>
                          <a:latin typeface="Arial Black" panose="020B0A040201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Arial Black" panose="020B0A040201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моделирования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1076"/>
                  </a:ext>
                </a:extLst>
              </a:tr>
              <a:tr h="79459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spc="-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Инженерия</a:t>
                      </a:r>
                      <a:r>
                        <a:rPr lang="ru-RU" sz="1800" spc="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требований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spc="3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объяснение</a:t>
                      </a:r>
                      <a:r>
                        <a:rPr lang="ru-RU" sz="1800" spc="75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3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предложенных</a:t>
                      </a:r>
                      <a:r>
                        <a:rPr lang="ru-RU" sz="1800" spc="75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требований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spc="3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заинтересованным</a:t>
                      </a:r>
                      <a:r>
                        <a:rPr lang="ru-RU" sz="1800" spc="5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сторонам.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840674"/>
                  </a:ext>
                </a:extLst>
              </a:tr>
              <a:tr h="108730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spc="-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Проектирование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spc="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создание</a:t>
                      </a:r>
                      <a:r>
                        <a:rPr lang="ru-RU" sz="1800" spc="125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общей</a:t>
                      </a:r>
                      <a:r>
                        <a:rPr lang="ru-RU" sz="1800" spc="135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структуры</a:t>
                      </a:r>
                      <a:r>
                        <a:rPr lang="ru-RU" sz="1800" spc="13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системы</a:t>
                      </a:r>
                      <a:r>
                        <a:rPr lang="ru-RU" sz="1800" spc="13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архитекторами;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80000" marR="108585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планирование</a:t>
                      </a:r>
                      <a:r>
                        <a:rPr lang="ru-RU" sz="1800" spc="-35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и</a:t>
                      </a:r>
                      <a:r>
                        <a:rPr lang="ru-RU" sz="1800" spc="-3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документирование</a:t>
                      </a:r>
                      <a:r>
                        <a:rPr lang="ru-RU" sz="1800" spc="-3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общих</a:t>
                      </a:r>
                      <a:r>
                        <a:rPr lang="ru-RU" sz="1800" spc="-3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указаний по</a:t>
                      </a:r>
                      <a:r>
                        <a:rPr lang="ru-RU" sz="1800" spc="-45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Times New Roman" panose="02020603050405020304" pitchFamily="18" charset="0"/>
                        </a:rPr>
                        <a:t>практической реализации</a:t>
                      </a: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566206"/>
                  </a:ext>
                </a:extLst>
              </a:tr>
              <a:tr h="77591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spc="-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Программирование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spc="-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частичная или</a:t>
                      </a:r>
                      <a:r>
                        <a:rPr lang="ru-RU" sz="1800" spc="-5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полная</a:t>
                      </a:r>
                      <a:r>
                        <a:rPr lang="ru-RU" sz="1800" spc="-5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реализация</a:t>
                      </a:r>
                      <a:r>
                        <a:rPr lang="ru-RU" sz="1800" spc="-5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системы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с</a:t>
                      </a:r>
                      <a:r>
                        <a:rPr lang="ru-RU" sz="1800" spc="-45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помощью</a:t>
                      </a:r>
                      <a:r>
                        <a:rPr lang="ru-RU" sz="1800" spc="-4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генераторов</a:t>
                      </a:r>
                      <a:r>
                        <a:rPr lang="ru-RU" sz="1800" spc="-45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spc="-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кода.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8741319"/>
                  </a:ext>
                </a:extLst>
              </a:tr>
              <a:tr h="931939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spc="-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Сопровождение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объяснение структуры системы для команды </a:t>
                      </a:r>
                      <a:r>
                        <a:rPr lang="ru-RU" sz="1800" spc="-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сопровождения; базис для внесения изменений </a:t>
                      </a:r>
                      <a:r>
                        <a:rPr lang="ru-RU" sz="18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в</a:t>
                      </a:r>
                      <a:r>
                        <a:rPr lang="ru-RU" sz="1800" spc="-1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систему.</a:t>
                      </a:r>
                      <a:endParaRPr lang="ru-RU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03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0508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CDE1F-0935-4525-970F-B0274E51F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63AA2D-EB0C-43D9-A12C-466C9DC2A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9349"/>
            <a:ext cx="10058400" cy="4023360"/>
          </a:xfrm>
        </p:spPr>
        <p:txBody>
          <a:bodyPr/>
          <a:lstStyle/>
          <a:p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Представление - абстрактная модель системы, выделяющая ее характеристики, соответствующие определенному аспекту ее функционирования.</a:t>
            </a:r>
          </a:p>
          <a:p>
            <a:r>
              <a:rPr lang="ru-RU" b="1" dirty="0"/>
              <a:t>Основные представления:</a:t>
            </a:r>
          </a:p>
          <a:p>
            <a:pPr>
              <a:buClr>
                <a:schemeClr val="bg2">
                  <a:lumMod val="50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ru-RU" dirty="0"/>
              <a:t>Контекстное представление – модель окружения, в котором выполняется система;</a:t>
            </a:r>
          </a:p>
          <a:p>
            <a:pPr>
              <a:buClr>
                <a:schemeClr val="bg2">
                  <a:lumMod val="50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ru-RU" dirty="0"/>
              <a:t>Взаимодействия – связи системы с окружением, а также элементов в системе;</a:t>
            </a:r>
          </a:p>
          <a:p>
            <a:pPr>
              <a:buClr>
                <a:schemeClr val="bg2">
                  <a:lumMod val="50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ru-RU" dirty="0"/>
              <a:t>Структурное представление – организация системы и данных для обработки;</a:t>
            </a:r>
          </a:p>
          <a:p>
            <a:pPr>
              <a:buClr>
                <a:schemeClr val="bg2">
                  <a:lumMod val="50000"/>
                </a:schemeClr>
              </a:buClr>
              <a:buSzPct val="120000"/>
              <a:buFont typeface="Wingdings" panose="05000000000000000000" pitchFamily="2" charset="2"/>
              <a:buChar char="§"/>
            </a:pPr>
            <a:r>
              <a:rPr lang="ru-RU" dirty="0"/>
              <a:t>Поведенческое представление – модель реагирования системы на внешние события.</a:t>
            </a:r>
          </a:p>
        </p:txBody>
      </p:sp>
    </p:spTree>
    <p:extLst>
      <p:ext uri="{BB962C8B-B14F-4D97-AF65-F5344CB8AC3E}">
        <p14:creationId xmlns:p14="http://schemas.microsoft.com/office/powerpoint/2010/main" val="385595918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03F4A7-9754-45E1-A574-58E7AEE6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Унифицированный язык моделирования</a:t>
            </a:r>
            <a:br>
              <a:rPr lang="ru-RU" dirty="0"/>
            </a:br>
            <a:r>
              <a:rPr lang="ru-RU" dirty="0"/>
              <a:t>(</a:t>
            </a:r>
            <a:r>
              <a:rPr lang="ru-RU" cap="none" dirty="0">
                <a:solidFill>
                  <a:schemeClr val="tx1"/>
                </a:solidFill>
              </a:rPr>
              <a:t>Unified </a:t>
            </a:r>
            <a:r>
              <a:rPr lang="ru-RU" cap="none" dirty="0" err="1">
                <a:solidFill>
                  <a:schemeClr val="tx1"/>
                </a:solidFill>
              </a:rPr>
              <a:t>Modeling</a:t>
            </a:r>
            <a:r>
              <a:rPr lang="ru-RU" cap="none" dirty="0">
                <a:solidFill>
                  <a:schemeClr val="tx1"/>
                </a:solidFill>
              </a:rPr>
              <a:t> Language, UML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032BE2-28B6-44E4-9A0C-CA0E9BD57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502568"/>
            <a:ext cx="10058400" cy="3366526"/>
          </a:xfrm>
        </p:spPr>
        <p:txBody>
          <a:bodyPr/>
          <a:lstStyle/>
          <a:p>
            <a:pPr algn="just">
              <a:buSzPct val="120000"/>
              <a:buFont typeface="Wingdings" panose="05000000000000000000" pitchFamily="2" charset="2"/>
              <a:buChar char="§"/>
            </a:pPr>
            <a:r>
              <a:rPr lang="ru-RU" sz="2400" dirty="0"/>
              <a:t>Является графическим языком для спецификации, визуализации, проектирования и документирования систем. </a:t>
            </a:r>
          </a:p>
          <a:p>
            <a:pPr algn="just">
              <a:buSzPct val="120000"/>
              <a:buFont typeface="Wingdings" panose="05000000000000000000" pitchFamily="2" charset="2"/>
              <a:buChar char="§"/>
            </a:pPr>
            <a:r>
              <a:rPr lang="ru-RU" sz="2400" dirty="0"/>
              <a:t>С помощью </a:t>
            </a:r>
            <a:r>
              <a:rPr lang="ru-RU" sz="2400" i="1" dirty="0"/>
              <a:t>UML</a:t>
            </a:r>
            <a:r>
              <a:rPr lang="ru-RU" sz="2400" dirty="0"/>
              <a:t> можно разработать подробную модель создаваемой системы, отображающую не только ее концепцию, но и конкретные особенности реализации.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748887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0A377D-D897-4492-80C2-8BA8D5D62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47330"/>
            <a:ext cx="10058400" cy="921412"/>
          </a:xfrm>
        </p:spPr>
        <p:txBody>
          <a:bodyPr/>
          <a:lstStyle/>
          <a:p>
            <a:r>
              <a:rPr lang="ru-RU" dirty="0"/>
              <a:t>Основные диаграммы UM</a:t>
            </a:r>
            <a:r>
              <a:rPr lang="en-US" dirty="0"/>
              <a:t>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F18590-C77D-45C0-B99A-E7ABEE091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31000"/>
              </a:lnSpc>
              <a:spcBef>
                <a:spcPts val="32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ru-RU" sz="180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800" spc="-35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вариантов</a:t>
            </a:r>
            <a:r>
              <a:rPr lang="ru-RU" sz="1800" spc="-35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использования</a:t>
            </a:r>
            <a:r>
              <a:rPr lang="ru-RU" sz="1800" spc="-35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 </a:t>
            </a:r>
            <a:r>
              <a:rPr lang="ru-RU" sz="1800" i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</a:t>
            </a:r>
            <a:r>
              <a:rPr lang="ru-RU" sz="1800" i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i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case</a:t>
            </a:r>
            <a:r>
              <a:rPr lang="ru-RU" sz="1800" i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i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): взаимодействие между системой и ее окружением.</a:t>
            </a:r>
          </a:p>
          <a:p>
            <a:pPr marL="342900" marR="209550" lvl="0" indent="-342900">
              <a:lnSpc>
                <a:spcPct val="131000"/>
              </a:lnSpc>
              <a:spcBef>
                <a:spcPts val="32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ru-RU" sz="180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800" spc="-35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последовательности</a:t>
            </a:r>
            <a:r>
              <a:rPr lang="ru-RU" sz="1800" spc="-3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 </a:t>
            </a:r>
            <a:r>
              <a:rPr lang="ru-RU" sz="1800" i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sequence</a:t>
            </a:r>
            <a:r>
              <a:rPr lang="ru-RU" sz="1800" i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i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): взаимодействие системы с актерами и компонентов системы друг с другом.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209550" indent="-342900">
              <a:lnSpc>
                <a:spcPct val="131000"/>
              </a:lnSpc>
              <a:spcBef>
                <a:spcPts val="32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ru-RU" sz="180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Диаграмма деятельности 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 </a:t>
            </a:r>
            <a:r>
              <a:rPr lang="ru-RU" sz="1800" i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activity</a:t>
            </a:r>
            <a:r>
              <a:rPr lang="ru-RU" sz="1800" i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i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): составляющие деятельности</a:t>
            </a:r>
            <a:r>
              <a:rPr lang="ru-RU" sz="1800" spc="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по обработке данных.</a:t>
            </a:r>
          </a:p>
          <a:p>
            <a:pPr marL="342900" marR="410210" lvl="0" indent="-342900">
              <a:lnSpc>
                <a:spcPct val="131000"/>
              </a:lnSpc>
              <a:spcBef>
                <a:spcPts val="32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ru-RU" sz="180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Диаграмма классов 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 </a:t>
            </a:r>
            <a:r>
              <a:rPr lang="ru-RU" sz="1800" i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class</a:t>
            </a:r>
            <a:r>
              <a:rPr lang="ru-RU" sz="1800" i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i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): структура классов, используемых</a:t>
            </a:r>
            <a:r>
              <a:rPr lang="ru-RU" sz="1800" spc="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 системе, и отношения между классами.</a:t>
            </a:r>
          </a:p>
          <a:p>
            <a:pPr marL="342900" lvl="0" indent="-342900">
              <a:lnSpc>
                <a:spcPct val="131000"/>
              </a:lnSpc>
              <a:spcBef>
                <a:spcPts val="32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ru-RU" sz="180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800" spc="-7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состояний</a:t>
            </a:r>
            <a:r>
              <a:rPr lang="ru-RU" sz="1800" spc="-65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800" spc="-4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i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state</a:t>
            </a:r>
            <a:r>
              <a:rPr lang="ru-RU" sz="1800" i="1" spc="-5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i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):</a:t>
            </a:r>
            <a:r>
              <a:rPr lang="ru-RU" sz="1800" spc="-5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реагирование</a:t>
            </a:r>
            <a:r>
              <a:rPr lang="ru-RU" sz="1800" spc="-4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системы</a:t>
            </a:r>
            <a:r>
              <a:rPr lang="ru-RU" sz="1800" spc="-5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на</a:t>
            </a:r>
            <a:r>
              <a:rPr lang="ru-RU" sz="1800" spc="-4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внутренние и внешние события.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51272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7203AA-F812-4CFE-A6AB-7AB3CE84C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38940"/>
            <a:ext cx="10058400" cy="963357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вариантов использования </a:t>
            </a:r>
            <a:br>
              <a:rPr lang="ru-RU" dirty="0"/>
            </a:br>
            <a:r>
              <a:rPr lang="ru-RU" dirty="0"/>
              <a:t>(</a:t>
            </a:r>
            <a:r>
              <a:rPr lang="ru-RU" i="1" dirty="0" err="1">
                <a:solidFill>
                  <a:schemeClr val="tx1"/>
                </a:solidFill>
              </a:rPr>
              <a:t>use</a:t>
            </a:r>
            <a:r>
              <a:rPr lang="ru-RU" i="1" dirty="0">
                <a:solidFill>
                  <a:schemeClr val="tx1"/>
                </a:solidFill>
              </a:rPr>
              <a:t> </a:t>
            </a:r>
            <a:r>
              <a:rPr lang="ru-RU" i="1" dirty="0" err="1">
                <a:solidFill>
                  <a:schemeClr val="tx1"/>
                </a:solidFill>
              </a:rPr>
              <a:t>case</a:t>
            </a:r>
            <a:r>
              <a:rPr lang="ru-RU" i="1" dirty="0">
                <a:solidFill>
                  <a:schemeClr val="tx1"/>
                </a:solidFill>
              </a:rPr>
              <a:t> </a:t>
            </a:r>
            <a:r>
              <a:rPr lang="ru-RU" i="1" dirty="0" err="1">
                <a:solidFill>
                  <a:schemeClr val="tx1"/>
                </a:solidFill>
              </a:rPr>
              <a:t>diagram</a:t>
            </a:r>
            <a:r>
              <a:rPr lang="ru-RU" i="1" dirty="0">
                <a:solidFill>
                  <a:schemeClr val="tx1"/>
                </a:solidFill>
              </a:rPr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71C4FF-CAD5-4500-89F5-1353CF16C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80470"/>
            <a:ext cx="10058400" cy="3788624"/>
          </a:xfrm>
        </p:spPr>
        <p:txBody>
          <a:bodyPr/>
          <a:lstStyle/>
          <a:p>
            <a:pPr algn="l"/>
            <a:r>
              <a:rPr lang="ru-RU" sz="2400" dirty="0"/>
              <a:t>Когда разработчик создаёт своё приложение, он в первую очередь задумывается над двумя вопросами: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000" dirty="0"/>
              <a:t>Что будет делать приложение?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000" dirty="0"/>
              <a:t>Кто будет пользоваться этим приложением?</a:t>
            </a:r>
          </a:p>
          <a:p>
            <a:pPr algn="l"/>
            <a:r>
              <a:rPr lang="ru-RU" sz="2400" dirty="0"/>
              <a:t>Некоторыми программами может пользоваться множество людей, поэтому часто необходимо выделять различные группы пользователей системы. У каждой такой группы могут быть свои права и возможности в системе.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018387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8EC08-C0C9-493F-8892-1D2796C7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Актёр (</a:t>
            </a:r>
            <a:r>
              <a:rPr lang="ru-RU" dirty="0" err="1"/>
              <a:t>эктор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901F6A-9094-4416-A5E7-E7F57BAEE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2400" dirty="0"/>
              <a:t>Сущности, с которыми взаимодействует система в процессе своей работы, называются </a:t>
            </a:r>
            <a:r>
              <a:rPr lang="ru-RU" sz="2400" b="1" dirty="0" err="1"/>
              <a:t>экторами</a:t>
            </a:r>
            <a:r>
              <a:rPr lang="ru-RU" sz="2400" dirty="0"/>
              <a:t>, причем каждый </a:t>
            </a:r>
            <a:r>
              <a:rPr lang="ru-RU" sz="2400" dirty="0" err="1"/>
              <a:t>эктор</a:t>
            </a:r>
            <a:r>
              <a:rPr lang="ru-RU" sz="2400" dirty="0"/>
              <a:t> ожидает, что система будет вести себя строго определенным, предсказуемым образом. </a:t>
            </a:r>
          </a:p>
          <a:p>
            <a:pPr algn="just"/>
            <a:r>
              <a:rPr lang="ru-RU" sz="2400" b="1" dirty="0" err="1"/>
              <a:t>Эктор</a:t>
            </a:r>
            <a:r>
              <a:rPr lang="ru-RU" sz="2400" b="1" dirty="0"/>
              <a:t> (</a:t>
            </a:r>
            <a:r>
              <a:rPr lang="ru-RU" sz="2400" b="1" dirty="0" err="1"/>
              <a:t>actor</a:t>
            </a:r>
            <a:r>
              <a:rPr lang="ru-RU" sz="2400" b="1" dirty="0"/>
              <a:t>)</a:t>
            </a:r>
            <a:r>
              <a:rPr lang="ru-RU" sz="2400" dirty="0"/>
              <a:t> - это множество логически связанных ролей, исполняемых при взаимодействии с прецедентами или сущностями (система, подсистема или класс). </a:t>
            </a:r>
          </a:p>
          <a:p>
            <a:pPr algn="just"/>
            <a:r>
              <a:rPr lang="ru-RU" sz="2400" b="1" dirty="0" err="1"/>
              <a:t>Эктором</a:t>
            </a:r>
            <a:r>
              <a:rPr lang="ru-RU" sz="2400" dirty="0"/>
              <a:t> может быть человек или другая система, подсистема или класс, которые представляют нечто вне сущности.</a:t>
            </a:r>
          </a:p>
          <a:p>
            <a:endParaRPr lang="ru-RU" dirty="0"/>
          </a:p>
        </p:txBody>
      </p:sp>
      <p:pic>
        <p:nvPicPr>
          <p:cNvPr id="4" name="Рисунок 3" descr="http://baumanki.net/uploads/lectures/informatika-i-programmirovanie/uml/files/1-2-vidy-diagramm-uml.jpg">
            <a:extLst>
              <a:ext uri="{FF2B5EF4-FFF2-40B4-BE49-F238E27FC236}">
                <a16:creationId xmlns:a16="http://schemas.microsoft.com/office/drawing/2014/main" id="{6F63D3DA-32CA-4DA9-86A0-89AE2A1000E9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76594" y="345026"/>
            <a:ext cx="2248250" cy="1333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8658509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D2687-6880-4A73-A85C-EAD262322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Прецедент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52F28D-C891-43DF-AC0A-7D90064BE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56795"/>
            <a:ext cx="10058400" cy="4023360"/>
          </a:xfrm>
        </p:spPr>
        <p:txBody>
          <a:bodyPr/>
          <a:lstStyle/>
          <a:p>
            <a:pPr algn="just"/>
            <a:r>
              <a:rPr lang="ru-RU" sz="2400" b="1" dirty="0"/>
              <a:t>Прецедент (</a:t>
            </a:r>
            <a:r>
              <a:rPr lang="ru-RU" sz="2400" b="1" dirty="0" err="1"/>
              <a:t>use-case</a:t>
            </a:r>
            <a:r>
              <a:rPr lang="ru-RU" sz="2400" b="1" dirty="0"/>
              <a:t>)</a:t>
            </a:r>
            <a:r>
              <a:rPr lang="ru-RU" sz="2400" dirty="0"/>
              <a:t> - описание отдельного аспекта поведения системы с точки зрения пользователя.</a:t>
            </a:r>
          </a:p>
          <a:p>
            <a:pPr algn="just"/>
            <a:r>
              <a:rPr lang="ru-RU" sz="2400" b="1" dirty="0"/>
              <a:t>Прецедент (</a:t>
            </a:r>
            <a:r>
              <a:rPr lang="ru-RU" sz="2400" b="1" dirty="0" err="1"/>
              <a:t>use</a:t>
            </a:r>
            <a:r>
              <a:rPr lang="ru-RU" sz="2400" b="1" dirty="0"/>
              <a:t> </a:t>
            </a:r>
            <a:r>
              <a:rPr lang="ru-RU" sz="2400" b="1" dirty="0" err="1"/>
              <a:t>case</a:t>
            </a:r>
            <a:r>
              <a:rPr lang="ru-RU" sz="2400" b="1" dirty="0"/>
              <a:t>)</a:t>
            </a:r>
            <a:r>
              <a:rPr lang="ru-RU" sz="2400" dirty="0"/>
              <a:t> - описание множества последовательных событий (включая варианты), выполняемых системой, которые приводят к наблюдаемому </a:t>
            </a:r>
            <a:r>
              <a:rPr lang="ru-RU" sz="2400" dirty="0" err="1"/>
              <a:t>эктором</a:t>
            </a:r>
            <a:r>
              <a:rPr lang="ru-RU" sz="2400" dirty="0"/>
              <a:t> результату. </a:t>
            </a:r>
          </a:p>
          <a:p>
            <a:pPr algn="just"/>
            <a:r>
              <a:rPr lang="ru-RU" sz="2400" dirty="0"/>
              <a:t>Прецедент не показывает, "как" достигается некоторый результат, а только "что" именно выполняется.</a:t>
            </a:r>
          </a:p>
          <a:p>
            <a:endParaRPr lang="ru-RU" dirty="0"/>
          </a:p>
        </p:txBody>
      </p:sp>
      <p:pic>
        <p:nvPicPr>
          <p:cNvPr id="4" name="Рисунок 3" descr="http://baumanki.net/uploads/lectures/informatika-i-programmirovanie/uml/files/2-2-vidy-diagramm-uml.jpg">
            <a:extLst>
              <a:ext uri="{FF2B5EF4-FFF2-40B4-BE49-F238E27FC236}">
                <a16:creationId xmlns:a16="http://schemas.microsoft.com/office/drawing/2014/main" id="{4C7BED8A-CBE5-4C22-8FA5-4473A36B1081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8395" y="830509"/>
            <a:ext cx="2099337" cy="81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3475128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221DD4E-3823-4FC5-9B98-FCC33FDDC7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384184" y="1859342"/>
            <a:ext cx="10058400" cy="495300"/>
          </a:xfrm>
        </p:spPr>
        <p:txBody>
          <a:bodyPr>
            <a:normAutofit lnSpcReduction="10000"/>
          </a:bodyPr>
          <a:lstStyle/>
          <a:p>
            <a:pPr algn="ctr"/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Взаимодействие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между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читателем</a:t>
            </a:r>
            <a:r>
              <a:rPr lang="ru-RU" sz="1600" spc="-3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библиотекарем</a:t>
            </a:r>
            <a:r>
              <a:rPr lang="ru-RU" sz="1600" spc="-3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на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диаграмме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вариантов</a:t>
            </a:r>
            <a:r>
              <a:rPr lang="ru-RU" sz="1600" spc="-3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использования</a:t>
            </a:r>
            <a:b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</a:t>
            </a:r>
            <a:r>
              <a:rPr lang="ru-RU" sz="1600" i="1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case</a:t>
            </a:r>
            <a:r>
              <a:rPr lang="ru-RU" sz="1600" i="1" spc="-3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spc="-10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600" i="1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endParaRPr lang="ru-RU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DCCD91-8673-41B0-B4B0-D02E209B7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954" y="227202"/>
            <a:ext cx="7924800" cy="152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2461D4-3A3C-4474-9079-1913D14A0549}"/>
              </a:ext>
            </a:extLst>
          </p:cNvPr>
          <p:cNvSpPr txBox="1"/>
          <p:nvPr/>
        </p:nvSpPr>
        <p:spPr>
          <a:xfrm>
            <a:off x="1208015" y="2979865"/>
            <a:ext cx="101506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Актеры: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читатель, библиотекарь</a:t>
            </a:r>
          </a:p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Описание: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Библиотекарь выдает книгу на руки пользователю и вносит соответствующие данные в систему.</a:t>
            </a:r>
          </a:p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Данные:	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идентификатор книги, дата выдачи, кому выдана, на какой срок.</a:t>
            </a:r>
          </a:p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Побуждение: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команда системы, полученная от библиотекаря.</a:t>
            </a:r>
          </a:p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Отклик:	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подтверждение внесения изменений в систему.</a:t>
            </a:r>
          </a:p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Доп. условия: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библиотекарь должен быть авторизован в системе; читатель должен иметь разрешение на выдачу книги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53432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221DD4E-3823-4FC5-9B98-FCC33FDDC7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384184" y="2052289"/>
            <a:ext cx="10058400" cy="495300"/>
          </a:xfrm>
        </p:spPr>
        <p:txBody>
          <a:bodyPr>
            <a:normAutofit lnSpcReduction="10000"/>
          </a:bodyPr>
          <a:lstStyle/>
          <a:p>
            <a:pPr algn="ctr"/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Взаимодействие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между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читателем</a:t>
            </a:r>
            <a:r>
              <a:rPr lang="ru-RU" sz="1600" spc="-3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библиотекарем</a:t>
            </a:r>
            <a:r>
              <a:rPr lang="ru-RU" sz="1600" spc="-3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на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диаграмме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вариантов</a:t>
            </a:r>
            <a:r>
              <a:rPr lang="ru-RU" sz="1600" spc="-3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использования</a:t>
            </a:r>
            <a:b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</a:t>
            </a:r>
            <a:r>
              <a:rPr lang="ru-RU" sz="1600" i="1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case</a:t>
            </a:r>
            <a:r>
              <a:rPr lang="ru-RU" sz="1600" i="1" spc="-3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spc="-10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600" i="1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endParaRPr lang="ru-RU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461D4-3A3C-4474-9079-1913D14A0549}"/>
              </a:ext>
            </a:extLst>
          </p:cNvPr>
          <p:cNvSpPr txBox="1"/>
          <p:nvPr/>
        </p:nvSpPr>
        <p:spPr>
          <a:xfrm>
            <a:off x="1208015" y="2979865"/>
            <a:ext cx="101506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Актеры: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читатель, библиотекарь</a:t>
            </a:r>
          </a:p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Описание: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Библиотекарь выдает книгу на руки пользователю и вносит соответствующие данные в систему.</a:t>
            </a:r>
          </a:p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Данные:	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идентификатор книги, дата выдачи, кому выдана, на какой срок.</a:t>
            </a:r>
          </a:p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Побуждение: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команда системы, полученная от библиотекаря.</a:t>
            </a:r>
          </a:p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Отклик:	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подтверждение внесения изменений в систему.</a:t>
            </a:r>
          </a:p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Доп. условия: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библиотекарь должен быть авторизован в системе; читатель должен иметь разрешение на выдачу книги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A9E444-1673-4CBF-91E4-7D4B68D87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917" y="80214"/>
            <a:ext cx="9045384" cy="19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2252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221DD4E-3823-4FC5-9B98-FCC33FDDC7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384184" y="2052289"/>
            <a:ext cx="10058400" cy="495300"/>
          </a:xfrm>
        </p:spPr>
        <p:txBody>
          <a:bodyPr>
            <a:normAutofit lnSpcReduction="10000"/>
          </a:bodyPr>
          <a:lstStyle/>
          <a:p>
            <a:pPr algn="ctr"/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Взаимодействие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между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читателем</a:t>
            </a:r>
            <a:r>
              <a:rPr lang="ru-RU" sz="1600" spc="-3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библиотекарем</a:t>
            </a:r>
            <a:r>
              <a:rPr lang="ru-RU" sz="1600" spc="-3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на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диаграмме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вариантов</a:t>
            </a:r>
            <a:r>
              <a:rPr lang="ru-RU" sz="1600" spc="-3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использования</a:t>
            </a:r>
            <a:b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(англ.</a:t>
            </a:r>
            <a:r>
              <a:rPr lang="ru-RU" sz="1600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</a:t>
            </a:r>
            <a:r>
              <a:rPr lang="ru-RU" sz="1600" i="1" spc="-3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case</a:t>
            </a:r>
            <a:r>
              <a:rPr lang="ru-RU" sz="1600" i="1" spc="-3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i="1" spc="-10" dirty="0" err="1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diagram</a:t>
            </a:r>
            <a:r>
              <a:rPr lang="ru-RU" sz="1600" i="1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endParaRPr lang="ru-RU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461D4-3A3C-4474-9079-1913D14A0549}"/>
              </a:ext>
            </a:extLst>
          </p:cNvPr>
          <p:cNvSpPr txBox="1"/>
          <p:nvPr/>
        </p:nvSpPr>
        <p:spPr>
          <a:xfrm>
            <a:off x="1208015" y="2979865"/>
            <a:ext cx="101506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Актеры: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читатель, библиотекарь</a:t>
            </a:r>
          </a:p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Описание: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Библиотекарь выдает книгу на руки пользователю и вносит соответствующие данные в систему.</a:t>
            </a:r>
          </a:p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Данные:	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идентификатор книги, дата выдачи, кому выдана, на какой срок.</a:t>
            </a:r>
          </a:p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Побуждение: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команда системы, полученная от библиотекаря.</a:t>
            </a:r>
          </a:p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Отклик:	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подтверждение внесения изменений в систему.</a:t>
            </a:r>
          </a:p>
          <a:p>
            <a:pPr>
              <a:spcAft>
                <a:spcPts val="600"/>
              </a:spcAft>
            </a:pPr>
            <a:r>
              <a:rPr lang="ru-R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Доп. условия: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	библиотекарь должен быть авторизован в системе; читатель должен иметь разрешение на выдачу книги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9715AE-4336-42C2-8179-B998098FC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62" y="59335"/>
            <a:ext cx="814387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5900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90B5EF-F23C-4228-99E7-35DEE983D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939" y="418362"/>
            <a:ext cx="7633457" cy="4418197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EF6E6287-ED30-4E8A-A7D2-9672C5BDEEB1}"/>
              </a:ext>
            </a:extLst>
          </p:cNvPr>
          <p:cNvSpPr txBox="1">
            <a:spLocks/>
          </p:cNvSpPr>
          <p:nvPr/>
        </p:nvSpPr>
        <p:spPr>
          <a:xfrm>
            <a:off x="1392573" y="5382718"/>
            <a:ext cx="10058400" cy="4953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Более сложный пример, демонстрирующий связи взаимодействия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56244559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EF6E6287-ED30-4E8A-A7D2-9672C5BDEEB1}"/>
              </a:ext>
            </a:extLst>
          </p:cNvPr>
          <p:cNvSpPr txBox="1">
            <a:spLocks/>
          </p:cNvSpPr>
          <p:nvPr/>
        </p:nvSpPr>
        <p:spPr>
          <a:xfrm>
            <a:off x="1392573" y="5382718"/>
            <a:ext cx="10058400" cy="4953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Более сложный пример, демонстрирующий связи взаимодействия</a:t>
            </a:r>
            <a:endParaRPr lang="ru-RU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446935-1049-4A94-ABB0-12295F88C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090" y="429107"/>
            <a:ext cx="8043819" cy="482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8408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EF6E6287-ED30-4E8A-A7D2-9672C5BDEEB1}"/>
              </a:ext>
            </a:extLst>
          </p:cNvPr>
          <p:cNvSpPr txBox="1">
            <a:spLocks/>
          </p:cNvSpPr>
          <p:nvPr/>
        </p:nvSpPr>
        <p:spPr>
          <a:xfrm>
            <a:off x="1392573" y="5382718"/>
            <a:ext cx="10058400" cy="4953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Более сложный пример, демонстрирующий связи взаимодействия</a:t>
            </a:r>
            <a:endParaRPr lang="ru-RU" sz="1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8237E7-4603-472B-93BA-1C6CFF582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472" y="475594"/>
            <a:ext cx="8025599" cy="485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26917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09F5D1-3266-4CAB-BD3F-AA71E8500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070" y="559863"/>
            <a:ext cx="8198840" cy="706090"/>
          </a:xfrm>
        </p:spPr>
        <p:txBody>
          <a:bodyPr>
            <a:normAutofit fontScale="90000"/>
          </a:bodyPr>
          <a:lstStyle/>
          <a:p>
            <a:r>
              <a:rPr lang="ru-RU" dirty="0"/>
              <a:t>Выделение групп пользователей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BAE837-6496-4FCC-9A75-1D5439AEC01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34174" y="2038524"/>
            <a:ext cx="8198840" cy="4342803"/>
          </a:xfrm>
        </p:spPr>
        <p:txBody>
          <a:bodyPr/>
          <a:lstStyle/>
          <a:p>
            <a:r>
              <a:rPr lang="ru-RU" dirty="0"/>
              <a:t>В качестве примера программной системы выберем информационную систему для техникума.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В этой системе можно выделить следующие группы пользователей:</a:t>
            </a:r>
          </a:p>
          <a:p>
            <a:pPr lvl="1">
              <a:spcBef>
                <a:spcPts val="600"/>
              </a:spcBef>
              <a:buSzPct val="70000"/>
              <a:buFont typeface="Wingdings" panose="05000000000000000000" pitchFamily="2" charset="2"/>
              <a:buChar char="§"/>
            </a:pPr>
            <a:r>
              <a:rPr lang="ru-RU" sz="2400" dirty="0"/>
              <a:t>Обучающиеся</a:t>
            </a:r>
          </a:p>
          <a:p>
            <a:pPr lvl="1">
              <a:spcBef>
                <a:spcPts val="600"/>
              </a:spcBef>
              <a:buSzPct val="70000"/>
              <a:buFont typeface="Wingdings" panose="05000000000000000000" pitchFamily="2" charset="2"/>
              <a:buChar char="§"/>
            </a:pPr>
            <a:r>
              <a:rPr lang="ru-RU" sz="2400" dirty="0"/>
              <a:t>Преподаватели</a:t>
            </a:r>
          </a:p>
          <a:p>
            <a:pPr lvl="1">
              <a:spcBef>
                <a:spcPts val="600"/>
              </a:spcBef>
              <a:buSzPct val="70000"/>
              <a:buFont typeface="Wingdings" panose="05000000000000000000" pitchFamily="2" charset="2"/>
              <a:buChar char="§"/>
            </a:pPr>
            <a:r>
              <a:rPr lang="ru-RU" sz="2400" dirty="0"/>
              <a:t>Классные руководители</a:t>
            </a:r>
          </a:p>
          <a:p>
            <a:pPr lvl="1">
              <a:spcBef>
                <a:spcPts val="600"/>
              </a:spcBef>
              <a:buSzPct val="70000"/>
              <a:buFont typeface="Wingdings" panose="05000000000000000000" pitchFamily="2" charset="2"/>
              <a:buChar char="§"/>
            </a:pPr>
            <a:r>
              <a:rPr lang="ru-RU" sz="2400" dirty="0"/>
              <a:t>Заместители директора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4246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42C3B8-441A-4829-958D-C28F4A9AF2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15068" y="274638"/>
            <a:ext cx="10025121" cy="850900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chemeClr val="accent1">
                    <a:lumMod val="75000"/>
                  </a:schemeClr>
                </a:solidFill>
                <a:latin typeface="-apple-system"/>
              </a:rPr>
              <a:t>Каждая из групп пользователей может пользоваться нашей системой по-своему:</a:t>
            </a:r>
            <a:endParaRPr lang="ru-RU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71B613-1A7C-4DC1-87FD-9EFB2F06E609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181311" y="1125538"/>
            <a:ext cx="10377181" cy="5589587"/>
          </a:xfrm>
        </p:spPr>
        <p:txBody>
          <a:bodyPr>
            <a:normAutofit lnSpcReduction="10000"/>
          </a:bodyPr>
          <a:lstStyle/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Обучающиеся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могут: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Смотреть расписание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Просматривать свои оценки</a:t>
            </a:r>
          </a:p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Преподаватели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могут: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Размещать материалы для уроков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Выставлять оценки в электронный журнал</a:t>
            </a:r>
          </a:p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Классные руководители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могут делать все то же самое, что и преподаватели плюс: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Составлять расписание родительских собраний</a:t>
            </a:r>
          </a:p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Заместители директора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могут: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Составлять расписание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Публиковать посты с важной информацией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Кроме того, у системы есть функционал, который доступен всем группам пользователей. </a:t>
            </a:r>
            <a:b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</a:b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В разрабатываемой нами системе актуально будет добавить мессенджер, в котором можно будет быстро связываться с интересующим человеком. </a:t>
            </a:r>
          </a:p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Все пользователи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могут: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Отправлять сообщения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7923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907256" y="490537"/>
            <a:ext cx="7467600" cy="561975"/>
          </a:xfrm>
        </p:spPr>
        <p:txBody>
          <a:bodyPr>
            <a:normAutofit fontScale="90000"/>
          </a:bodyPr>
          <a:lstStyle/>
          <a:p>
            <a:r>
              <a:rPr lang="ru-RU" dirty="0"/>
              <a:t>Отношение ассоциации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4294967295"/>
          </p:nvPr>
        </p:nvSpPr>
        <p:spPr>
          <a:xfrm>
            <a:off x="907256" y="1131093"/>
            <a:ext cx="10294144" cy="5314951"/>
          </a:xfrm>
        </p:spPr>
        <p:txBody>
          <a:bodyPr>
            <a:normAutofit fontScale="85000" lnSpcReduction="20000"/>
          </a:bodyPr>
          <a:lstStyle/>
          <a:p>
            <a:r>
              <a:rPr lang="ru-RU" sz="2600" dirty="0"/>
              <a:t>Отобразим на диаграмме информацию о том, какие </a:t>
            </a:r>
            <a:r>
              <a:rPr lang="ru-RU" sz="2600" b="1" dirty="0"/>
              <a:t>варианты использования </a:t>
            </a:r>
            <a:r>
              <a:rPr lang="ru-RU" sz="2600" dirty="0"/>
              <a:t>могут быть использованы каждым эктором. Сейчас, например, мы хотим показать, что выставлять оценки могут только преподаватели.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sz="2600" dirty="0"/>
              <a:t>Если на диаграмме вариантов использования эктор соединен с вариантом использования с помощью </a:t>
            </a:r>
            <a:r>
              <a:rPr lang="ru-RU" sz="2600" i="1" dirty="0"/>
              <a:t>отношения ассоциации</a:t>
            </a:r>
            <a:r>
              <a:rPr lang="ru-RU" sz="2600" dirty="0"/>
              <a:t>, это означает, что данный эктор может выполнять действия, описанные вариантом использования.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563" y="1994015"/>
            <a:ext cx="4616030" cy="303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9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4294967295"/>
          </p:nvPr>
        </p:nvSpPr>
        <p:spPr>
          <a:xfrm>
            <a:off x="714375" y="260350"/>
            <a:ext cx="9936956" cy="968375"/>
          </a:xfrm>
        </p:spPr>
        <p:txBody>
          <a:bodyPr>
            <a:normAutofit/>
          </a:bodyPr>
          <a:lstStyle/>
          <a:p>
            <a:r>
              <a:rPr lang="ru-RU" dirty="0"/>
              <a:t> </a:t>
            </a:r>
            <a:r>
              <a:rPr lang="ru-RU" sz="2200" dirty="0"/>
              <a:t>Некоторые обязанности у нас </a:t>
            </a:r>
            <a:r>
              <a:rPr lang="ru-RU" sz="2200" b="1" i="1" dirty="0"/>
              <a:t>ассоциируются</a:t>
            </a:r>
            <a:r>
              <a:rPr lang="ru-RU" sz="2200" dirty="0"/>
              <a:t> с определённой группой людей, поэтому мы связываем экторов с </a:t>
            </a:r>
            <a:r>
              <a:rPr lang="ru-RU" sz="2200" i="1" dirty="0"/>
              <a:t>ассоциируемыми</a:t>
            </a:r>
            <a:r>
              <a:rPr lang="ru-RU" sz="2200" dirty="0"/>
              <a:t> с ними действиями.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285" y="1228725"/>
            <a:ext cx="7488832" cy="511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82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1114425" y="365944"/>
            <a:ext cx="7467600" cy="633412"/>
          </a:xfrm>
        </p:spPr>
        <p:txBody>
          <a:bodyPr>
            <a:noAutofit/>
          </a:bodyPr>
          <a:lstStyle/>
          <a:p>
            <a:r>
              <a:rPr lang="ru-RU" sz="4300" dirty="0"/>
              <a:t>Отношение обобщения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4294967295"/>
          </p:nvPr>
        </p:nvSpPr>
        <p:spPr>
          <a:xfrm>
            <a:off x="520303" y="1268363"/>
            <a:ext cx="11151394" cy="1152525"/>
          </a:xfrm>
        </p:spPr>
        <p:txBody>
          <a:bodyPr>
            <a:normAutofit/>
          </a:bodyPr>
          <a:lstStyle/>
          <a:p>
            <a:r>
              <a:rPr lang="ru-RU" sz="2200" dirty="0"/>
              <a:t>Отношение обобщения используется, чтобы показать, что одно действие является </a:t>
            </a:r>
            <a:r>
              <a:rPr lang="ru-RU" sz="2200" i="1" dirty="0"/>
              <a:t>частным случаем</a:t>
            </a:r>
            <a:r>
              <a:rPr lang="ru-RU" sz="2200" dirty="0"/>
              <a:t> другого действия или что одну группу людей можно </a:t>
            </a:r>
            <a:r>
              <a:rPr lang="ru-RU" sz="2200" i="1" dirty="0"/>
              <a:t>обобщить </a:t>
            </a:r>
            <a:r>
              <a:rPr lang="ru-RU" sz="2200" dirty="0"/>
              <a:t>до другой группы.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1927969"/>
            <a:ext cx="8640960" cy="422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59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897" y="3011649"/>
            <a:ext cx="6315749" cy="328078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921544" y="346075"/>
            <a:ext cx="7467600" cy="561975"/>
          </a:xfrm>
        </p:spPr>
        <p:txBody>
          <a:bodyPr>
            <a:normAutofit fontScale="90000"/>
          </a:bodyPr>
          <a:lstStyle/>
          <a:p>
            <a:r>
              <a:rPr lang="ru-RU" sz="4300" dirty="0"/>
              <a:t>Отношение обобщения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4294967295"/>
          </p:nvPr>
        </p:nvSpPr>
        <p:spPr>
          <a:xfrm>
            <a:off x="492919" y="908050"/>
            <a:ext cx="11208543" cy="2520950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ru-RU" dirty="0"/>
              <a:t>Давайте обратим внимание на действие «Узнать свои оценки». Логично предположить, что обучающиеся захотят не только знать список своих оценок, но и знать свою среднюю оценку за некоторый период времени или среднюю оценку по определённому предмету.</a:t>
            </a:r>
          </a:p>
          <a:p>
            <a:pPr algn="l">
              <a:lnSpc>
                <a:spcPct val="120000"/>
              </a:lnSpc>
            </a:pPr>
            <a:r>
              <a:rPr lang="ru-RU" dirty="0"/>
              <a:t>Создадим два варианта использования "Узнать среднюю оценку за некоторый период времени" и "Узнать среднюю оценку по предмету" и соединим их с вариантом использования "Узнать свои оценки" </a:t>
            </a:r>
            <a:r>
              <a:rPr lang="ru-RU" i="1" dirty="0"/>
              <a:t>отношением обобщения.</a:t>
            </a:r>
          </a:p>
        </p:txBody>
      </p:sp>
    </p:spTree>
    <p:extLst>
      <p:ext uri="{BB962C8B-B14F-4D97-AF65-F5344CB8AC3E}">
        <p14:creationId xmlns:p14="http://schemas.microsoft.com/office/powerpoint/2010/main" val="3308811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4294967295"/>
          </p:nvPr>
        </p:nvSpPr>
        <p:spPr>
          <a:xfrm>
            <a:off x="800100" y="447676"/>
            <a:ext cx="7467600" cy="576262"/>
          </a:xfrm>
        </p:spPr>
        <p:txBody>
          <a:bodyPr>
            <a:normAutofit/>
          </a:bodyPr>
          <a:lstStyle/>
          <a:p>
            <a:r>
              <a:rPr lang="ru-RU" sz="2200" dirty="0"/>
              <a:t>Добавим отношение обобщения в общую диаграмму: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821" y="866188"/>
            <a:ext cx="7775103" cy="544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39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1178719" y="429109"/>
            <a:ext cx="7467600" cy="604837"/>
          </a:xfrm>
        </p:spPr>
        <p:txBody>
          <a:bodyPr>
            <a:normAutofit fontScale="90000"/>
          </a:bodyPr>
          <a:lstStyle/>
          <a:p>
            <a:r>
              <a:rPr lang="ru-RU" dirty="0"/>
              <a:t>Отношение включения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4294967295"/>
          </p:nvPr>
        </p:nvSpPr>
        <p:spPr>
          <a:xfrm>
            <a:off x="807243" y="1266582"/>
            <a:ext cx="10472738" cy="3241124"/>
          </a:xfrm>
        </p:spPr>
        <p:txBody>
          <a:bodyPr>
            <a:normAutofit/>
          </a:bodyPr>
          <a:lstStyle/>
          <a:p>
            <a:pPr algn="l"/>
            <a:r>
              <a:rPr lang="ru-RU" sz="2400" dirty="0"/>
              <a:t>Для заместителя директора мы отмечали, что ему нужно составлять расписания. </a:t>
            </a:r>
          </a:p>
          <a:p>
            <a:pPr algn="l"/>
            <a:r>
              <a:rPr lang="ru-RU" sz="2400" dirty="0"/>
              <a:t>Расписание можно поделить на три категории:</a:t>
            </a:r>
          </a:p>
          <a:p>
            <a:pPr lvl="1">
              <a:buFont typeface="+mj-lt"/>
              <a:buAutoNum type="arabicPeriod"/>
            </a:pPr>
            <a:r>
              <a:rPr lang="ru-RU" sz="2000" dirty="0"/>
              <a:t>Расписание занятий</a:t>
            </a:r>
          </a:p>
          <a:p>
            <a:pPr lvl="1">
              <a:buFont typeface="+mj-lt"/>
              <a:buAutoNum type="arabicPeriod"/>
            </a:pPr>
            <a:r>
              <a:rPr lang="ru-RU" sz="2000" dirty="0"/>
              <a:t>Расписание мероприятий</a:t>
            </a:r>
          </a:p>
          <a:p>
            <a:pPr lvl="1">
              <a:buFont typeface="+mj-lt"/>
              <a:buAutoNum type="arabicPeriod"/>
            </a:pPr>
            <a:r>
              <a:rPr lang="ru-RU" sz="2000" dirty="0"/>
              <a:t>Расписание каникул</a:t>
            </a:r>
          </a:p>
          <a:p>
            <a:pPr algn="l"/>
            <a:r>
              <a:rPr lang="ru-RU" sz="2400" dirty="0"/>
              <a:t>Все расписания составляются заместителем директора, поэтому покажем это на диаграмме. Для этого будем использовать отношение включения. 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48B36B-2275-4B19-B422-101EFBCBD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410" y="4859164"/>
            <a:ext cx="2521634" cy="10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17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05DB20-2E4B-4A0A-AF55-6AD02BD71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427" y="2719133"/>
            <a:ext cx="4952492" cy="351765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07E901-DEBA-4948-A488-6B20E9C4E6A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57337" y="256125"/>
            <a:ext cx="7467600" cy="706438"/>
          </a:xfrm>
        </p:spPr>
        <p:txBody>
          <a:bodyPr>
            <a:normAutofit fontScale="90000"/>
          </a:bodyPr>
          <a:lstStyle/>
          <a:p>
            <a:r>
              <a:rPr lang="ru-RU" dirty="0"/>
              <a:t>Отношение включения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D9ABC5-B695-432D-AB81-4BD9B71F92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21480" y="1145381"/>
            <a:ext cx="11472863" cy="1683544"/>
          </a:xfrm>
        </p:spPr>
        <p:txBody>
          <a:bodyPr>
            <a:normAutofit/>
          </a:bodyPr>
          <a:lstStyle/>
          <a:p>
            <a:r>
              <a:rPr lang="ru-RU" sz="2200" dirty="0"/>
              <a:t>В общем случае, </a:t>
            </a:r>
            <a:r>
              <a:rPr lang="ru-RU" sz="2200" i="1" dirty="0"/>
              <a:t>отношение включения </a:t>
            </a:r>
            <a:r>
              <a:rPr lang="ru-RU" sz="2200" dirty="0"/>
              <a:t>используется, чтобы показать, что некоторый вариант использования включает в себя другой вариант использования в качестве составной части.</a:t>
            </a:r>
          </a:p>
          <a:p>
            <a:r>
              <a:rPr lang="ru-RU" sz="2200" dirty="0"/>
              <a:t>Когда мы используем </a:t>
            </a:r>
            <a:r>
              <a:rPr lang="ru-RU" sz="2200" i="1" dirty="0"/>
              <a:t>отношение включения</a:t>
            </a:r>
            <a:r>
              <a:rPr lang="ru-RU" sz="2200" dirty="0"/>
              <a:t>, мы подразумеваем, что составные варианты использования </a:t>
            </a:r>
            <a:r>
              <a:rPr lang="ru-RU" sz="2200" b="1" dirty="0"/>
              <a:t>обязательно </a:t>
            </a:r>
            <a:r>
              <a:rPr lang="ru-RU" sz="2200" dirty="0"/>
              <a:t>входят в состав общего варианта использования.</a:t>
            </a:r>
          </a:p>
        </p:txBody>
      </p:sp>
    </p:spTree>
    <p:extLst>
      <p:ext uri="{BB962C8B-B14F-4D97-AF65-F5344CB8AC3E}">
        <p14:creationId xmlns:p14="http://schemas.microsoft.com/office/powerpoint/2010/main" val="1466052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5DFB6F-5B05-4ED3-927F-5834D4A50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851" y="158285"/>
            <a:ext cx="7755632" cy="6113929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725771F-3F91-464F-8439-268996B24E79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21494" y="379412"/>
            <a:ext cx="7467600" cy="533400"/>
          </a:xfrm>
        </p:spPr>
        <p:txBody>
          <a:bodyPr>
            <a:normAutofit/>
          </a:bodyPr>
          <a:lstStyle/>
          <a:p>
            <a:r>
              <a:rPr lang="ru-RU" sz="2200" dirty="0"/>
              <a:t>Третья версия диаграммы вариантов использования:</a:t>
            </a:r>
          </a:p>
        </p:txBody>
      </p:sp>
    </p:spTree>
    <p:extLst>
      <p:ext uri="{BB962C8B-B14F-4D97-AF65-F5344CB8AC3E}">
        <p14:creationId xmlns:p14="http://schemas.microsoft.com/office/powerpoint/2010/main" val="3094967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B779FD-6FDD-4CA6-AE90-520E7C44B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5760" y="2074999"/>
            <a:ext cx="2431509" cy="106221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EB810-1A49-4F56-89C6-460510B9E09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4388" y="364777"/>
            <a:ext cx="7467600" cy="712787"/>
          </a:xfrm>
        </p:spPr>
        <p:txBody>
          <a:bodyPr>
            <a:normAutofit fontScale="90000"/>
          </a:bodyPr>
          <a:lstStyle/>
          <a:p>
            <a:r>
              <a:rPr lang="ru-RU" dirty="0"/>
              <a:t>Отношение расширения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982350-6565-45E6-92BC-903A18D7A393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750094" y="1213295"/>
            <a:ext cx="11015662" cy="2071688"/>
          </a:xfrm>
        </p:spPr>
        <p:txBody>
          <a:bodyPr>
            <a:normAutofit/>
          </a:bodyPr>
          <a:lstStyle/>
          <a:p>
            <a:r>
              <a:rPr lang="ru-RU" sz="2200" dirty="0"/>
              <a:t>Студентам необходимо выполнять домашние задания и присылать их в виде архива или файла учителям. Получается, нужно добавить возможность прикреплять файл к сообщению в нашей системе. </a:t>
            </a:r>
          </a:p>
          <a:p>
            <a:r>
              <a:rPr lang="ru-RU" sz="2200" dirty="0"/>
              <a:t>Чтобы отобразить это на диаграмме мы будем использовать </a:t>
            </a:r>
            <a:br>
              <a:rPr lang="en-US" sz="2200" dirty="0"/>
            </a:br>
            <a:r>
              <a:rPr lang="ru-RU" sz="2200" i="1" dirty="0"/>
              <a:t>отношение расширения.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977B754-FE90-4785-B02B-64B9EC352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630" y="3773042"/>
            <a:ext cx="5416252" cy="202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964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86B667-B075-4A92-92FF-DF68BFE0F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021" y="-188266"/>
            <a:ext cx="7831413" cy="6480721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4E7BC3BF-8CC8-4E8D-BFC8-F1C642803C0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28626" y="347515"/>
            <a:ext cx="6122193" cy="752623"/>
          </a:xfrm>
        </p:spPr>
        <p:txBody>
          <a:bodyPr>
            <a:normAutofit/>
          </a:bodyPr>
          <a:lstStyle/>
          <a:p>
            <a:r>
              <a:rPr lang="ru-RU" sz="2200" dirty="0"/>
              <a:t>Итоговая версия диаграммы вариантов использования:</a:t>
            </a:r>
          </a:p>
        </p:txBody>
      </p:sp>
    </p:spTree>
    <p:extLst>
      <p:ext uri="{BB962C8B-B14F-4D97-AF65-F5344CB8AC3E}">
        <p14:creationId xmlns:p14="http://schemas.microsoft.com/office/powerpoint/2010/main" val="37192195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20691"/>
          </a:xfrm>
        </p:spPr>
        <p:txBody>
          <a:bodyPr/>
          <a:lstStyle/>
          <a:p>
            <a:r>
              <a:rPr lang="ru-RU" dirty="0"/>
              <a:t>Цели создания диаграмм прецедентов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097280" y="1978819"/>
            <a:ext cx="10058400" cy="3900487"/>
          </a:xfrm>
        </p:spPr>
        <p:txBody>
          <a:bodyPr>
            <a:normAutofit/>
          </a:bodyPr>
          <a:lstStyle/>
          <a:p>
            <a:pPr algn="just">
              <a:buSzPct val="120000"/>
              <a:buFont typeface="Wingdings" panose="05000000000000000000" pitchFamily="2" charset="2"/>
              <a:buChar char="§"/>
            </a:pPr>
            <a:r>
              <a:rPr lang="ru-RU" sz="2400" dirty="0"/>
              <a:t> определение границы и контекста моделируемой предметной области на ранних этапах проектирования;</a:t>
            </a:r>
          </a:p>
          <a:p>
            <a:pPr algn="just">
              <a:buSzPct val="120000"/>
              <a:buFont typeface="Wingdings" panose="05000000000000000000" pitchFamily="2" charset="2"/>
              <a:buChar char="§"/>
            </a:pPr>
            <a:r>
              <a:rPr lang="ru-RU" sz="2400" dirty="0"/>
              <a:t> формирование общих требований к поведению проектируемой системы, разграничение вариантов использования системы разными видами пользователей;</a:t>
            </a:r>
          </a:p>
          <a:p>
            <a:pPr algn="just">
              <a:buSzPct val="120000"/>
              <a:buFont typeface="Wingdings" panose="05000000000000000000" pitchFamily="2" charset="2"/>
              <a:buChar char="§"/>
            </a:pPr>
            <a:r>
              <a:rPr lang="ru-RU" sz="2400" dirty="0"/>
              <a:t> разработка концептуальной модели системы для ее последующей детализации;</a:t>
            </a:r>
          </a:p>
          <a:p>
            <a:pPr algn="just">
              <a:buSzPct val="120000"/>
              <a:buFont typeface="Wingdings" panose="05000000000000000000" pitchFamily="2" charset="2"/>
              <a:buChar char="§"/>
            </a:pPr>
            <a:r>
              <a:rPr lang="ru-RU" sz="2400" dirty="0"/>
              <a:t> подготовка документации для взаимодействия с заказчиками и пользователями системы.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0685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C853C32-2A3D-4564-9C85-79B6DA5EC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223" y="689274"/>
            <a:ext cx="10058400" cy="963357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последовательностей </a:t>
            </a:r>
            <a:br>
              <a:rPr lang="ru-RU" dirty="0"/>
            </a:br>
            <a:r>
              <a:rPr lang="ru-RU" dirty="0"/>
              <a:t>(</a:t>
            </a:r>
            <a:r>
              <a:rPr lang="ru-RU" i="1" dirty="0" err="1">
                <a:solidFill>
                  <a:schemeClr val="tx1"/>
                </a:solidFill>
              </a:rPr>
              <a:t>sequence</a:t>
            </a:r>
            <a:r>
              <a:rPr lang="ru-RU" i="1" dirty="0">
                <a:solidFill>
                  <a:schemeClr val="tx1"/>
                </a:solidFill>
              </a:rPr>
              <a:t> </a:t>
            </a:r>
            <a:r>
              <a:rPr lang="ru-RU" i="1" dirty="0" err="1">
                <a:solidFill>
                  <a:schemeClr val="tx1"/>
                </a:solidFill>
              </a:rPr>
              <a:t>diagram</a:t>
            </a:r>
            <a:r>
              <a:rPr lang="ru-RU" i="1" dirty="0">
                <a:solidFill>
                  <a:schemeClr val="tx1"/>
                </a:solidFill>
              </a:rPr>
              <a:t>)</a:t>
            </a:r>
            <a:endParaRPr lang="ru-RU" i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E9125FE-ED52-4D26-8DBA-00BBB2C40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45366"/>
            <a:ext cx="10058400" cy="402336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ru-RU" sz="2400" dirty="0"/>
              <a:t> В UML взаимодействие объектов понимается как обмен информацией между ними. При этом информация принимает вид сообщений. Кроме того, </a:t>
            </a:r>
            <a:r>
              <a:rPr lang="ru-RU" sz="2400" i="1" dirty="0"/>
              <a:t>что сообщение несет какую-то информацию, оно некоторым образом также влияет на получателя</a:t>
            </a:r>
            <a:r>
              <a:rPr lang="ru-RU" sz="2400" dirty="0"/>
              <a:t>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400" i="1" dirty="0"/>
              <a:t> Диаграмма последовательностей</a:t>
            </a:r>
            <a:r>
              <a:rPr lang="ru-RU" sz="2400" dirty="0"/>
              <a:t> относится к диаграммам взаимодействия UML, описывающим поведенческие аспекты системы, но </a:t>
            </a:r>
            <a:r>
              <a:rPr lang="ru-RU" sz="2400" i="1" dirty="0"/>
              <a:t>рассматривает взаимодействие объектов во времени</a:t>
            </a:r>
            <a:r>
              <a:rPr lang="ru-RU" sz="2400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6138418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25C58B-29CE-4622-AD49-79098FD89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62482"/>
            <a:ext cx="10058400" cy="787187"/>
          </a:xfrm>
        </p:spPr>
        <p:txBody>
          <a:bodyPr>
            <a:noAutofit/>
          </a:bodyPr>
          <a:lstStyle/>
          <a:p>
            <a:r>
              <a:rPr lang="ru-RU" sz="4000" dirty="0"/>
              <a:t>Обозначения на диаграмме последовательностей</a:t>
            </a:r>
          </a:p>
        </p:txBody>
      </p:sp>
      <p:pic>
        <p:nvPicPr>
          <p:cNvPr id="4" name="Picture 2" descr="https://cf.ppt-online.org/files/slide/8/8N6DdjGykQixR7sYKlLnpFOqZgCeozfthAaWIV/slide-6.jpg">
            <a:extLst>
              <a:ext uri="{FF2B5EF4-FFF2-40B4-BE49-F238E27FC236}">
                <a16:creationId xmlns:a16="http://schemas.microsoft.com/office/drawing/2014/main" id="{DF789F2C-ECC4-43C8-9F4C-E0C010608E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50"/>
          <a:stretch/>
        </p:blipFill>
        <p:spPr bwMode="auto">
          <a:xfrm>
            <a:off x="1848234" y="1877997"/>
            <a:ext cx="6985373" cy="405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395225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1E91C9-BFA2-491B-AAD7-45CA1FA20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134" y="387402"/>
            <a:ext cx="7467600" cy="562074"/>
          </a:xfrm>
        </p:spPr>
        <p:txBody>
          <a:bodyPr>
            <a:normAutofit fontScale="90000"/>
          </a:bodyPr>
          <a:lstStyle/>
          <a:p>
            <a:r>
              <a:rPr lang="ru-RU" dirty="0"/>
              <a:t>Типы объектов диаграммы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78F4CD-7E78-4B8A-9ABF-559B1F257C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52"/>
          <a:stretch/>
        </p:blipFill>
        <p:spPr>
          <a:xfrm>
            <a:off x="853926" y="807856"/>
            <a:ext cx="10345378" cy="19620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355EAF-5C7D-460E-8A35-05070ECE930A}"/>
              </a:ext>
            </a:extLst>
          </p:cNvPr>
          <p:cNvSpPr txBox="1"/>
          <p:nvPr/>
        </p:nvSpPr>
        <p:spPr>
          <a:xfrm>
            <a:off x="358497" y="2874237"/>
            <a:ext cx="8072439" cy="3157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2200" b="1" dirty="0">
                <a:solidFill>
                  <a:srgbClr val="333333"/>
                </a:solidFill>
                <a:latin typeface="-apple-system"/>
              </a:rPr>
              <a:t>P</a:t>
            </a:r>
            <a:r>
              <a:rPr lang="ru-RU" sz="2200" b="1" dirty="0" err="1">
                <a:solidFill>
                  <a:srgbClr val="333333"/>
                </a:solidFill>
                <a:latin typeface="-apple-system"/>
              </a:rPr>
              <a:t>articipant</a:t>
            </a:r>
            <a:r>
              <a:rPr lang="ru-RU" sz="2200" dirty="0">
                <a:solidFill>
                  <a:srgbClr val="333333"/>
                </a:solidFill>
                <a:latin typeface="-apple-system"/>
              </a:rPr>
              <a:t> </a:t>
            </a:r>
            <a:r>
              <a:rPr lang="en-US" sz="2200" dirty="0">
                <a:solidFill>
                  <a:srgbClr val="333333"/>
                </a:solidFill>
                <a:latin typeface="-apple-system"/>
              </a:rPr>
              <a:t>-</a:t>
            </a:r>
            <a:r>
              <a:rPr lang="ru-RU" sz="2200" dirty="0">
                <a:solidFill>
                  <a:srgbClr val="333333"/>
                </a:solidFill>
                <a:latin typeface="-apple-system"/>
              </a:rPr>
              <a:t> сервер, компонент системы;</a:t>
            </a:r>
          </a:p>
          <a:p>
            <a:pPr algn="l">
              <a:lnSpc>
                <a:spcPct val="114000"/>
              </a:lnSpc>
            </a:pPr>
            <a:r>
              <a:rPr lang="en-US" sz="2200" b="1" dirty="0">
                <a:solidFill>
                  <a:srgbClr val="333333"/>
                </a:solidFill>
                <a:latin typeface="-apple-system"/>
              </a:rPr>
              <a:t>A</a:t>
            </a:r>
            <a:r>
              <a:rPr lang="ru-RU" sz="2200" b="1" dirty="0" err="1">
                <a:solidFill>
                  <a:srgbClr val="333333"/>
                </a:solidFill>
                <a:latin typeface="-apple-system"/>
              </a:rPr>
              <a:t>ctor</a:t>
            </a:r>
            <a:r>
              <a:rPr lang="ru-RU" sz="2200" dirty="0">
                <a:solidFill>
                  <a:srgbClr val="333333"/>
                </a:solidFill>
                <a:latin typeface="-apple-system"/>
              </a:rPr>
              <a:t> </a:t>
            </a:r>
            <a:r>
              <a:rPr lang="en-US" sz="2200" dirty="0">
                <a:solidFill>
                  <a:srgbClr val="333333"/>
                </a:solidFill>
                <a:latin typeface="-apple-system"/>
              </a:rPr>
              <a:t>-</a:t>
            </a:r>
            <a:r>
              <a:rPr lang="ru-RU" sz="2200" dirty="0">
                <a:solidFill>
                  <a:srgbClr val="333333"/>
                </a:solidFill>
                <a:latin typeface="-apple-system"/>
              </a:rPr>
              <a:t> пользователь или «клиент»;</a:t>
            </a:r>
          </a:p>
          <a:p>
            <a:pPr algn="l">
              <a:lnSpc>
                <a:spcPct val="114000"/>
              </a:lnSpc>
            </a:pPr>
            <a:r>
              <a:rPr lang="en-US" sz="2200" b="1" dirty="0">
                <a:solidFill>
                  <a:srgbClr val="333333"/>
                </a:solidFill>
                <a:latin typeface="-apple-system"/>
              </a:rPr>
              <a:t>Boundary</a:t>
            </a:r>
            <a:r>
              <a:rPr lang="en-US" sz="2200" dirty="0">
                <a:solidFill>
                  <a:srgbClr val="333333"/>
                </a:solidFill>
                <a:latin typeface="-apple-system"/>
              </a:rPr>
              <a:t> - </a:t>
            </a:r>
            <a:r>
              <a:rPr lang="ru-RU" sz="2200" dirty="0">
                <a:solidFill>
                  <a:srgbClr val="404243"/>
                </a:solidFill>
                <a:latin typeface="Inter"/>
              </a:rPr>
              <a:t>системная граница/программный элемент в системе;</a:t>
            </a:r>
            <a:endParaRPr lang="en-US" sz="2200" dirty="0">
              <a:solidFill>
                <a:srgbClr val="333333"/>
              </a:solidFill>
              <a:latin typeface="-apple-system"/>
            </a:endParaRPr>
          </a:p>
          <a:p>
            <a:pPr algn="l">
              <a:lnSpc>
                <a:spcPct val="114000"/>
              </a:lnSpc>
            </a:pPr>
            <a:r>
              <a:rPr lang="en-US" sz="2200" b="1" dirty="0">
                <a:solidFill>
                  <a:srgbClr val="333333"/>
                </a:solidFill>
                <a:latin typeface="-apple-system"/>
              </a:rPr>
              <a:t>Control </a:t>
            </a:r>
            <a:r>
              <a:rPr lang="en-US" sz="2200" dirty="0">
                <a:solidFill>
                  <a:srgbClr val="333333"/>
                </a:solidFill>
                <a:latin typeface="-apple-system"/>
              </a:rPr>
              <a:t>-</a:t>
            </a:r>
            <a:r>
              <a:rPr lang="ru-RU" sz="2200" dirty="0">
                <a:solidFill>
                  <a:srgbClr val="404243"/>
                </a:solidFill>
                <a:latin typeface="Inter"/>
              </a:rPr>
              <a:t> контролирующая организация или менеджер в системе;</a:t>
            </a:r>
            <a:endParaRPr lang="en-US" sz="2200" dirty="0">
              <a:solidFill>
                <a:srgbClr val="333333"/>
              </a:solidFill>
              <a:latin typeface="-apple-system"/>
            </a:endParaRPr>
          </a:p>
          <a:p>
            <a:pPr algn="l">
              <a:lnSpc>
                <a:spcPct val="114000"/>
              </a:lnSpc>
            </a:pPr>
            <a:r>
              <a:rPr lang="en-US" sz="2200" b="1" dirty="0">
                <a:solidFill>
                  <a:srgbClr val="333333"/>
                </a:solidFill>
                <a:latin typeface="-apple-system"/>
              </a:rPr>
              <a:t>Entity </a:t>
            </a:r>
            <a:r>
              <a:rPr lang="en-US" sz="2200" dirty="0">
                <a:solidFill>
                  <a:srgbClr val="333333"/>
                </a:solidFill>
                <a:latin typeface="-apple-system"/>
              </a:rPr>
              <a:t>-</a:t>
            </a:r>
            <a:r>
              <a:rPr lang="ru-RU" sz="2200" dirty="0">
                <a:solidFill>
                  <a:srgbClr val="404243"/>
                </a:solidFill>
                <a:latin typeface="Inter"/>
              </a:rPr>
              <a:t> системные данные;</a:t>
            </a:r>
            <a:endParaRPr lang="ru-RU" sz="2200" dirty="0">
              <a:solidFill>
                <a:srgbClr val="333333"/>
              </a:solidFill>
              <a:latin typeface="-apple-system"/>
            </a:endParaRPr>
          </a:p>
          <a:p>
            <a:pPr algn="l">
              <a:lnSpc>
                <a:spcPct val="114000"/>
              </a:lnSpc>
            </a:pPr>
            <a:r>
              <a:rPr lang="en-US" sz="2200" b="1" dirty="0">
                <a:solidFill>
                  <a:srgbClr val="333333"/>
                </a:solidFill>
                <a:latin typeface="-apple-system"/>
              </a:rPr>
              <a:t>D</a:t>
            </a:r>
            <a:r>
              <a:rPr lang="ru-RU" sz="2200" b="1" dirty="0" err="1">
                <a:solidFill>
                  <a:srgbClr val="333333"/>
                </a:solidFill>
                <a:latin typeface="-apple-system"/>
              </a:rPr>
              <a:t>atabase</a:t>
            </a:r>
            <a:r>
              <a:rPr lang="ru-RU" sz="2200" b="1" dirty="0">
                <a:solidFill>
                  <a:srgbClr val="333333"/>
                </a:solidFill>
                <a:latin typeface="-apple-system"/>
              </a:rPr>
              <a:t> </a:t>
            </a:r>
            <a:r>
              <a:rPr lang="ru-RU" sz="2200" dirty="0">
                <a:solidFill>
                  <a:srgbClr val="333333"/>
                </a:solidFill>
                <a:latin typeface="-apple-system"/>
              </a:rPr>
              <a:t>- база данных;</a:t>
            </a:r>
            <a:endParaRPr lang="en-US" sz="2200" dirty="0">
              <a:solidFill>
                <a:srgbClr val="333333"/>
              </a:solidFill>
              <a:latin typeface="-apple-system"/>
            </a:endParaRPr>
          </a:p>
          <a:p>
            <a:pPr algn="l">
              <a:lnSpc>
                <a:spcPct val="114000"/>
              </a:lnSpc>
            </a:pPr>
            <a:r>
              <a:rPr lang="en-US" sz="2200" b="1" dirty="0">
                <a:solidFill>
                  <a:srgbClr val="333333"/>
                </a:solidFill>
                <a:latin typeface="-apple-system"/>
              </a:rPr>
              <a:t>Collections</a:t>
            </a:r>
            <a:r>
              <a:rPr lang="en-US" sz="22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ru-RU" sz="2200" dirty="0">
                <a:solidFill>
                  <a:srgbClr val="333333"/>
                </a:solidFill>
                <a:latin typeface="-apple-system"/>
              </a:rPr>
              <a:t>-</a:t>
            </a:r>
            <a:r>
              <a:rPr lang="en-US" sz="22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ru-RU" sz="2200" dirty="0">
                <a:solidFill>
                  <a:srgbClr val="333333"/>
                </a:solidFill>
                <a:latin typeface="-apple-system"/>
              </a:rPr>
              <a:t>коллекция;</a:t>
            </a:r>
          </a:p>
          <a:p>
            <a:pPr algn="l">
              <a:lnSpc>
                <a:spcPct val="114000"/>
              </a:lnSpc>
            </a:pPr>
            <a:r>
              <a:rPr lang="en-US" sz="2200" b="1" dirty="0">
                <a:solidFill>
                  <a:srgbClr val="333333"/>
                </a:solidFill>
                <a:latin typeface="-apple-system"/>
              </a:rPr>
              <a:t>Q</a:t>
            </a:r>
            <a:r>
              <a:rPr lang="ru-RU" sz="2200" b="1" dirty="0" err="1">
                <a:solidFill>
                  <a:srgbClr val="333333"/>
                </a:solidFill>
                <a:latin typeface="-apple-system"/>
              </a:rPr>
              <a:t>ueue</a:t>
            </a:r>
            <a:r>
              <a:rPr lang="ru-RU" sz="2200" dirty="0">
                <a:solidFill>
                  <a:srgbClr val="333333"/>
                </a:solidFill>
                <a:latin typeface="-apple-system"/>
              </a:rPr>
              <a:t> — топик или очередь.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E197C2-D646-4C24-BABA-A3BF5E582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494" y="2918285"/>
            <a:ext cx="3733799" cy="306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55996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C84E2A-83EA-409C-AE2B-9420655FF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45" y="586518"/>
            <a:ext cx="8240310" cy="48663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6C99E0-2B71-482B-B266-5704789EF0F6}"/>
              </a:ext>
            </a:extLst>
          </p:cNvPr>
          <p:cNvSpPr txBox="1"/>
          <p:nvPr/>
        </p:nvSpPr>
        <p:spPr>
          <a:xfrm>
            <a:off x="2692866" y="5662568"/>
            <a:ext cx="7757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2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последовательности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просмотра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информации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книге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851739154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C99E0-2B71-482B-B266-5704789EF0F6}"/>
              </a:ext>
            </a:extLst>
          </p:cNvPr>
          <p:cNvSpPr txBox="1"/>
          <p:nvPr/>
        </p:nvSpPr>
        <p:spPr>
          <a:xfrm>
            <a:off x="2692866" y="5662568"/>
            <a:ext cx="7757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2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последовательности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просмотра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информации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книге</a:t>
            </a:r>
            <a:endParaRPr lang="ru-RU" sz="1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547CFC-937C-4B4F-86B0-4CFC8DAF2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509" y="502261"/>
            <a:ext cx="8776982" cy="500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362003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C99E0-2B71-482B-B266-5704789EF0F6}"/>
              </a:ext>
            </a:extLst>
          </p:cNvPr>
          <p:cNvSpPr txBox="1"/>
          <p:nvPr/>
        </p:nvSpPr>
        <p:spPr>
          <a:xfrm>
            <a:off x="2692866" y="5662568"/>
            <a:ext cx="7757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2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последовательности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просмотра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информации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книге</a:t>
            </a:r>
            <a:endParaRPr lang="ru-RU" sz="16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086016-3E2C-4066-9749-2DC4C952A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049" y="444617"/>
            <a:ext cx="8461965" cy="499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21984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C99E0-2B71-482B-B266-5704789EF0F6}"/>
              </a:ext>
            </a:extLst>
          </p:cNvPr>
          <p:cNvSpPr txBox="1"/>
          <p:nvPr/>
        </p:nvSpPr>
        <p:spPr>
          <a:xfrm>
            <a:off x="2692866" y="5662568"/>
            <a:ext cx="7757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2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последовательности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просмотра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информации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книге</a:t>
            </a:r>
            <a:endParaRPr lang="ru-RU" sz="1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92F286-A8AC-44F3-BE08-16F5A11E4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62" y="518676"/>
            <a:ext cx="8477993" cy="505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628729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C99E0-2B71-482B-B266-5704789EF0F6}"/>
              </a:ext>
            </a:extLst>
          </p:cNvPr>
          <p:cNvSpPr txBox="1"/>
          <p:nvPr/>
        </p:nvSpPr>
        <p:spPr>
          <a:xfrm>
            <a:off x="2692866" y="5662568"/>
            <a:ext cx="7757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2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последовательности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просмотра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информации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книге</a:t>
            </a:r>
            <a:endParaRPr lang="ru-RU" sz="16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077881-D5ED-4D40-BA9C-5E6636EA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415" y="531379"/>
            <a:ext cx="8512728" cy="513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80559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C99E0-2B71-482B-B266-5704789EF0F6}"/>
              </a:ext>
            </a:extLst>
          </p:cNvPr>
          <p:cNvSpPr txBox="1"/>
          <p:nvPr/>
        </p:nvSpPr>
        <p:spPr>
          <a:xfrm>
            <a:off x="2692866" y="5662568"/>
            <a:ext cx="7757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2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последовательности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просмотра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информации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книге</a:t>
            </a:r>
            <a:endParaRPr lang="ru-RU" sz="1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255D62-E3E3-444E-AE88-4AA8B7D3B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52" y="617071"/>
            <a:ext cx="8748319" cy="49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382066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C99E0-2B71-482B-B266-5704789EF0F6}"/>
              </a:ext>
            </a:extLst>
          </p:cNvPr>
          <p:cNvSpPr txBox="1"/>
          <p:nvPr/>
        </p:nvSpPr>
        <p:spPr>
          <a:xfrm>
            <a:off x="2692866" y="5662568"/>
            <a:ext cx="77577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Диаграмма</a:t>
            </a:r>
            <a:r>
              <a:rPr lang="ru-RU" sz="1600" spc="-2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последовательности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просмотра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информации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о</a:t>
            </a:r>
            <a:r>
              <a:rPr lang="ru-RU" sz="1600" spc="-15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ru-RU" sz="1600" spc="-10" dirty="0">
                <a:solidFill>
                  <a:srgbClr val="7F7F7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книге</a:t>
            </a:r>
            <a:endParaRPr lang="ru-RU" sz="16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D25B0D6-1BDF-4D92-A913-EC3386D21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415" y="604007"/>
            <a:ext cx="8563241" cy="505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757036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606155-0A5C-4273-8E49-C0FBB19B5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ea typeface="Arial" panose="020B0604020202020204" pitchFamily="34" charset="0"/>
              </a:rPr>
              <a:t>Интерпретация примера: </a:t>
            </a:r>
            <a:br>
              <a:rPr lang="ru-RU" dirty="0"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6821E3-73AF-4CA5-BFDF-A2B3BF58C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Библиотекарь запрашивает информацию по книге по ее идентификатору BID </a:t>
            </a:r>
          </a:p>
          <a:p>
            <a:pPr marL="457200"/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Для отображения информации создается экземпляр B класса </a:t>
            </a:r>
            <a:r>
              <a:rPr lang="ru-RU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BookInfo</a:t>
            </a: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отображающий информацию в виде таблицы.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 запрашивает базу данных D, предоставляя ей идентификатор пользователя UID.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База данных проверяет право UID на просмотр сведений о книге с помощью системы авторизации AS.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Если авторизация выполнена успешно, D возвращает данные о книге. B отображает их.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Если авторизация не удалась, возвращается ошибка. B отображает сведения об ошибке.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125589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606F73-4497-4C27-9CDC-18EDFB9363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29"/>
          <a:stretch/>
        </p:blipFill>
        <p:spPr>
          <a:xfrm>
            <a:off x="2711625" y="1484784"/>
            <a:ext cx="6425123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5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524301-3BA0-40A2-94C7-570C4CD80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51" y="204796"/>
            <a:ext cx="8760823" cy="590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6726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0B4464-0464-4679-AAC6-4774B68B1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658" y="525466"/>
            <a:ext cx="6874934" cy="453867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7F44AC-E1F4-44ED-93E3-A901285E741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2813" y="208760"/>
            <a:ext cx="7467600" cy="633412"/>
          </a:xfrm>
        </p:spPr>
        <p:txBody>
          <a:bodyPr>
            <a:normAutofit fontScale="90000"/>
          </a:bodyPr>
          <a:lstStyle/>
          <a:p>
            <a:r>
              <a:rPr lang="ru-RU" dirty="0"/>
              <a:t>Альтернативный кейс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9B1F07-8837-4084-BF2A-FB84D05AD286}"/>
              </a:ext>
            </a:extLst>
          </p:cNvPr>
          <p:cNvSpPr txBox="1"/>
          <p:nvPr/>
        </p:nvSpPr>
        <p:spPr>
          <a:xfrm>
            <a:off x="354555" y="5064139"/>
            <a:ext cx="110399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333333"/>
                </a:solidFill>
                <a:latin typeface="-apple-system"/>
              </a:rPr>
              <a:t>Alt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 — группировка, используется чтобы показать альтернативные кейсы для взаимодействия, используется с оператором </a:t>
            </a:r>
            <a:r>
              <a:rPr lang="ru-RU" b="1" dirty="0" err="1">
                <a:solidFill>
                  <a:srgbClr val="333333"/>
                </a:solidFill>
                <a:latin typeface="-apple-system"/>
              </a:rPr>
              <a:t>else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. </a:t>
            </a:r>
          </a:p>
          <a:p>
            <a:r>
              <a:rPr lang="ru-RU" dirty="0">
                <a:solidFill>
                  <a:srgbClr val="333333"/>
                </a:solidFill>
                <a:latin typeface="-apple-system"/>
              </a:rPr>
              <a:t>Например, объект может отправить запрос, а второй объект, в зависимости от полученных данных, выполнит разные действия.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8968851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48E8CF-8B25-4C24-8663-C9626F73B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37" y="608352"/>
            <a:ext cx="6758346" cy="445763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881E01-C423-48DD-B30C-D6003C6F223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9137" y="255135"/>
            <a:ext cx="5028284" cy="706437"/>
          </a:xfrm>
        </p:spPr>
        <p:txBody>
          <a:bodyPr>
            <a:normAutofit fontScale="90000"/>
          </a:bodyPr>
          <a:lstStyle/>
          <a:p>
            <a:r>
              <a:rPr lang="ru-RU" dirty="0"/>
              <a:t>Опциональный кейс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D077C9-4F55-4640-9FD0-0164C1BFD37C}"/>
              </a:ext>
            </a:extLst>
          </p:cNvPr>
          <p:cNvSpPr txBox="1"/>
          <p:nvPr/>
        </p:nvSpPr>
        <p:spPr>
          <a:xfrm>
            <a:off x="479137" y="5214170"/>
            <a:ext cx="113922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333333"/>
                </a:solidFill>
                <a:latin typeface="-apple-system"/>
              </a:rPr>
              <a:t>Opt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 — используется для того, чтобы выделить сообщение в опциональный кейс. </a:t>
            </a:r>
          </a:p>
          <a:p>
            <a:r>
              <a:rPr lang="ru-RU" dirty="0">
                <a:solidFill>
                  <a:srgbClr val="333333"/>
                </a:solidFill>
                <a:latin typeface="-apple-system"/>
              </a:rPr>
              <a:t>Например, объект может отправить запрос, а второй объект, в зависимости от полученных данных, может выполнить дополнительное действие.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5129438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F723C2-CED4-4467-B4FD-667998B72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78" y="726526"/>
            <a:ext cx="6637601" cy="431843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C7B6D-643D-4C6D-A1BD-676C7D9BDBF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838" y="293359"/>
            <a:ext cx="4792621" cy="706437"/>
          </a:xfrm>
        </p:spPr>
        <p:txBody>
          <a:bodyPr>
            <a:normAutofit fontScale="90000"/>
          </a:bodyPr>
          <a:lstStyle/>
          <a:p>
            <a:r>
              <a:rPr lang="ru-RU" dirty="0"/>
              <a:t>Параллельный кейс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018AA7-26D5-45A6-977D-15221D05C70C}"/>
              </a:ext>
            </a:extLst>
          </p:cNvPr>
          <p:cNvSpPr txBox="1"/>
          <p:nvPr/>
        </p:nvSpPr>
        <p:spPr>
          <a:xfrm>
            <a:off x="427838" y="5044965"/>
            <a:ext cx="108134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333333"/>
                </a:solidFill>
                <a:latin typeface="-apple-system"/>
              </a:rPr>
              <a:t>Par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 — используется, чтобы выделить сообщения, которые выполняются параллельно. Используется с оператором </a:t>
            </a:r>
            <a:r>
              <a:rPr lang="ru-RU" b="1" dirty="0" err="1">
                <a:solidFill>
                  <a:srgbClr val="333333"/>
                </a:solidFill>
                <a:latin typeface="-apple-system"/>
              </a:rPr>
              <a:t>else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. </a:t>
            </a:r>
          </a:p>
          <a:p>
            <a:r>
              <a:rPr lang="ru-RU" dirty="0">
                <a:solidFill>
                  <a:srgbClr val="333333"/>
                </a:solidFill>
                <a:latin typeface="-apple-system"/>
              </a:rPr>
              <a:t>Например, объект может отправить запрос, а второй объект параллельно выполнит внутренние вычисления и вернет ответ первому объекту.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3163510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82765-1853-438A-8201-0D313A7A7F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81512" y="300704"/>
            <a:ext cx="7467600" cy="633412"/>
          </a:xfrm>
        </p:spPr>
        <p:txBody>
          <a:bodyPr>
            <a:normAutofit fontScale="90000"/>
          </a:bodyPr>
          <a:lstStyle/>
          <a:p>
            <a:r>
              <a:rPr lang="ru-RU" dirty="0"/>
              <a:t>Кейс цикла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0DF4887-2331-4F42-9BCB-1259469AA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338" y="934116"/>
            <a:ext cx="7368815" cy="4286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AB8210-A8F0-44F1-AA06-9F6B81CBBD2F}"/>
              </a:ext>
            </a:extLst>
          </p:cNvPr>
          <p:cNvSpPr txBox="1"/>
          <p:nvPr/>
        </p:nvSpPr>
        <p:spPr>
          <a:xfrm>
            <a:off x="819324" y="5220966"/>
            <a:ext cx="105533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333333"/>
                </a:solidFill>
                <a:latin typeface="-apple-system"/>
              </a:rPr>
              <a:t>Loop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 — используется, чтобы выделить сообщения, которые выполняются несколько раз. </a:t>
            </a:r>
          </a:p>
          <a:p>
            <a:r>
              <a:rPr lang="ru-RU" dirty="0">
                <a:solidFill>
                  <a:srgbClr val="333333"/>
                </a:solidFill>
                <a:latin typeface="-apple-system"/>
              </a:rPr>
              <a:t>Например, объект может отправить запрос, а второй объект выполнит внутренние действия несколько раз в зависимости от отправленных данных.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696885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2711F5-C6B0-4AD8-84AB-B86638D0F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268" y="526036"/>
            <a:ext cx="6058263" cy="48826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D5425-3DC9-43E2-9046-92E5EC0ECE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0432" y="313038"/>
            <a:ext cx="4344630" cy="633412"/>
          </a:xfrm>
        </p:spPr>
        <p:txBody>
          <a:bodyPr>
            <a:normAutofit fontScale="90000"/>
          </a:bodyPr>
          <a:lstStyle/>
          <a:p>
            <a:r>
              <a:rPr lang="ru-RU" dirty="0"/>
              <a:t>Кейс группировки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587AA-65CB-4020-B1DF-24DF86FC19DE}"/>
              </a:ext>
            </a:extLst>
          </p:cNvPr>
          <p:cNvSpPr txBox="1"/>
          <p:nvPr/>
        </p:nvSpPr>
        <p:spPr>
          <a:xfrm>
            <a:off x="654533" y="5383424"/>
            <a:ext cx="105785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33333"/>
                </a:solidFill>
                <a:latin typeface="-apple-system"/>
              </a:rPr>
              <a:t>Group</a:t>
            </a:r>
            <a:r>
              <a:rPr lang="ru-RU" dirty="0">
                <a:solidFill>
                  <a:srgbClr val="333333"/>
                </a:solidFill>
                <a:latin typeface="-apple-system"/>
              </a:rPr>
              <a:t> — используется, чтобы скомпоновать сообщения по смыслу. Например, на диаграмме может быть много взаимодействий и для того, чтобы было меньше путаницы можно подписать группы сообщений.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9198687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254335"/>
            <a:ext cx="10058400" cy="1450757"/>
          </a:xfrm>
        </p:spPr>
        <p:txBody>
          <a:bodyPr>
            <a:normAutofit/>
          </a:bodyPr>
          <a:lstStyle/>
          <a:p>
            <a:r>
              <a:rPr lang="ru-RU" sz="4300" dirty="0"/>
              <a:t>Диаграмма сотрудничества (кооперации, </a:t>
            </a:r>
            <a:r>
              <a:rPr lang="ru-RU" sz="4300" dirty="0" err="1"/>
              <a:t>collaboration</a:t>
            </a:r>
            <a:r>
              <a:rPr lang="ru-RU" sz="4300" dirty="0"/>
              <a:t> </a:t>
            </a:r>
            <a:r>
              <a:rPr lang="ru-RU" sz="4300" dirty="0" err="1"/>
              <a:t>diagram</a:t>
            </a:r>
            <a:r>
              <a:rPr lang="ru-RU" sz="4300" dirty="0"/>
              <a:t>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05691" y="2602469"/>
            <a:ext cx="9272669" cy="3275817"/>
          </a:xfrm>
        </p:spPr>
        <p:txBody>
          <a:bodyPr>
            <a:normAutofit/>
          </a:bodyPr>
          <a:lstStyle/>
          <a:p>
            <a:pPr algn="just"/>
            <a:r>
              <a:rPr lang="ru-RU" sz="2800" b="1" dirty="0"/>
              <a:t>Диаграмма сотрудничества</a:t>
            </a:r>
            <a:r>
              <a:rPr lang="ru-RU" sz="2800" dirty="0"/>
              <a:t> показывает поток сообщений между объектами системы и основные ассоциации между ними</a:t>
            </a:r>
          </a:p>
          <a:p>
            <a:pPr algn="just"/>
            <a:r>
              <a:rPr lang="ru-RU" sz="2800" dirty="0"/>
              <a:t> Является альтернативой диаграммы последовательностей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508A4775-0BD5-4AA2-84B4-2B7C335565CD}"/>
              </a:ext>
            </a:extLst>
          </p:cNvPr>
          <p:cNvGrpSpPr/>
          <p:nvPr/>
        </p:nvGrpSpPr>
        <p:grpSpPr>
          <a:xfrm>
            <a:off x="2394857" y="1045028"/>
            <a:ext cx="6657571" cy="4257868"/>
            <a:chOff x="1259632" y="2043343"/>
            <a:chExt cx="5691042" cy="352839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030B1201-133D-4942-B49C-680469ACC7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568"/>
            <a:stretch/>
          </p:blipFill>
          <p:spPr>
            <a:xfrm>
              <a:off x="1259632" y="2043343"/>
              <a:ext cx="5691042" cy="3528390"/>
            </a:xfrm>
            <a:prstGeom prst="roundRect">
              <a:avLst>
                <a:gd name="adj" fmla="val 15129"/>
              </a:avLst>
            </a:prstGeom>
          </p:spPr>
        </p:pic>
        <p:cxnSp>
          <p:nvCxnSpPr>
            <p:cNvPr id="3" name="Прямая соединительная линия 2"/>
            <p:cNvCxnSpPr/>
            <p:nvPr/>
          </p:nvCxnSpPr>
          <p:spPr>
            <a:xfrm>
              <a:off x="1619672" y="2492896"/>
              <a:ext cx="1218063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176B3840-A48D-484F-AEFF-50A0E951D824}"/>
                </a:ext>
              </a:extLst>
            </p:cNvPr>
            <p:cNvCxnSpPr>
              <a:cxnSpLocks/>
            </p:cNvCxnSpPr>
            <p:nvPr/>
          </p:nvCxnSpPr>
          <p:spPr>
            <a:xfrm>
              <a:off x="5502031" y="2509166"/>
              <a:ext cx="432048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BAD094C6-3B5E-4989-A9B9-C69D7F4FC861}"/>
                </a:ext>
              </a:extLst>
            </p:cNvPr>
            <p:cNvCxnSpPr/>
            <p:nvPr/>
          </p:nvCxnSpPr>
          <p:spPr>
            <a:xfrm>
              <a:off x="1685606" y="4077072"/>
              <a:ext cx="1218063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B72F24CC-B033-4AEA-97D3-E86813847FB5}"/>
                </a:ext>
              </a:extLst>
            </p:cNvPr>
            <p:cNvCxnSpPr>
              <a:cxnSpLocks/>
            </p:cNvCxnSpPr>
            <p:nvPr/>
          </p:nvCxnSpPr>
          <p:spPr>
            <a:xfrm>
              <a:off x="5509926" y="4293096"/>
              <a:ext cx="576064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7ED4D3FD-D62D-4427-B4CF-904095CB62B1}"/>
                </a:ext>
              </a:extLst>
            </p:cNvPr>
            <p:cNvCxnSpPr/>
            <p:nvPr/>
          </p:nvCxnSpPr>
          <p:spPr>
            <a:xfrm>
              <a:off x="4499992" y="5301208"/>
              <a:ext cx="1218063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1637959-BDFC-46E2-A00A-6BEEB2569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491" y="473121"/>
            <a:ext cx="9152122" cy="502198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cf.ppt-online.org/files/slide/c/cLBJqvwozuS7Nx95Y0DI1GEmUQhnKyjfrsdt8R/slide-93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4" t="44689" r="8379" b="8819"/>
          <a:stretch/>
        </p:blipFill>
        <p:spPr bwMode="auto">
          <a:xfrm>
            <a:off x="1858722" y="1619794"/>
            <a:ext cx="8474555" cy="347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8856614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Эмблем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399</TotalTime>
  <Words>1785</Words>
  <Application>Microsoft Office PowerPoint</Application>
  <PresentationFormat>Широкоэкранный</PresentationFormat>
  <Paragraphs>177</Paragraphs>
  <Slides>50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50</vt:i4>
      </vt:variant>
    </vt:vector>
  </HeadingPairs>
  <TitlesOfParts>
    <vt:vector size="63" baseType="lpstr">
      <vt:lpstr>-apple-system</vt:lpstr>
      <vt:lpstr>Arial</vt:lpstr>
      <vt:lpstr>Arial Black</vt:lpstr>
      <vt:lpstr>Calibri</vt:lpstr>
      <vt:lpstr>Calibri Light</vt:lpstr>
      <vt:lpstr>Consolas</vt:lpstr>
      <vt:lpstr>Corbel</vt:lpstr>
      <vt:lpstr>Gill Sans MT</vt:lpstr>
      <vt:lpstr>Impact</vt:lpstr>
      <vt:lpstr>Inter</vt:lpstr>
      <vt:lpstr>Wingdings</vt:lpstr>
      <vt:lpstr>Ретро</vt:lpstr>
      <vt:lpstr>Эмблема</vt:lpstr>
      <vt:lpstr>Унифицированный язык моделирования Раздел 1</vt:lpstr>
      <vt:lpstr>Моделирование</vt:lpstr>
      <vt:lpstr>Цели моделирования</vt:lpstr>
      <vt:lpstr>Представления</vt:lpstr>
      <vt:lpstr>Унифицированный язык моделирования (Unified Modeling Language, UML)</vt:lpstr>
      <vt:lpstr>Основные диаграммы UML</vt:lpstr>
      <vt:lpstr>Диаграмма вариантов использования  (use case diagram)</vt:lpstr>
      <vt:lpstr>Актёр (эктор)</vt:lpstr>
      <vt:lpstr>Прецедент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Выделение групп пользователей</vt:lpstr>
      <vt:lpstr>Каждая из групп пользователей может пользоваться нашей системой по-своему:</vt:lpstr>
      <vt:lpstr>Отношение ассоциации</vt:lpstr>
      <vt:lpstr>Презентация PowerPoint</vt:lpstr>
      <vt:lpstr>Отношение обобщения</vt:lpstr>
      <vt:lpstr>Отношение обобщения</vt:lpstr>
      <vt:lpstr>Презентация PowerPoint</vt:lpstr>
      <vt:lpstr>Отношение включения</vt:lpstr>
      <vt:lpstr>Отношение включения</vt:lpstr>
      <vt:lpstr>Презентация PowerPoint</vt:lpstr>
      <vt:lpstr>Отношение расширения</vt:lpstr>
      <vt:lpstr>Презентация PowerPoint</vt:lpstr>
      <vt:lpstr>Цели создания диаграмм прецедентов</vt:lpstr>
      <vt:lpstr>Диаграмма последовательностей  (sequence diagram)</vt:lpstr>
      <vt:lpstr>Обозначения на диаграмме последовательностей</vt:lpstr>
      <vt:lpstr>Типы объектов диаграммы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Интерпретация примера:  </vt:lpstr>
      <vt:lpstr>Презентация PowerPoint</vt:lpstr>
      <vt:lpstr>Презентация PowerPoint</vt:lpstr>
      <vt:lpstr>Альтернативный кейс</vt:lpstr>
      <vt:lpstr>Опциональный кейс</vt:lpstr>
      <vt:lpstr>Параллельный кейс</vt:lpstr>
      <vt:lpstr>Кейс цикла</vt:lpstr>
      <vt:lpstr>Кейс группировки</vt:lpstr>
      <vt:lpstr>Диаграмма сотрудничества (кооперации, collaboration diagram)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242909073111</dc:creator>
  <cp:lastModifiedBy>242909073111</cp:lastModifiedBy>
  <cp:revision>27</cp:revision>
  <dcterms:created xsi:type="dcterms:W3CDTF">2025-12-10T06:45:39Z</dcterms:created>
  <dcterms:modified xsi:type="dcterms:W3CDTF">2025-12-12T11:39:16Z</dcterms:modified>
</cp:coreProperties>
</file>