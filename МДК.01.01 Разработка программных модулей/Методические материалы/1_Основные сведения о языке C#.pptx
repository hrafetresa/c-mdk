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23" r:id="rId2"/>
  </p:sldMasterIdLst>
  <p:sldIdLst>
    <p:sldId id="256" r:id="rId3"/>
    <p:sldId id="272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5" r:id="rId12"/>
    <p:sldId id="266" r:id="rId13"/>
    <p:sldId id="257" r:id="rId14"/>
    <p:sldId id="269" r:id="rId15"/>
    <p:sldId id="270" r:id="rId16"/>
    <p:sldId id="264" r:id="rId17"/>
    <p:sldId id="273" r:id="rId18"/>
    <p:sldId id="271" r:id="rId19"/>
    <p:sldId id="263" r:id="rId20"/>
    <p:sldId id="277" r:id="rId21"/>
    <p:sldId id="313" r:id="rId22"/>
    <p:sldId id="278" r:id="rId23"/>
    <p:sldId id="280" r:id="rId24"/>
    <p:sldId id="279" r:id="rId25"/>
    <p:sldId id="274" r:id="rId26"/>
    <p:sldId id="302" r:id="rId27"/>
    <p:sldId id="275" r:id="rId28"/>
    <p:sldId id="300" r:id="rId29"/>
    <p:sldId id="299" r:id="rId30"/>
    <p:sldId id="301" r:id="rId31"/>
    <p:sldId id="282" r:id="rId32"/>
    <p:sldId id="293" r:id="rId33"/>
    <p:sldId id="283" r:id="rId34"/>
    <p:sldId id="284" r:id="rId35"/>
    <p:sldId id="285" r:id="rId36"/>
    <p:sldId id="303" r:id="rId37"/>
    <p:sldId id="281" r:id="rId38"/>
    <p:sldId id="304" r:id="rId39"/>
    <p:sldId id="307" r:id="rId40"/>
    <p:sldId id="309" r:id="rId41"/>
    <p:sldId id="286" r:id="rId42"/>
    <p:sldId id="295" r:id="rId43"/>
    <p:sldId id="287" r:id="rId44"/>
    <p:sldId id="308" r:id="rId45"/>
    <p:sldId id="288" r:id="rId46"/>
    <p:sldId id="289" r:id="rId47"/>
    <p:sldId id="290" r:id="rId48"/>
    <p:sldId id="296" r:id="rId49"/>
    <p:sldId id="297" r:id="rId50"/>
    <p:sldId id="298" r:id="rId51"/>
    <p:sldId id="310" r:id="rId52"/>
    <p:sldId id="311" r:id="rId53"/>
    <p:sldId id="292" r:id="rId54"/>
    <p:sldId id="294" r:id="rId55"/>
    <p:sldId id="305" r:id="rId56"/>
    <p:sldId id="306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A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4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233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572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760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72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590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04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16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A54C80-263E-416B-A8E0-580EDEADCBDC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574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4039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071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5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86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4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7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24296" y="940526"/>
            <a:ext cx="7549707" cy="3110310"/>
          </a:xfrm>
        </p:spPr>
        <p:txBody>
          <a:bodyPr/>
          <a:lstStyle/>
          <a:p>
            <a:r>
              <a:rPr lang="ru-RU" sz="6000" dirty="0"/>
              <a:t>Основные сведения о языке </a:t>
            </a:r>
            <a:r>
              <a:rPr lang="en-US" sz="6000" dirty="0"/>
              <a:t>C</a:t>
            </a:r>
            <a:r>
              <a:rPr lang="ru-RU" sz="6000" dirty="0"/>
              <a:t>#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934789" y="4486261"/>
            <a:ext cx="6339214" cy="1096899"/>
          </a:xfrm>
        </p:spPr>
        <p:txBody>
          <a:bodyPr>
            <a:normAutofit/>
          </a:bodyPr>
          <a:lstStyle/>
          <a:p>
            <a:r>
              <a:rPr lang="ru-RU" sz="2800" dirty="0"/>
              <a:t>МДК.01.01 Разработка программных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49107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понятия языка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Раздел </a:t>
            </a:r>
            <a:r>
              <a:rPr lang="en-US" sz="2800" dirty="0"/>
              <a:t>I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9086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языка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24863"/>
            <a:ext cx="8936929" cy="4623388"/>
          </a:xfrm>
        </p:spPr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кодировка символов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Алфавит языка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включает: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Буквы (латинские и национальных алфавитов) и символ подчеркивания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Цифры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Специальные символы, например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* { } &amp;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Пробел и символы табуляции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 перевода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8968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Лексемы (</a:t>
            </a:r>
            <a:r>
              <a:rPr lang="en-US" dirty="0"/>
              <a:t>token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20658"/>
            <a:ext cx="8596668" cy="4362131"/>
          </a:xfrm>
        </p:spPr>
        <p:txBody>
          <a:bodyPr>
            <a:normAutofit fontScale="92500"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Имена (идентификаторы)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слова (команды, спецификаторы, директивы)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Знаки операций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Разделители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Литералы (константы)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Примеры лексем: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000" dirty="0">
                <a:latin typeface="Consolas" panose="020B0609020204030204" pitchFamily="49" charset="0"/>
                <a:cs typeface="Times New Roman" panose="02020603050405020304" pitchFamily="18" charset="0"/>
              </a:rPr>
              <a:t>128</a:t>
            </a:r>
            <a:r>
              <a:rPr lang="en-US" sz="3000" dirty="0">
                <a:latin typeface="Consolas" panose="020B0609020204030204" pitchFamily="49" charset="0"/>
                <a:cs typeface="Times New Roman" panose="02020603050405020304" pitchFamily="18" charset="0"/>
              </a:rPr>
              <a:t>	Number		if		+</a:t>
            </a:r>
            <a:endParaRPr lang="ru-RU" sz="3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91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 и операторы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1837" y="1759995"/>
            <a:ext cx="8596668" cy="4536302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Составляются из лексем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Примеры выражений: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Consolas" panose="020B0609020204030204" pitchFamily="49" charset="0"/>
                <a:cs typeface="Times New Roman" panose="02020603050405020304" pitchFamily="18" charset="0"/>
              </a:rPr>
              <a:t>a + b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Times New Roman" panose="02020603050405020304" pitchFamily="18" charset="0"/>
              </a:rPr>
              <a:t>	a &gt; b</a:t>
            </a:r>
          </a:p>
          <a:p>
            <a:pPr marL="0" indent="0">
              <a:buNone/>
            </a:pPr>
            <a:r>
              <a:rPr lang="ru-RU" sz="3200" i="1" dirty="0">
                <a:solidFill>
                  <a:schemeClr val="accent1"/>
                </a:solidFill>
              </a:rPr>
              <a:t>Примеры операторов: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Consolas" panose="020B0609020204030204" pitchFamily="49" charset="0"/>
                <a:cs typeface="Times New Roman" panose="02020603050405020304" pitchFamily="18" charset="0"/>
              </a:rPr>
              <a:t>c = a + b;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Times New Roman" panose="02020603050405020304" pitchFamily="18" charset="0"/>
              </a:rPr>
              <a:t>	if (a &gt; b) c = a;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7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57052"/>
            <a:ext cx="8596668" cy="809897"/>
          </a:xfrm>
        </p:spPr>
        <p:txBody>
          <a:bodyPr/>
          <a:lstStyle/>
          <a:p>
            <a:r>
              <a:rPr lang="ru-RU" dirty="0"/>
              <a:t>Идентификаторы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315858"/>
            <a:ext cx="8936929" cy="5215570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Служат для обращения к программным объектам (имена дают переменным, константам, типам, методам, меткам, и др.)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именах можно использовать буквы, цифры и символ нижнего подчеркивания, пробелы в именах не допускаются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Первым символом идентификатора может служить буква или символ подчеркивания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именах допускается использование букв национальных алфавитов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Идентификаторы не должны совпадать с ключевыми словами</a:t>
            </a:r>
          </a:p>
          <a:p>
            <a:pPr marL="0" indent="0">
              <a:buNone/>
            </a:pPr>
            <a:r>
              <a:rPr lang="ru-RU" sz="2800" i="1" dirty="0">
                <a:solidFill>
                  <a:schemeClr val="accent1"/>
                </a:solidFill>
              </a:rPr>
              <a:t>Примеры идентификаторов: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Consolas" panose="020B0609020204030204" pitchFamily="49" charset="0"/>
                <a:cs typeface="Times New Roman" panose="02020603050405020304" pitchFamily="18" charset="0"/>
              </a:rPr>
              <a:t>MyBot2	MYBOT2		My_bot2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68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Комментарии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9012" y="1437778"/>
            <a:ext cx="8596668" cy="1601513"/>
          </a:xfrm>
        </p:spPr>
        <p:txBody>
          <a:bodyPr>
            <a:normAutofit fontScale="92500" lnSpcReduction="10000"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Предназначены для пояснений к программе и формирования документации</a:t>
            </a:r>
          </a:p>
          <a:p>
            <a:pPr marL="0" indent="0">
              <a:buNone/>
            </a:pPr>
            <a:r>
              <a:rPr lang="ru-RU" sz="2800" i="1" dirty="0">
                <a:solidFill>
                  <a:schemeClr val="accent1"/>
                </a:solidFill>
              </a:rPr>
              <a:t>Примеры комментариев: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12" y="2973629"/>
            <a:ext cx="7209900" cy="366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0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28" y="134981"/>
            <a:ext cx="8596668" cy="827314"/>
          </a:xfrm>
        </p:spPr>
        <p:txBody>
          <a:bodyPr/>
          <a:lstStyle/>
          <a:p>
            <a:pPr algn="ctr"/>
            <a:r>
              <a:rPr lang="ru-RU" dirty="0"/>
              <a:t>Ключевые слова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0" t="10933" r="20423" b="3016"/>
          <a:stretch/>
        </p:blipFill>
        <p:spPr>
          <a:xfrm>
            <a:off x="2088122" y="827311"/>
            <a:ext cx="5584129" cy="594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7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3460" y="197576"/>
            <a:ext cx="8596668" cy="705394"/>
          </a:xfrm>
        </p:spPr>
        <p:txBody>
          <a:bodyPr/>
          <a:lstStyle/>
          <a:p>
            <a:r>
              <a:rPr lang="ru-RU" dirty="0"/>
              <a:t>Операции и приоритет операций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4" r="3050" b="13317"/>
          <a:stretch/>
        </p:blipFill>
        <p:spPr>
          <a:xfrm>
            <a:off x="294186" y="910590"/>
            <a:ext cx="9664371" cy="57574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730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29366"/>
            <a:ext cx="8858552" cy="4910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данных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однозначно определяет: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Внутреннее представление данных и множество их допустимых значений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Допустимые действия над данными (операции и функции)</a:t>
            </a:r>
          </a:p>
          <a:p>
            <a:pPr marL="0" indent="0"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которой хранятся данные во время выполнения программы, делится на 2 области:</a:t>
            </a:r>
          </a:p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память выделяется компилятором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область или 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хип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429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585" y="191588"/>
            <a:ext cx="8596668" cy="801189"/>
          </a:xfrm>
        </p:spPr>
        <p:txBody>
          <a:bodyPr/>
          <a:lstStyle/>
          <a:p>
            <a:r>
              <a:rPr lang="ru-RU" dirty="0"/>
              <a:t>Классификация типов данных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" t="13162" r="8172"/>
          <a:stretch/>
        </p:blipFill>
        <p:spPr>
          <a:xfrm>
            <a:off x="659916" y="992777"/>
            <a:ext cx="7496816" cy="567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69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0" t="1143" r="9111" b="16444"/>
          <a:stretch/>
        </p:blipFill>
        <p:spPr>
          <a:xfrm>
            <a:off x="383176" y="261257"/>
            <a:ext cx="9819929" cy="6122126"/>
          </a:xfrm>
        </p:spPr>
      </p:pic>
    </p:spTree>
    <p:extLst>
      <p:ext uri="{BB962C8B-B14F-4D97-AF65-F5344CB8AC3E}">
        <p14:creationId xmlns:p14="http://schemas.microsoft.com/office/powerpoint/2010/main" val="1246596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081" y="287384"/>
            <a:ext cx="8596668" cy="748938"/>
          </a:xfrm>
        </p:spPr>
        <p:txBody>
          <a:bodyPr/>
          <a:lstStyle/>
          <a:p>
            <a:r>
              <a:rPr lang="ru-RU" dirty="0"/>
              <a:t>Константы (литералы)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0" t="26206" r="6054" b="2831"/>
          <a:stretch/>
        </p:blipFill>
        <p:spPr>
          <a:xfrm>
            <a:off x="495081" y="1111334"/>
            <a:ext cx="8944822" cy="545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93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26720"/>
            <a:ext cx="8596668" cy="722811"/>
          </a:xfrm>
        </p:spPr>
        <p:txBody>
          <a:bodyPr/>
          <a:lstStyle/>
          <a:p>
            <a:r>
              <a:rPr lang="ru-RU" dirty="0"/>
              <a:t>Суффиксы при описании констант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825380"/>
              </p:ext>
            </p:extLst>
          </p:nvPr>
        </p:nvGraphicFramePr>
        <p:xfrm>
          <a:off x="677334" y="1616649"/>
          <a:ext cx="89282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907">
                  <a:extLst>
                    <a:ext uri="{9D8B030D-6E8A-4147-A177-3AD203B41FA5}">
                      <a16:colId xmlns:a16="http://schemas.microsoft.com/office/drawing/2014/main" val="1334286063"/>
                    </a:ext>
                  </a:extLst>
                </a:gridCol>
                <a:gridCol w="7104313">
                  <a:extLst>
                    <a:ext uri="{9D8B030D-6E8A-4147-A177-3AD203B41FA5}">
                      <a16:colId xmlns:a16="http://schemas.microsoft.com/office/drawing/2014/main" val="2637753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Суффикс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/>
                        <a:t>    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101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L, l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Длинное</a:t>
                      </a:r>
                      <a:r>
                        <a:rPr lang="ru-RU" sz="2400" baseline="0" dirty="0"/>
                        <a:t> целое (</a:t>
                      </a:r>
                      <a:r>
                        <a:rPr lang="en-US" sz="2400" baseline="0" dirty="0"/>
                        <a:t>long)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724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U, u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Без знаковое целое (</a:t>
                      </a:r>
                      <a:r>
                        <a:rPr lang="en-US" sz="2400" dirty="0"/>
                        <a:t>unsigned)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197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F, f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Вещественное с одинарной точностью </a:t>
                      </a:r>
                      <a:r>
                        <a:rPr lang="en-US" sz="2400" dirty="0"/>
                        <a:t>(float)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26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D, d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Вещественное с двойной точностью </a:t>
                      </a:r>
                      <a:r>
                        <a:rPr lang="en-US" sz="2400" dirty="0"/>
                        <a:t>(double)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017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M, m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Финансовое десятичного типа </a:t>
                      </a:r>
                      <a:r>
                        <a:rPr lang="en-US" sz="2400" dirty="0"/>
                        <a:t>(decimal)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306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776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74468"/>
            <a:ext cx="8596668" cy="661851"/>
          </a:xfrm>
        </p:spPr>
        <p:txBody>
          <a:bodyPr/>
          <a:lstStyle/>
          <a:p>
            <a:r>
              <a:rPr lang="ru-RU" dirty="0"/>
              <a:t>Примеры литералов </a:t>
            </a:r>
            <a:r>
              <a:rPr lang="en-US" dirty="0"/>
              <a:t>C#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82166"/>
              </p:ext>
            </p:extLst>
          </p:nvPr>
        </p:nvGraphicFramePr>
        <p:xfrm>
          <a:off x="489786" y="1250889"/>
          <a:ext cx="10334968" cy="4697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2211">
                  <a:extLst>
                    <a:ext uri="{9D8B030D-6E8A-4147-A177-3AD203B41FA5}">
                      <a16:colId xmlns:a16="http://schemas.microsoft.com/office/drawing/2014/main" val="1615035216"/>
                    </a:ext>
                  </a:extLst>
                </a:gridCol>
                <a:gridCol w="5612757">
                  <a:extLst>
                    <a:ext uri="{9D8B030D-6E8A-4147-A177-3AD203B41FA5}">
                      <a16:colId xmlns:a16="http://schemas.microsoft.com/office/drawing/2014/main" val="569242711"/>
                    </a:ext>
                  </a:extLst>
                </a:gridCol>
              </a:tblGrid>
              <a:tr h="612745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Вид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Примеры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614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b="1" dirty="0"/>
                        <a:t>Булевские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true      false</a:t>
                      </a:r>
                      <a:endParaRPr lang="ru-RU" sz="22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63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b="1" dirty="0"/>
                        <a:t>Целые</a:t>
                      </a:r>
                      <a:r>
                        <a:rPr lang="ru-RU" sz="2200" dirty="0"/>
                        <a:t>   - десятичные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  22612     10Lu</a:t>
                      </a:r>
                      <a:endParaRPr lang="ru-RU" sz="22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808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/>
                        <a:t>             - шестнадцатеричные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2200" dirty="0" err="1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xA</a:t>
                      </a:r>
                      <a:r>
                        <a:rPr lang="en-US" sz="2200" baseline="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  0x1B8    0X00FFL </a:t>
                      </a:r>
                      <a:endParaRPr lang="ru-RU" sz="22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34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b="1" dirty="0"/>
                        <a:t>Вещественные</a:t>
                      </a:r>
                      <a:r>
                        <a:rPr lang="ru-RU" sz="2200" dirty="0"/>
                        <a:t>    - с фикс. точкой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5.7</a:t>
                      </a:r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   .001f     35m</a:t>
                      </a:r>
                      <a:endParaRPr lang="ru-RU" sz="22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98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/>
                        <a:t>                          -</a:t>
                      </a:r>
                      <a:r>
                        <a:rPr lang="ru-RU" sz="2200" baseline="0" dirty="0"/>
                        <a:t> с порядком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0.2E6     .11e-3     5E10</a:t>
                      </a:r>
                      <a:endParaRPr lang="ru-RU" sz="22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110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b="1" dirty="0"/>
                        <a:t>Символьные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ꞌAꞌ      ꞌ\nꞌ      </a:t>
                      </a:r>
                      <a: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/>
                      </a:r>
                      <a:b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ꞌ\u</a:t>
                      </a:r>
                      <a: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0041</a:t>
                      </a:r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ꞌ</a:t>
                      </a:r>
                      <a: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200" dirty="0">
                          <a:solidFill>
                            <a:srgbClr val="26A02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en-US" sz="2200" baseline="0" dirty="0">
                          <a:solidFill>
                            <a:srgbClr val="26A02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200" dirty="0">
                          <a:solidFill>
                            <a:srgbClr val="26A0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код буквы А (65)</a:t>
                      </a:r>
                      <a:r>
                        <a:rPr lang="ru-RU" sz="2200" baseline="0" dirty="0">
                          <a:solidFill>
                            <a:srgbClr val="26A02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в 16-ричн.</a:t>
                      </a:r>
                      <a:endParaRPr lang="ru-RU" sz="2200" dirty="0">
                        <a:solidFill>
                          <a:srgbClr val="26A02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26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b="1" dirty="0"/>
                        <a:t>Строковые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″</a:t>
                      </a:r>
                      <a: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Здесь был </a:t>
                      </a:r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\n</a:t>
                      </a:r>
                      <a: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Вася</a:t>
                      </a:r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″</a:t>
                      </a:r>
                      <a: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 </a:t>
                      </a:r>
                      <a:br>
                        <a:rPr lang="ru-RU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@″C:\temp\file1.txt″</a:t>
                      </a:r>
                      <a:endParaRPr lang="ru-RU" sz="22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09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/>
                        <a:t>Константа </a:t>
                      </a:r>
                      <a:r>
                        <a:rPr lang="en-US" sz="2200" dirty="0"/>
                        <a:t>null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null</a:t>
                      </a:r>
                      <a:endParaRPr lang="ru-RU" sz="22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851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86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объявления переменных и констант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64216"/>
            <a:ext cx="4437591" cy="276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1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Синтаксис и семантика основных конструкций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Раздел </a:t>
            </a:r>
            <a:r>
              <a:rPr lang="en-US" sz="2800" dirty="0"/>
              <a:t>II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63221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91885"/>
            <a:ext cx="8596668" cy="653143"/>
          </a:xfrm>
        </p:spPr>
        <p:txBody>
          <a:bodyPr/>
          <a:lstStyle/>
          <a:p>
            <a:r>
              <a:rPr lang="ru-RU" dirty="0"/>
              <a:t>Оператор присваивания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77334" y="1324566"/>
            <a:ext cx="8596668" cy="3091543"/>
          </a:xfrm>
        </p:spPr>
        <p:txBody>
          <a:bodyPr>
            <a:normAutofit fontScale="55000" lnSpcReduction="20000"/>
          </a:bodyPr>
          <a:lstStyle/>
          <a:p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 присваивания (</a:t>
            </a:r>
            <a:r>
              <a:rPr lang="en-US" sz="5100" dirty="0">
                <a:cs typeface="Times New Roman" panose="02020603050405020304" pitchFamily="18" charset="0"/>
              </a:rPr>
              <a:t>=    +=   -=     *=    /=   %=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задают новое значение переменной</a:t>
            </a:r>
          </a:p>
          <a:p>
            <a:pPr marL="0" indent="0">
              <a:buNone/>
            </a:pPr>
            <a:endParaRPr lang="ru-RU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правого операнда должно существовать </a:t>
            </a:r>
            <a:b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неявное преобразование 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типу левого операнда</a:t>
            </a:r>
            <a:endParaRPr lang="en-US" sz="5100" b="1" dirty="0"/>
          </a:p>
          <a:p>
            <a:pPr marL="0" indent="0">
              <a:buNone/>
            </a:pPr>
            <a:r>
              <a:rPr lang="ru-RU" sz="5100" b="1" dirty="0"/>
              <a:t>		Переменная </a:t>
            </a:r>
            <a:r>
              <a:rPr lang="ru-RU" sz="5100" b="1" dirty="0">
                <a:sym typeface="Symbol" panose="05050102010706020507" pitchFamily="18" charset="2"/>
              </a:rPr>
              <a:t> Выражение</a:t>
            </a:r>
            <a:endParaRPr lang="en-US" sz="51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ru-RU" sz="24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ru-RU" sz="24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13" y="2080336"/>
            <a:ext cx="7409972" cy="88057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613" y="4416109"/>
            <a:ext cx="3077528" cy="228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05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вывода на консоль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43" y="1849347"/>
            <a:ext cx="7480583" cy="310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2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3887" y="714160"/>
            <a:ext cx="8596668" cy="963706"/>
          </a:xfrm>
        </p:spPr>
        <p:txBody>
          <a:bodyPr/>
          <a:lstStyle/>
          <a:p>
            <a:r>
              <a:rPr lang="ru-RU" dirty="0"/>
              <a:t>Работа с цветом, перенос курсора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47028" y="1677866"/>
            <a:ext cx="10353655" cy="3944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0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Команды для работы с консолью:</a:t>
            </a:r>
            <a:endParaRPr lang="ru-RU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.BackgroundColor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ru-RU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.Red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установка цвета фона</a:t>
            </a: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.ForegroundColor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ConsoleColor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.Black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установка цвета текста</a:t>
            </a: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.Clear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очистка консоли</a:t>
            </a: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.ResetColor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сброс цветов консоли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= </a:t>
            </a:r>
            <a:r>
              <a:rPr lang="ru-RU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WindowWidth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2;</a:t>
            </a: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 =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.WindowHeight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2;</a:t>
            </a: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.SetCursorPosition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(x, y);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перенос курсора в нужную позицию</a:t>
            </a:r>
            <a:endParaRPr lang="ru-RU" sz="20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6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ввода с консоли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08" y="1718174"/>
            <a:ext cx="7069863" cy="349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64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к указанному типу с помощью </a:t>
            </a:r>
            <a:r>
              <a:rPr lang="en-US" dirty="0"/>
              <a:t>Parse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95" y="2268310"/>
            <a:ext cx="6426246" cy="35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5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354"/>
          </a:xfrm>
        </p:spPr>
        <p:txBody>
          <a:bodyPr/>
          <a:lstStyle/>
          <a:p>
            <a:r>
              <a:rPr lang="ru-RU" i="1" dirty="0"/>
              <a:t>Ввод значений и вывод их на экран: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40" t="1041" b="35175"/>
          <a:stretch/>
        </p:blipFill>
        <p:spPr>
          <a:xfrm>
            <a:off x="677334" y="1665203"/>
            <a:ext cx="10742864" cy="369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3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391886"/>
            <a:ext cx="8596668" cy="1320800"/>
          </a:xfrm>
        </p:spPr>
        <p:txBody>
          <a:bodyPr/>
          <a:lstStyle/>
          <a:p>
            <a:r>
              <a:rPr lang="ru-RU" dirty="0"/>
              <a:t>Условный оператор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129219"/>
            <a:ext cx="9502986" cy="1418635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Условный оператор используется для разветвления вычислительного процесса на два направления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Условный оператор может быть полным или сокращенным</a:t>
            </a: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638711"/>
              </p:ext>
            </p:extLst>
          </p:nvPr>
        </p:nvGraphicFramePr>
        <p:xfrm>
          <a:off x="1496240" y="2547854"/>
          <a:ext cx="3015100" cy="2869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Visio" r:id="rId3" imgW="2301240" imgH="2191512" progId="">
                  <p:embed/>
                </p:oleObj>
              </mc:Choice>
              <mc:Fallback>
                <p:oleObj name="Visio" r:id="rId3" imgW="2301240" imgH="2191512" progId="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240" y="2547854"/>
                        <a:ext cx="3015100" cy="28693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463552"/>
              </p:ext>
            </p:extLst>
          </p:nvPr>
        </p:nvGraphicFramePr>
        <p:xfrm>
          <a:off x="6311447" y="2547854"/>
          <a:ext cx="2068467" cy="2960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Visio" r:id="rId5" imgW="1530706" imgH="2191512" progId="">
                  <p:embed/>
                </p:oleObj>
              </mc:Choice>
              <mc:Fallback>
                <p:oleObj name="Visio" r:id="rId5" imgW="1530706" imgH="2191512" progId="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447" y="2547854"/>
                        <a:ext cx="2068467" cy="29609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7210" y="5302013"/>
            <a:ext cx="2038501" cy="139805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6681" y="5767889"/>
            <a:ext cx="3396208" cy="46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79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CF1E3-29AA-44BE-9FB4-7EA23A6C9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31" y="104775"/>
            <a:ext cx="8596668" cy="1320800"/>
          </a:xfrm>
        </p:spPr>
        <p:txBody>
          <a:bodyPr/>
          <a:lstStyle/>
          <a:p>
            <a:r>
              <a:rPr lang="ru-RU" dirty="0"/>
              <a:t>Условия могут быть простыми и составными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7B1CD-1AC6-4D32-8CC3-4FD1BFC709CD}"/>
              </a:ext>
            </a:extLst>
          </p:cNvPr>
          <p:cNvSpPr txBox="1"/>
          <p:nvPr/>
        </p:nvSpPr>
        <p:spPr>
          <a:xfrm>
            <a:off x="677334" y="1539875"/>
            <a:ext cx="7967662" cy="565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1.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(a&gt;=5)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 </a:t>
            </a:r>
            <a:endParaRPr kumimoji="0" lang="en-US" alt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2.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(a==b)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</a:t>
            </a:r>
            <a:endParaRPr kumimoji="0" lang="en-US" alt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3.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(z!=0)</a:t>
            </a:r>
            <a:endParaRPr kumimoji="0" lang="ru-RU" alt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4.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(!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(x&lt;=13)) 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26A020"/>
                </a:solidFill>
                <a:effectLst/>
                <a:uLnTx/>
                <a:uFillTx/>
                <a:latin typeface="Consolas" panose="020B0609020204030204" pitchFamily="49" charset="0"/>
              </a:rPr>
              <a:t>// 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26A020"/>
                </a:solidFill>
                <a:effectLst/>
                <a:uLnTx/>
                <a:uFillTx/>
                <a:latin typeface="Consolas" panose="020B0609020204030204" pitchFamily="49" charset="0"/>
              </a:rPr>
              <a:t>не</a:t>
            </a:r>
            <a:r>
              <a:rPr kumimoji="0" lang="ru-RU" altLang="ru-RU" sz="2800" b="0" i="0" u="none" strike="noStrike" kern="0" cap="none" spc="0" normalizeH="0" noProof="0" dirty="0">
                <a:ln>
                  <a:noFill/>
                </a:ln>
                <a:solidFill>
                  <a:srgbClr val="26A020"/>
                </a:solidFill>
                <a:effectLst/>
                <a:uLnTx/>
                <a:uFillTx/>
                <a:latin typeface="Consolas" panose="020B0609020204030204" pitchFamily="49" charset="0"/>
              </a:rPr>
              <a:t> рекомендуется</a:t>
            </a:r>
            <a:endParaRPr kumimoji="0" lang="en-US" altLang="ru-RU" sz="2800" b="0" i="0" u="none" strike="noStrike" kern="0" cap="none" spc="0" normalizeH="0" baseline="0" noProof="0" dirty="0">
              <a:ln>
                <a:noFill/>
              </a:ln>
              <a:solidFill>
                <a:srgbClr val="26A02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defRPr/>
            </a:pPr>
            <a:r>
              <a:rPr lang="en-US" altLang="ru-RU" sz="2800" kern="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ru-RU" altLang="ru-RU" sz="2800" kern="0" dirty="0">
                <a:solidFill>
                  <a:srgbClr val="FF0000"/>
                </a:solidFill>
                <a:latin typeface="Consolas" panose="020B0609020204030204" pitchFamily="49" charset="0"/>
              </a:rPr>
              <a:t>. 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(b%5==0)</a:t>
            </a:r>
            <a:endParaRPr kumimoji="0" lang="en-US" alt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ru-RU" sz="2800" kern="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.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(x&gt;=-10 &amp;&amp; x&lt;=10)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ru-RU" sz="2800" kern="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.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(q&lt;-15 || q&gt;20)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ru-RU" sz="2800" kern="0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.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(a&gt;b  &amp;&amp;  a&gt;c  &amp;&amp;  a&gt;d)</a:t>
            </a: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defRPr/>
            </a:pPr>
            <a:r>
              <a:rPr lang="en-US" altLang="ru-RU" sz="2800" kern="0" noProof="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</a:rPr>
              <a:t>. 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(a%5</a:t>
            </a:r>
            <a:r>
              <a:rPr lang="ru-RU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=0  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||  a%2</a:t>
            </a:r>
            <a:r>
              <a:rPr kumimoji="0" lang="ru-RU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!</a:t>
            </a:r>
            <a:r>
              <a:rPr kumimoji="0" lang="en-US" alt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=0  &amp;&amp;  a&gt;100)</a:t>
            </a:r>
            <a:endParaRPr kumimoji="0" lang="ru-RU" altLang="ru-RU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defRPr/>
            </a:pPr>
            <a:r>
              <a:rPr lang="ru-RU" altLang="ru-RU" sz="2800" kern="0" dirty="0">
                <a:solidFill>
                  <a:srgbClr val="FF0000"/>
                </a:solidFill>
                <a:latin typeface="Consolas" panose="020B0609020204030204" pitchFamily="49" charset="0"/>
              </a:rPr>
              <a:t>10.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a%5</a:t>
            </a:r>
            <a:r>
              <a:rPr lang="ru-RU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=0  ||  a%2</a:t>
            </a:r>
            <a:r>
              <a:rPr lang="ru-RU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=0</a:t>
            </a:r>
            <a:r>
              <a:rPr lang="ru-RU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2800" kern="0" dirty="0">
                <a:solidFill>
                  <a:srgbClr val="000000"/>
                </a:solidFill>
                <a:latin typeface="Consolas" panose="020B0609020204030204" pitchFamily="49" charset="0"/>
              </a:rPr>
              <a:t>  &amp;&amp;  a&gt;100)</a:t>
            </a:r>
            <a:endParaRPr lang="ru-RU" sz="2800" dirty="0">
              <a:latin typeface="Consolas" panose="020B0609020204030204" pitchFamily="49" charset="0"/>
            </a:endParaRP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defRPr/>
            </a:pPr>
            <a:endParaRPr lang="ru-RU" sz="1200" dirty="0">
              <a:latin typeface="Consolas" panose="020B06090202040302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  <a:buFont typeface="Wingdings" pitchFamily="2" charset="2"/>
              <a:buNone/>
              <a:tabLst/>
              <a:defRPr/>
            </a:pP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39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220264"/>
            <a:ext cx="8596668" cy="770313"/>
          </a:xfrm>
        </p:spPr>
        <p:txBody>
          <a:bodyPr/>
          <a:lstStyle/>
          <a:p>
            <a:r>
              <a:rPr lang="ru-RU" dirty="0"/>
              <a:t>Условная тернарная операция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235949"/>
            <a:ext cx="9104841" cy="3944192"/>
          </a:xfrm>
        </p:spPr>
        <p:txBody>
          <a:bodyPr>
            <a:normAutofit fontScale="62500" lnSpcReduction="20000"/>
          </a:bodyPr>
          <a:lstStyle/>
          <a:p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 три операнда: 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представляет собой выражение, которое можно привести к логическому типу, если результат вычисления первого операнда </a:t>
            </a:r>
            <a:r>
              <a:rPr lang="en-US" sz="3800" dirty="0">
                <a:cs typeface="Times New Roman" panose="02020603050405020304" pitchFamily="18" charset="0"/>
              </a:rPr>
              <a:t>true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результатом условной операции будет второй операнд, а если </a:t>
            </a:r>
            <a:r>
              <a:rPr lang="en-US" sz="3800" dirty="0">
                <a:cs typeface="Times New Roman" panose="02020603050405020304" pitchFamily="18" charset="0"/>
              </a:rPr>
              <a:t>false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третий операнд</a:t>
            </a:r>
          </a:p>
          <a:p>
            <a:endParaRPr lang="ru-RU" sz="1100" dirty="0"/>
          </a:p>
          <a:p>
            <a:pPr marL="0" indent="0">
              <a:buNone/>
            </a:pPr>
            <a:r>
              <a:rPr lang="ru-RU" sz="3800" b="1" dirty="0"/>
              <a:t>	Операнд_1 ?  Операнд_2  :  Операнд_3 </a:t>
            </a:r>
            <a:r>
              <a:rPr lang="en-US" sz="3800" b="1" dirty="0"/>
              <a:t>;</a:t>
            </a:r>
          </a:p>
          <a:p>
            <a:pPr marL="97977" indent="0">
              <a:buNone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977" indent="0">
              <a:buNone/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Заметьте, тут обязаны быть описаны оба случая, в отличие от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 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может ограничиваться единственным.</a:t>
            </a:r>
          </a:p>
          <a:p>
            <a:pPr marL="97977" indent="0">
              <a:buNone/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Важный момент: тернарный оператор принимает в себя </a:t>
            </a:r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выражения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не команды.</a:t>
            </a:r>
          </a:p>
          <a:p>
            <a:pPr marL="0" indent="0">
              <a:buNone/>
            </a:pPr>
            <a:endParaRPr lang="ru-RU" sz="24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08" y="5180141"/>
            <a:ext cx="5802997" cy="130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3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F176-8A1C-402F-8D56-66B3C8DB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434" y="502384"/>
            <a:ext cx="8596668" cy="930454"/>
          </a:xfrm>
        </p:spPr>
        <p:txBody>
          <a:bodyPr/>
          <a:lstStyle/>
          <a:p>
            <a:r>
              <a:rPr lang="ru-RU" dirty="0"/>
              <a:t>Код значительно укорачивается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517C5728-FD62-436B-B298-8EEEABB7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4" y="1544389"/>
            <a:ext cx="8596668" cy="4280883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Использование условного оператора </a:t>
            </a:r>
            <a:r>
              <a:rPr lang="en-US" sz="2400" dirty="0"/>
              <a:t>if-else</a:t>
            </a:r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/>
          </a:p>
          <a:p>
            <a:r>
              <a:rPr lang="ru-RU" sz="2400" dirty="0"/>
              <a:t>Использование условной тернарной операции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ABB1F-4384-4645-91BE-C8CD074B89F4}"/>
              </a:ext>
            </a:extLst>
          </p:cNvPr>
          <p:cNvSpPr txBox="1"/>
          <p:nvPr/>
        </p:nvSpPr>
        <p:spPr>
          <a:xfrm>
            <a:off x="1059392" y="2059166"/>
            <a:ext cx="7503583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Consolas" panose="020B0609020204030204" pitchFamily="49" charset="0"/>
              </a:rPr>
              <a:t>if (number % 2 == 0) </a:t>
            </a:r>
            <a:endParaRPr lang="ru-RU" sz="2400" b="0" i="0" dirty="0">
              <a:effectLst/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	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{ </a:t>
            </a:r>
            <a:endParaRPr lang="ru-RU" sz="2400" b="0" i="0" dirty="0">
              <a:effectLst/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		</a:t>
            </a:r>
            <a:r>
              <a:rPr lang="en-US" sz="2400" b="0" i="0" dirty="0" err="1">
                <a:effectLst/>
                <a:latin typeface="Consolas" panose="020B0609020204030204" pitchFamily="49" charset="0"/>
              </a:rPr>
              <a:t>isEven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 = true; </a:t>
            </a:r>
            <a:endParaRPr lang="ru-RU" sz="2400" b="0" i="0" dirty="0">
              <a:effectLst/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	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} </a:t>
            </a:r>
            <a:endParaRPr lang="ru-RU" sz="2400" b="0" i="0" dirty="0">
              <a:effectLst/>
              <a:latin typeface="Consolas" panose="020B0609020204030204" pitchFamily="49" charset="0"/>
            </a:endParaRPr>
          </a:p>
          <a:p>
            <a:r>
              <a:rPr lang="en-US" sz="2400" b="0" i="0" dirty="0">
                <a:effectLst/>
                <a:latin typeface="Consolas" panose="020B0609020204030204" pitchFamily="49" charset="0"/>
              </a:rPr>
              <a:t>else </a:t>
            </a:r>
            <a:endParaRPr lang="ru-RU" sz="2400" b="0" i="0" dirty="0">
              <a:effectLst/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	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{ </a:t>
            </a:r>
            <a:endParaRPr lang="ru-RU" sz="2400" b="0" i="0" dirty="0">
              <a:effectLst/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		</a:t>
            </a:r>
            <a:r>
              <a:rPr lang="en-US" sz="2400" b="0" i="0" dirty="0" err="1">
                <a:effectLst/>
                <a:latin typeface="Consolas" panose="020B0609020204030204" pitchFamily="49" charset="0"/>
              </a:rPr>
              <a:t>isEven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 = false; </a:t>
            </a:r>
            <a:endParaRPr lang="ru-RU" sz="2400" b="0" i="0" dirty="0">
              <a:effectLst/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	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8838F-0B51-4493-A391-BE9D99F52CA3}"/>
              </a:ext>
            </a:extLst>
          </p:cNvPr>
          <p:cNvSpPr txBox="1"/>
          <p:nvPr/>
        </p:nvSpPr>
        <p:spPr>
          <a:xfrm>
            <a:off x="1059392" y="5984776"/>
            <a:ext cx="750358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0" i="0" dirty="0" err="1">
                <a:effectLst/>
                <a:latin typeface="Consolas" panose="020B0609020204030204" pitchFamily="49" charset="0"/>
              </a:rPr>
              <a:t>isEven</a:t>
            </a:r>
            <a:r>
              <a:rPr lang="en-US" sz="2400" b="0" i="0" dirty="0">
                <a:effectLst/>
                <a:latin typeface="Consolas" panose="020B0609020204030204" pitchFamily="49" charset="0"/>
              </a:rPr>
              <a:t> = (number % 2 == 0) ? true : false;</a:t>
            </a:r>
            <a:endParaRPr lang="ru-RU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98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50625-866B-4C8D-A940-325F70BF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Условная тернарная операция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F32ED2-F144-4932-8B27-4732A2C19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5764"/>
            <a:ext cx="8596668" cy="1154111"/>
          </a:xfrm>
        </p:spPr>
        <p:txBody>
          <a:bodyPr>
            <a:normAutofit/>
          </a:bodyPr>
          <a:lstStyle/>
          <a:p>
            <a:r>
              <a:rPr lang="ru-RU" sz="2400" dirty="0"/>
              <a:t>Ясно, что ничто не мешает вкладывать условные тернарные операции друг в друга: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8AF6E-2CF8-4128-90FF-39103FE2791D}"/>
              </a:ext>
            </a:extLst>
          </p:cNvPr>
          <p:cNvSpPr txBox="1"/>
          <p:nvPr/>
        </p:nvSpPr>
        <p:spPr>
          <a:xfrm>
            <a:off x="1624013" y="4112302"/>
            <a:ext cx="610552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a ? b : c ? d : e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A4F85-6D52-4C09-B7F6-4A6B8D6B65C3}"/>
              </a:ext>
            </a:extLst>
          </p:cNvPr>
          <p:cNvSpPr txBox="1"/>
          <p:nvPr/>
        </p:nvSpPr>
        <p:spPr>
          <a:xfrm>
            <a:off x="1624013" y="5019918"/>
            <a:ext cx="610552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2400" dirty="0"/>
              <a:t>a ? b : (c ? d : e)</a:t>
            </a:r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3484F-E7D8-4345-A16A-68EED30CDFE3}"/>
              </a:ext>
            </a:extLst>
          </p:cNvPr>
          <p:cNvSpPr txBox="1"/>
          <p:nvPr/>
        </p:nvSpPr>
        <p:spPr>
          <a:xfrm>
            <a:off x="1624013" y="6017567"/>
            <a:ext cx="610552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is this condition true ? yes : no</a:t>
            </a:r>
            <a:endParaRPr lang="ru-RU" sz="2400" dirty="0"/>
          </a:p>
        </p:txBody>
      </p:sp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193AAA94-AF54-498B-9C6D-9671C16D8036}"/>
              </a:ext>
            </a:extLst>
          </p:cNvPr>
          <p:cNvSpPr/>
          <p:nvPr/>
        </p:nvSpPr>
        <p:spPr>
          <a:xfrm>
            <a:off x="753807" y="2985620"/>
            <a:ext cx="1027641" cy="615304"/>
          </a:xfrm>
          <a:prstGeom prst="wedgeRectCallout">
            <a:avLst>
              <a:gd name="adj1" fmla="val 55254"/>
              <a:gd name="adj2" fmla="val 145028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– </a:t>
            </a:r>
            <a:r>
              <a:rPr lang="ru-RU" dirty="0">
                <a:solidFill>
                  <a:schemeClr val="tx1"/>
                </a:solidFill>
              </a:rPr>
              <a:t>истина?</a:t>
            </a:r>
          </a:p>
        </p:txBody>
      </p:sp>
      <p:sp>
        <p:nvSpPr>
          <p:cNvPr id="11" name="Облачко с текстом: прямоугольное 10">
            <a:extLst>
              <a:ext uri="{FF2B5EF4-FFF2-40B4-BE49-F238E27FC236}">
                <a16:creationId xmlns:a16="http://schemas.microsoft.com/office/drawing/2014/main" id="{79C1BC34-BC4C-4ADC-870A-96ACD22BA9BC}"/>
              </a:ext>
            </a:extLst>
          </p:cNvPr>
          <p:cNvSpPr/>
          <p:nvPr/>
        </p:nvSpPr>
        <p:spPr>
          <a:xfrm>
            <a:off x="1914265" y="2985620"/>
            <a:ext cx="1027641" cy="615304"/>
          </a:xfrm>
          <a:prstGeom prst="wedgeRectCallout">
            <a:avLst>
              <a:gd name="adj1" fmla="val -14262"/>
              <a:gd name="adj2" fmla="val 140384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yes: b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0EB82001-D3DD-410C-86CA-ED32C2D9CB6C}"/>
              </a:ext>
            </a:extLst>
          </p:cNvPr>
          <p:cNvSpPr/>
          <p:nvPr/>
        </p:nvSpPr>
        <p:spPr>
          <a:xfrm>
            <a:off x="3051180" y="2985620"/>
            <a:ext cx="1370012" cy="615304"/>
          </a:xfrm>
          <a:prstGeom prst="wedgeRectCallout">
            <a:avLst>
              <a:gd name="adj1" fmla="val -72191"/>
              <a:gd name="adj2" fmla="val 151449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</a:t>
            </a:r>
            <a:r>
              <a:rPr lang="ru-RU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 – </a:t>
            </a:r>
            <a:r>
              <a:rPr lang="ru-RU" dirty="0">
                <a:solidFill>
                  <a:schemeClr val="tx1"/>
                </a:solidFill>
              </a:rPr>
              <a:t>истина?</a:t>
            </a:r>
          </a:p>
        </p:txBody>
      </p:sp>
      <p:sp>
        <p:nvSpPr>
          <p:cNvPr id="13" name="Облачко с текстом: прямоугольное 12">
            <a:extLst>
              <a:ext uri="{FF2B5EF4-FFF2-40B4-BE49-F238E27FC236}">
                <a16:creationId xmlns:a16="http://schemas.microsoft.com/office/drawing/2014/main" id="{BEFED508-40F6-407D-B6AD-FB01CE517A12}"/>
              </a:ext>
            </a:extLst>
          </p:cNvPr>
          <p:cNvSpPr/>
          <p:nvPr/>
        </p:nvSpPr>
        <p:spPr>
          <a:xfrm>
            <a:off x="4582586" y="3219217"/>
            <a:ext cx="1027641" cy="615304"/>
          </a:xfrm>
          <a:prstGeom prst="wedgeRectCallout">
            <a:avLst>
              <a:gd name="adj1" fmla="val -170904"/>
              <a:gd name="adj2" fmla="val 118712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yes: 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блачко с текстом: прямоугольное 13">
            <a:extLst>
              <a:ext uri="{FF2B5EF4-FFF2-40B4-BE49-F238E27FC236}">
                <a16:creationId xmlns:a16="http://schemas.microsoft.com/office/drawing/2014/main" id="{5CBE2A10-3B3A-409A-BCF3-7D325F1C97B4}"/>
              </a:ext>
            </a:extLst>
          </p:cNvPr>
          <p:cNvSpPr/>
          <p:nvPr/>
        </p:nvSpPr>
        <p:spPr>
          <a:xfrm>
            <a:off x="5933015" y="3576318"/>
            <a:ext cx="1027641" cy="615304"/>
          </a:xfrm>
          <a:prstGeom prst="wedgeRectCallout">
            <a:avLst>
              <a:gd name="adj1" fmla="val -245981"/>
              <a:gd name="adj2" fmla="val 76915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no: e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1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C5256-AD2B-4D86-9C3D-3D77C782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59" y="325938"/>
            <a:ext cx="8596668" cy="1320800"/>
          </a:xfrm>
        </p:spPr>
        <p:txBody>
          <a:bodyPr/>
          <a:lstStyle/>
          <a:p>
            <a:r>
              <a:rPr lang="ru-RU" dirty="0"/>
              <a:t>Пример вложения условных тернарных операций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758A6-117C-4CE3-92B3-16665D69525B}"/>
              </a:ext>
            </a:extLst>
          </p:cNvPr>
          <p:cNvSpPr txBox="1"/>
          <p:nvPr/>
        </p:nvSpPr>
        <p:spPr>
          <a:xfrm>
            <a:off x="557742" y="1551488"/>
            <a:ext cx="6105524" cy="406265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if (a &gt; b)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b="0" i="0" dirty="0">
                <a:effectLst/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{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b="0" i="0" dirty="0">
                <a:effectLst/>
                <a:latin typeface="Consolas" panose="020B0609020204030204" pitchFamily="49" charset="0"/>
              </a:rPr>
              <a:t>	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result = "a </a:t>
            </a:r>
            <a:r>
              <a:rPr lang="ru-RU" sz="2000" b="0" i="0" dirty="0">
                <a:effectLst/>
                <a:latin typeface="Consolas" panose="020B0609020204030204" pitchFamily="49" charset="0"/>
              </a:rPr>
              <a:t>больше, чем 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b";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b="0" i="0" dirty="0">
                <a:effectLst/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}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en-US" sz="2000" b="0" i="0" dirty="0">
                <a:effectLst/>
                <a:latin typeface="Consolas" panose="020B0609020204030204" pitchFamily="49" charset="0"/>
              </a:rPr>
              <a:t>else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if (a &lt; b)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{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result = "b </a:t>
            </a:r>
            <a:r>
              <a:rPr lang="ru-RU" sz="2000" b="0" i="0" dirty="0">
                <a:effectLst/>
                <a:latin typeface="Consolas" panose="020B0609020204030204" pitchFamily="49" charset="0"/>
              </a:rPr>
              <a:t>больше, чем 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a";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}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else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{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result = "a </a:t>
            </a:r>
            <a:r>
              <a:rPr lang="ru-RU" sz="2000" b="0" i="0" dirty="0">
                <a:effectLst/>
                <a:latin typeface="Consolas" panose="020B0609020204030204" pitchFamily="49" charset="0"/>
              </a:rPr>
              <a:t>равно 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b"; </a:t>
            </a:r>
            <a:endParaRPr lang="ru-RU" sz="2000" b="0" i="0" dirty="0">
              <a:effectLst/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	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6E490-E3AE-4394-9826-66960037C1CB}"/>
              </a:ext>
            </a:extLst>
          </p:cNvPr>
          <p:cNvSpPr txBox="1"/>
          <p:nvPr/>
        </p:nvSpPr>
        <p:spPr>
          <a:xfrm>
            <a:off x="557742" y="5855727"/>
            <a:ext cx="11076516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ru-RU" sz="2000" b="0" i="0" dirty="0" err="1">
                <a:effectLst/>
                <a:latin typeface="Consolas" panose="020B0609020204030204" pitchFamily="49" charset="0"/>
              </a:rPr>
              <a:t>result</a:t>
            </a:r>
            <a:r>
              <a:rPr lang="ru-RU" sz="2000" b="0" i="0" dirty="0">
                <a:effectLst/>
                <a:latin typeface="Consolas" panose="020B0609020204030204" pitchFamily="49" charset="0"/>
              </a:rPr>
              <a:t> = a &gt; b ? "a больше, чем b" : a &lt; b ? "b больше, чем a" : "a равно b";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4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38506" y="287657"/>
            <a:ext cx="7543800" cy="858837"/>
          </a:xfrm>
        </p:spPr>
        <p:txBody>
          <a:bodyPr/>
          <a:lstStyle/>
          <a:p>
            <a:pPr eaLnBrk="1" hangingPunct="1"/>
            <a:r>
              <a:rPr lang="ru-RU" altLang="ru-RU" sz="4300" b="1" dirty="0">
                <a:solidFill>
                  <a:srgbClr val="C00000"/>
                </a:solidFill>
              </a:rPr>
              <a:t>Задача 1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7878" y="1277123"/>
            <a:ext cx="8651452" cy="4723084"/>
          </a:xfrm>
        </p:spPr>
        <p:txBody>
          <a:bodyPr>
            <a:normAutofit fontScale="92500"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ru-RU" sz="3400" b="1" dirty="0">
                <a:solidFill>
                  <a:srgbClr val="003399"/>
                </a:solidFill>
              </a:rPr>
              <a:t>  </a:t>
            </a:r>
            <a:r>
              <a:rPr lang="ru-RU" altLang="ru-RU" sz="3400" b="1" dirty="0">
                <a:solidFill>
                  <a:srgbClr val="003399"/>
                </a:solidFill>
              </a:rPr>
              <a:t> </a:t>
            </a: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Треугольник задан своими сторонами. Составить алгоритм и программу для определения, можно ли построить треугольник с такими сторонами.</a:t>
            </a:r>
          </a:p>
          <a:p>
            <a:pPr algn="just" eaLnBrk="1" hangingPunct="1">
              <a:buFont typeface="Wingdings" pitchFamily="2" charset="2"/>
              <a:buNone/>
            </a:pPr>
            <a:endParaRPr lang="ru-RU" altLang="ru-RU" sz="2400" b="1" dirty="0">
              <a:solidFill>
                <a:srgbClr val="008000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ru-RU" altLang="ru-RU" sz="2400" b="1" dirty="0">
                <a:solidFill>
                  <a:srgbClr val="008000"/>
                </a:solidFill>
              </a:rPr>
              <a:t>Математическая формулировка:</a:t>
            </a: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ru-RU" altLang="ru-RU" sz="3200" dirty="0">
                <a:solidFill>
                  <a:srgbClr val="000000"/>
                </a:solidFill>
              </a:rPr>
              <a:t>   </a:t>
            </a:r>
            <a:r>
              <a:rPr lang="ru-RU" altLang="ru-RU" sz="2400" b="1" i="1" dirty="0">
                <a:solidFill>
                  <a:srgbClr val="000000"/>
                </a:solidFill>
              </a:rPr>
              <a:t>Входные данные: </a:t>
            </a:r>
            <a:r>
              <a:rPr lang="ru-RU" altLang="ru-RU" sz="2400" dirty="0">
                <a:solidFill>
                  <a:srgbClr val="000000"/>
                </a:solidFill>
              </a:rPr>
              <a:t>длины сторон треугольника </a:t>
            </a:r>
            <a:r>
              <a:rPr lang="en-US" altLang="ru-RU" sz="2400" dirty="0">
                <a:solidFill>
                  <a:srgbClr val="FF0000"/>
                </a:solidFill>
              </a:rPr>
              <a:t>a, b, c</a:t>
            </a:r>
            <a:r>
              <a:rPr lang="ru-RU" altLang="ru-RU" sz="2400" dirty="0">
                <a:solidFill>
                  <a:srgbClr val="FF0000"/>
                </a:solidFill>
              </a:rPr>
              <a:t> </a:t>
            </a:r>
            <a:r>
              <a:rPr lang="ru-RU" altLang="ru-RU" sz="2400" dirty="0">
                <a:solidFill>
                  <a:schemeClr val="tx1"/>
                </a:solidFill>
              </a:rPr>
              <a:t>(</a:t>
            </a:r>
            <a:r>
              <a:rPr lang="en-US" altLang="ru-RU" sz="2400" dirty="0" err="1">
                <a:solidFill>
                  <a:schemeClr val="tx1"/>
                </a:solidFill>
              </a:rPr>
              <a:t>int</a:t>
            </a:r>
            <a:r>
              <a:rPr lang="en-US" altLang="ru-RU" sz="2400" dirty="0">
                <a:solidFill>
                  <a:schemeClr val="tx1"/>
                </a:solidFill>
              </a:rPr>
              <a:t>)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altLang="ru-RU" sz="2400" i="1" dirty="0">
                <a:solidFill>
                  <a:srgbClr val="000000"/>
                </a:solidFill>
              </a:rPr>
              <a:t>	</a:t>
            </a:r>
            <a:r>
              <a:rPr lang="ru-RU" altLang="ru-RU" sz="2400" b="1" i="1" dirty="0">
                <a:solidFill>
                  <a:srgbClr val="000000"/>
                </a:solidFill>
              </a:rPr>
              <a:t>Выходные данные:</a:t>
            </a:r>
            <a:r>
              <a:rPr lang="ru-RU" altLang="ru-RU" sz="2400" i="1" dirty="0">
                <a:solidFill>
                  <a:srgbClr val="000000"/>
                </a:solidFill>
              </a:rPr>
              <a:t> </a:t>
            </a:r>
            <a:r>
              <a:rPr lang="ru-RU" altLang="ru-RU" sz="2400" dirty="0">
                <a:solidFill>
                  <a:srgbClr val="000000"/>
                </a:solidFill>
              </a:rPr>
              <a:t>сообщение «Треугольник можно построить» или «Треугольник нельзя построить».</a:t>
            </a:r>
            <a:endParaRPr lang="en-US" altLang="ru-RU" sz="2400" dirty="0">
              <a:solidFill>
                <a:srgbClr val="FF0000"/>
              </a:solidFill>
            </a:endParaRP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ru-RU" altLang="ru-RU" sz="2400" dirty="0">
                <a:solidFill>
                  <a:srgbClr val="FF0000"/>
                </a:solidFill>
              </a:rPr>
              <a:t> 	</a:t>
            </a:r>
            <a:r>
              <a:rPr lang="ru-RU" altLang="ru-RU" sz="2400" b="1" i="1" dirty="0">
                <a:solidFill>
                  <a:srgbClr val="000000"/>
                </a:solidFill>
              </a:rPr>
              <a:t>Связь:</a:t>
            </a:r>
            <a:r>
              <a:rPr lang="ru-RU" altLang="ru-RU" sz="2400" dirty="0">
                <a:solidFill>
                  <a:srgbClr val="FF0000"/>
                </a:solidFill>
              </a:rPr>
              <a:t> </a:t>
            </a:r>
            <a:r>
              <a:rPr lang="ru-RU" altLang="ru-RU" sz="2400" dirty="0">
                <a:solidFill>
                  <a:srgbClr val="000000"/>
                </a:solidFill>
              </a:rPr>
              <a:t>если сумма двух любых сторон больше третьей стороны, то треугольник можно построить.</a:t>
            </a:r>
            <a:endParaRPr lang="ru-RU" altLang="ru-RU" sz="2400" dirty="0"/>
          </a:p>
        </p:txBody>
      </p:sp>
    </p:spTree>
    <p:extLst>
      <p:ext uri="{BB962C8B-B14F-4D97-AF65-F5344CB8AC3E}">
        <p14:creationId xmlns:p14="http://schemas.microsoft.com/office/powerpoint/2010/main" val="4061860515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-.5"/>
                                          </p:val>
                                        </p:tav>
                                        <p:tav tm="50000">
                                          <p:val>
                                            <p:strVal val="#ppt_w-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-.5"/>
                                          </p:val>
                                        </p:tav>
                                        <p:tav tm="100000">
                                          <p:val>
                                            <p:strVal val="ppt_w-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0">
                                          <p:val>
                                            <p:strVal val="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8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9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2" grpId="1"/>
      <p:bldP spid="92163" grpId="0" build="p"/>
      <p:bldP spid="92163" grpId="1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60" y="78377"/>
            <a:ext cx="4613229" cy="676369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0" y="339634"/>
            <a:ext cx="5730240" cy="76635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Алгоритм решения задачи 1</a:t>
            </a:r>
          </a:p>
        </p:txBody>
      </p:sp>
    </p:spTree>
    <p:extLst>
      <p:ext uri="{BB962C8B-B14F-4D97-AF65-F5344CB8AC3E}">
        <p14:creationId xmlns:p14="http://schemas.microsoft.com/office/powerpoint/2010/main" val="205808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>
          <a:xfrm>
            <a:off x="5347336" y="394562"/>
            <a:ext cx="3827463" cy="5715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3500" b="1" dirty="0">
                <a:solidFill>
                  <a:srgbClr val="C00000"/>
                </a:solidFill>
              </a:rPr>
              <a:t>Найди ошибку!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8" y="1262742"/>
            <a:ext cx="9657182" cy="403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2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Box 4"/>
          <p:cNvSpPr txBox="1">
            <a:spLocks noChangeArrowheads="1"/>
          </p:cNvSpPr>
          <p:nvPr/>
        </p:nvSpPr>
        <p:spPr bwMode="auto">
          <a:xfrm>
            <a:off x="4441372" y="319541"/>
            <a:ext cx="47884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altLang="ru-RU" sz="3200" b="1" dirty="0">
                <a:solidFill>
                  <a:srgbClr val="009900"/>
                </a:solidFill>
              </a:rPr>
              <a:t>Исправление ошибки: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98" y="1089980"/>
            <a:ext cx="9471388" cy="510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20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5208043" y="444455"/>
            <a:ext cx="3787911" cy="569912"/>
          </a:xfrm>
        </p:spPr>
        <p:txBody>
          <a:bodyPr>
            <a:noAutofit/>
          </a:bodyPr>
          <a:lstStyle/>
          <a:p>
            <a:r>
              <a:rPr lang="ru-RU" altLang="ru-RU" sz="3200" b="1" dirty="0">
                <a:solidFill>
                  <a:srgbClr val="009900"/>
                </a:solidFill>
                <a:latin typeface="+mn-lt"/>
                <a:ea typeface="+mn-ea"/>
                <a:cs typeface="+mn-cs"/>
              </a:rPr>
              <a:t>Можно и так: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96" y="1552192"/>
            <a:ext cx="8783275" cy="34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7339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FBFC1-97D0-4E8D-A393-F6B7A2F1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8538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D22A2-9BD4-4277-8062-7683C7366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9089"/>
            <a:ext cx="8596668" cy="3880773"/>
          </a:xfrm>
        </p:spPr>
        <p:txBody>
          <a:bodyPr>
            <a:normAutofit fontScale="92500"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ru-RU" altLang="ru-RU" sz="2800" dirty="0">
                <a:solidFill>
                  <a:schemeClr val="tx1"/>
                </a:solidFill>
              </a:rPr>
              <a:t>Високосный ли год?</a:t>
            </a:r>
          </a:p>
          <a:p>
            <a:pPr algn="just" eaLnBrk="1" hangingPunct="1">
              <a:buFont typeface="Wingdings" pitchFamily="2" charset="2"/>
              <a:buNone/>
            </a:pPr>
            <a:endParaRPr lang="ru-RU" altLang="ru-RU" sz="11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ru-RU" altLang="ru-RU" sz="2400" dirty="0">
                <a:solidFill>
                  <a:schemeClr val="tx1"/>
                </a:solidFill>
              </a:rPr>
              <a:t>Високосным является год, значение которого </a:t>
            </a:r>
            <a:r>
              <a:rPr lang="ru-RU" altLang="ru-RU" sz="2400" dirty="0">
                <a:solidFill>
                  <a:srgbClr val="C00000"/>
                </a:solidFill>
              </a:rPr>
              <a:t>кратно 4</a:t>
            </a:r>
            <a:r>
              <a:rPr lang="ru-RU" altLang="ru-RU" sz="2400" dirty="0">
                <a:solidFill>
                  <a:schemeClr val="tx1"/>
                </a:solidFill>
              </a:rPr>
              <a:t>, кроме тех годов, значения которых </a:t>
            </a:r>
            <a:r>
              <a:rPr lang="ru-RU" altLang="ru-RU" sz="2400" dirty="0">
                <a:solidFill>
                  <a:srgbClr val="C00000"/>
                </a:solidFill>
              </a:rPr>
              <a:t>кратно 100</a:t>
            </a:r>
            <a:r>
              <a:rPr lang="ru-RU" altLang="ru-RU" sz="2400" dirty="0">
                <a:solidFill>
                  <a:schemeClr val="tx1"/>
                </a:solidFill>
              </a:rPr>
              <a:t>, но </a:t>
            </a:r>
            <a:r>
              <a:rPr lang="ru-RU" altLang="ru-RU" sz="2400" dirty="0">
                <a:solidFill>
                  <a:srgbClr val="C00000"/>
                </a:solidFill>
              </a:rPr>
              <a:t>не кратно 400</a:t>
            </a:r>
            <a:r>
              <a:rPr lang="ru-RU" altLang="ru-RU" sz="2400" dirty="0">
                <a:solidFill>
                  <a:schemeClr val="tx1"/>
                </a:solidFill>
              </a:rPr>
              <a:t>.</a:t>
            </a:r>
          </a:p>
          <a:p>
            <a:pPr algn="just" eaLnBrk="1" hangingPunct="1">
              <a:buNone/>
            </a:pPr>
            <a:r>
              <a:rPr lang="ru-RU" altLang="ru-RU" sz="2400" b="1" dirty="0">
                <a:solidFill>
                  <a:srgbClr val="003399"/>
                </a:solidFill>
              </a:rPr>
              <a:t>Например:</a:t>
            </a:r>
            <a:r>
              <a:rPr lang="ru-RU" altLang="ru-RU" sz="2400" dirty="0">
                <a:solidFill>
                  <a:srgbClr val="003399"/>
                </a:solidFill>
              </a:rPr>
              <a:t> </a:t>
            </a:r>
          </a:p>
          <a:p>
            <a:pPr algn="just" eaLnBrk="1" hangingPunct="1">
              <a:buNone/>
            </a:pPr>
            <a:r>
              <a:rPr lang="ru-RU" altLang="ru-RU" sz="2400" dirty="0">
                <a:solidFill>
                  <a:srgbClr val="003399"/>
                </a:solidFill>
              </a:rPr>
              <a:t>	</a:t>
            </a:r>
            <a:r>
              <a:rPr lang="ru-RU" altLang="ru-RU" sz="2400" dirty="0"/>
              <a:t>1900 – нет</a:t>
            </a:r>
          </a:p>
          <a:p>
            <a:pPr algn="just" eaLnBrk="1" hangingPunct="1">
              <a:buNone/>
            </a:pPr>
            <a:r>
              <a:rPr lang="ru-RU" altLang="ru-RU" sz="2400" dirty="0"/>
              <a:t>	1997 – нет</a:t>
            </a:r>
          </a:p>
          <a:p>
            <a:pPr algn="just" eaLnBrk="1" hangingPunct="1">
              <a:buNone/>
            </a:pPr>
            <a:r>
              <a:rPr lang="ru-RU" altLang="ru-RU" sz="2400" dirty="0"/>
              <a:t>	2000 - да</a:t>
            </a:r>
          </a:p>
          <a:p>
            <a:pPr algn="just" eaLnBrk="1" hangingPunct="1">
              <a:buNone/>
            </a:pPr>
            <a:r>
              <a:rPr lang="ru-RU" altLang="ru-RU" sz="2400" dirty="0"/>
              <a:t>	2004 - да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27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множественного ветвления </a:t>
            </a:r>
            <a:r>
              <a:rPr lang="en-US" dirty="0"/>
              <a:t>switch</a:t>
            </a:r>
            <a:endParaRPr lang="ru-RU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202204" y="2159725"/>
          <a:ext cx="4438608" cy="3675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Visio" r:id="rId3" imgW="3212026" imgH="2806769" progId="">
                  <p:embed/>
                </p:oleObj>
              </mc:Choice>
              <mc:Fallback>
                <p:oleObj name="Visio" r:id="rId3" imgW="3212026" imgH="2806769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04" y="2159725"/>
                        <a:ext cx="4438608" cy="36750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5039957" y="2159891"/>
            <a:ext cx="4830185" cy="3674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b="1" kern="0" dirty="0">
                <a:solidFill>
                  <a:srgbClr val="000000"/>
                </a:solidFill>
                <a:cs typeface="Consolas" pitchFamily="49" charset="0"/>
              </a:rPr>
              <a:t>switch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 </a:t>
            </a:r>
            <a:r>
              <a:rPr lang="ru-RU" altLang="ru-RU" sz="2400" b="1" kern="0" dirty="0">
                <a:solidFill>
                  <a:srgbClr val="009900"/>
                </a:solidFill>
                <a:cs typeface="Consolas" pitchFamily="49" charset="0"/>
              </a:rPr>
              <a:t>(</a:t>
            </a:r>
            <a:r>
              <a:rPr lang="en-US" altLang="ru-RU" sz="2400" b="1" kern="0" dirty="0">
                <a:solidFill>
                  <a:srgbClr val="009900"/>
                </a:solidFill>
                <a:cs typeface="Consolas" pitchFamily="49" charset="0"/>
              </a:rPr>
              <a:t>P</a:t>
            </a:r>
            <a:r>
              <a:rPr lang="ru-RU" altLang="ru-RU" sz="2400" b="1" kern="0" dirty="0">
                <a:solidFill>
                  <a:srgbClr val="009900"/>
                </a:solidFill>
                <a:cs typeface="Consolas" pitchFamily="49" charset="0"/>
              </a:rPr>
              <a:t>)</a:t>
            </a:r>
            <a:r>
              <a:rPr lang="ru-RU" altLang="ru-RU" sz="2400" kern="0" dirty="0">
                <a:solidFill>
                  <a:srgbClr val="000000"/>
                </a:solidFill>
                <a:cs typeface="Consolas" pitchFamily="49" charset="0"/>
              </a:rPr>
              <a:t>     </a:t>
            </a:r>
            <a:endParaRPr lang="en-US" altLang="ru-RU" sz="2400" kern="0" dirty="0">
              <a:solidFill>
                <a:srgbClr val="000000"/>
              </a:solidFill>
              <a:cs typeface="Consolas" pitchFamily="49" charset="0"/>
            </a:endParaRP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b="1" kern="0" dirty="0">
                <a:solidFill>
                  <a:srgbClr val="000000"/>
                </a:solidFill>
                <a:cs typeface="Consolas" pitchFamily="49" charset="0"/>
              </a:rPr>
              <a:t>{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	</a:t>
            </a: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	case 1: </a:t>
            </a:r>
            <a:r>
              <a:rPr lang="ru-RU" altLang="ru-RU" sz="2400" kern="0" dirty="0">
                <a:solidFill>
                  <a:srgbClr val="FF0000"/>
                </a:solidFill>
                <a:cs typeface="Consolas" pitchFamily="49" charset="0"/>
              </a:rPr>
              <a:t>оператор </a:t>
            </a:r>
            <a:r>
              <a:rPr lang="en-US" altLang="ru-RU" sz="2400" kern="0" dirty="0">
                <a:solidFill>
                  <a:srgbClr val="FF0000"/>
                </a:solidFill>
                <a:cs typeface="Consolas" pitchFamily="49" charset="0"/>
              </a:rPr>
              <a:t>1; 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break;</a:t>
            </a: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kern="0" dirty="0">
                <a:solidFill>
                  <a:srgbClr val="FF0000"/>
                </a:solidFill>
                <a:cs typeface="Consolas" pitchFamily="49" charset="0"/>
              </a:rPr>
              <a:t>	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case 2:</a:t>
            </a:r>
            <a:r>
              <a:rPr lang="en-US" altLang="ru-RU" sz="2400" kern="0" dirty="0">
                <a:solidFill>
                  <a:srgbClr val="FF0000"/>
                </a:solidFill>
                <a:cs typeface="Consolas" pitchFamily="49" charset="0"/>
              </a:rPr>
              <a:t> </a:t>
            </a:r>
            <a:r>
              <a:rPr lang="ru-RU" altLang="ru-RU" sz="2400" kern="0" dirty="0">
                <a:solidFill>
                  <a:srgbClr val="FF0000"/>
                </a:solidFill>
                <a:cs typeface="Consolas" pitchFamily="49" charset="0"/>
              </a:rPr>
              <a:t>оператор 2</a:t>
            </a:r>
            <a:r>
              <a:rPr lang="en-US" altLang="ru-RU" sz="2400" kern="0" dirty="0">
                <a:solidFill>
                  <a:srgbClr val="FF0066"/>
                </a:solidFill>
                <a:cs typeface="Consolas" pitchFamily="49" charset="0"/>
              </a:rPr>
              <a:t>; 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break;</a:t>
            </a:r>
            <a:endParaRPr lang="ru-RU" altLang="ru-RU" sz="2400" kern="0" dirty="0">
              <a:solidFill>
                <a:srgbClr val="000000"/>
              </a:solidFill>
              <a:cs typeface="Consolas" pitchFamily="49" charset="0"/>
            </a:endParaRP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ru-RU" altLang="ru-RU" sz="2400" kern="0" dirty="0">
                <a:solidFill>
                  <a:srgbClr val="000000"/>
                </a:solidFill>
                <a:cs typeface="Consolas" pitchFamily="49" charset="0"/>
              </a:rPr>
              <a:t>	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case 3: case 5: case 7: </a:t>
            </a: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			 </a:t>
            </a:r>
            <a:r>
              <a:rPr lang="ru-RU" altLang="ru-RU" sz="2400" kern="0" dirty="0">
                <a:solidFill>
                  <a:srgbClr val="FF0000"/>
                </a:solidFill>
                <a:cs typeface="Consolas" pitchFamily="49" charset="0"/>
              </a:rPr>
              <a:t>оператор </a:t>
            </a:r>
            <a:r>
              <a:rPr lang="en-US" altLang="ru-RU" sz="2400" kern="0" dirty="0">
                <a:solidFill>
                  <a:srgbClr val="FF0000"/>
                </a:solidFill>
                <a:cs typeface="Consolas" pitchFamily="49" charset="0"/>
              </a:rPr>
              <a:t>3</a:t>
            </a:r>
            <a:r>
              <a:rPr lang="en-US" altLang="ru-RU" sz="2400" kern="0" dirty="0">
                <a:solidFill>
                  <a:srgbClr val="FF0066"/>
                </a:solidFill>
                <a:cs typeface="Consolas" pitchFamily="49" charset="0"/>
              </a:rPr>
              <a:t>; 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break;</a:t>
            </a:r>
            <a:endParaRPr lang="en-US" altLang="ru-RU" sz="2400" kern="0" dirty="0">
              <a:solidFill>
                <a:srgbClr val="FF0066"/>
              </a:solidFill>
              <a:cs typeface="Consolas" pitchFamily="49" charset="0"/>
            </a:endParaRP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kern="0" dirty="0">
                <a:solidFill>
                  <a:srgbClr val="FF0066"/>
                </a:solidFill>
                <a:cs typeface="Consolas" pitchFamily="49" charset="0"/>
              </a:rPr>
              <a:t>        …</a:t>
            </a: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	default: </a:t>
            </a:r>
            <a:r>
              <a:rPr lang="ru-RU" altLang="ru-RU" sz="2400" kern="0" dirty="0">
                <a:solidFill>
                  <a:srgbClr val="FF0000"/>
                </a:solidFill>
                <a:cs typeface="Consolas" pitchFamily="49" charset="0"/>
              </a:rPr>
              <a:t>оператор</a:t>
            </a:r>
            <a:r>
              <a:rPr lang="en-US" altLang="ru-RU" sz="2400" kern="0" dirty="0">
                <a:solidFill>
                  <a:srgbClr val="FF0000"/>
                </a:solidFill>
                <a:cs typeface="Consolas" pitchFamily="49" charset="0"/>
              </a:rPr>
              <a:t> n;</a:t>
            </a:r>
            <a:r>
              <a:rPr lang="en-US" altLang="ru-RU" sz="2400" kern="0" dirty="0">
                <a:solidFill>
                  <a:srgbClr val="000000"/>
                </a:solidFill>
                <a:cs typeface="Consolas" pitchFamily="49" charset="0"/>
              </a:rPr>
              <a:t> break;</a:t>
            </a:r>
            <a:r>
              <a:rPr lang="en-US" altLang="ru-RU" sz="2400" b="1" kern="0" dirty="0">
                <a:solidFill>
                  <a:srgbClr val="000000"/>
                </a:solidFill>
                <a:cs typeface="Consolas" pitchFamily="49" charset="0"/>
              </a:rPr>
              <a:t> </a:t>
            </a:r>
          </a:p>
          <a:p>
            <a:pPr marL="342900" lvl="0" indent="-34290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66"/>
              </a:buClr>
              <a:buSzPct val="80000"/>
            </a:pPr>
            <a:r>
              <a:rPr lang="en-US" altLang="ru-RU" sz="2400" b="1" kern="0" dirty="0">
                <a:solidFill>
                  <a:srgbClr val="000000"/>
                </a:solidFill>
                <a:cs typeface="Consolas" pitchFamily="49" charset="0"/>
              </a:rPr>
              <a:t>}</a:t>
            </a:r>
            <a:endParaRPr lang="ru-RU" altLang="ru-RU" sz="2400" b="1" kern="0" dirty="0">
              <a:solidFill>
                <a:srgbClr val="000000"/>
              </a:solidFill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9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233AB-A50F-4E1F-A983-68EAD509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58278D-5F74-4F2A-811A-2918EE1A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6714"/>
            <a:ext cx="8596668" cy="4441357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программу, которая по номеру месяца определяет количество дней в этом 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месяце</a:t>
            </a:r>
            <a:r>
              <a:rPr lang="ru-RU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ru-RU" altLang="ru-RU" sz="2800" b="1" dirty="0">
                <a:solidFill>
                  <a:srgbClr val="008000"/>
                </a:solidFill>
              </a:rPr>
              <a:t>Математическая формулировка:</a:t>
            </a:r>
          </a:p>
          <a:p>
            <a:pPr algn="just">
              <a:spcBef>
                <a:spcPts val="1200"/>
              </a:spcBef>
              <a:buNone/>
            </a:pPr>
            <a:r>
              <a:rPr lang="ru-RU" altLang="ru-RU" sz="3600" dirty="0">
                <a:solidFill>
                  <a:srgbClr val="000000"/>
                </a:solidFill>
              </a:rPr>
              <a:t>   </a:t>
            </a:r>
            <a:r>
              <a:rPr lang="ru-RU" altLang="ru-RU" sz="2800" b="1" i="1" dirty="0">
                <a:solidFill>
                  <a:srgbClr val="000000"/>
                </a:solidFill>
              </a:rPr>
              <a:t>Входные данные: </a:t>
            </a:r>
            <a:r>
              <a:rPr lang="ru-RU" altLang="ru-RU" sz="2800" i="1" dirty="0" smtClean="0">
                <a:solidFill>
                  <a:srgbClr val="000000"/>
                </a:solidFill>
              </a:rPr>
              <a:t>номер месяца </a:t>
            </a:r>
            <a:r>
              <a:rPr lang="en-US" altLang="ru-RU" sz="2800" dirty="0" smtClean="0">
                <a:solidFill>
                  <a:srgbClr val="FF0000"/>
                </a:solidFill>
              </a:rPr>
              <a:t>month</a:t>
            </a:r>
            <a:r>
              <a:rPr lang="ru-RU" altLang="ru-RU" sz="2800" dirty="0" smtClean="0">
                <a:solidFill>
                  <a:srgbClr val="FF0000"/>
                </a:solidFill>
              </a:rPr>
              <a:t> </a:t>
            </a:r>
            <a:r>
              <a:rPr lang="ru-RU" altLang="ru-RU" sz="2800" dirty="0" smtClean="0">
                <a:solidFill>
                  <a:schemeClr val="tx1"/>
                </a:solidFill>
              </a:rPr>
              <a:t>(</a:t>
            </a:r>
            <a:r>
              <a:rPr lang="en-US" altLang="ru-RU" sz="2800" dirty="0" smtClean="0">
                <a:solidFill>
                  <a:schemeClr val="tx1"/>
                </a:solidFill>
              </a:rPr>
              <a:t>byte), </a:t>
            </a:r>
            <a:r>
              <a:rPr lang="ru-RU" altLang="ru-RU" sz="2800" dirty="0" smtClean="0">
                <a:solidFill>
                  <a:schemeClr val="tx1"/>
                </a:solidFill>
              </a:rPr>
              <a:t>должен быть от 1 до 12</a:t>
            </a:r>
            <a:endParaRPr lang="en-US" altLang="ru-RU" sz="2800" dirty="0">
              <a:solidFill>
                <a:schemeClr val="tx1"/>
              </a:solidFill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altLang="ru-RU" sz="2800" i="1" dirty="0">
                <a:solidFill>
                  <a:srgbClr val="000000"/>
                </a:solidFill>
              </a:rPr>
              <a:t>	</a:t>
            </a:r>
            <a:r>
              <a:rPr lang="ru-RU" altLang="ru-RU" sz="2800" b="1" i="1" dirty="0">
                <a:solidFill>
                  <a:srgbClr val="000000"/>
                </a:solidFill>
              </a:rPr>
              <a:t>Выходные данные:</a:t>
            </a:r>
            <a:r>
              <a:rPr lang="ru-RU" altLang="ru-RU" sz="2800" i="1" dirty="0">
                <a:solidFill>
                  <a:srgbClr val="000000"/>
                </a:solidFill>
              </a:rPr>
              <a:t> </a:t>
            </a:r>
            <a:r>
              <a:rPr lang="ru-RU" altLang="ru-RU" sz="2800" i="1" dirty="0" smtClean="0">
                <a:solidFill>
                  <a:srgbClr val="000000"/>
                </a:solidFill>
              </a:rPr>
              <a:t>количество дней в этом месяце </a:t>
            </a:r>
            <a:r>
              <a:rPr lang="en-US" altLang="ru-RU" sz="2800" dirty="0">
                <a:solidFill>
                  <a:srgbClr val="FF0000"/>
                </a:solidFill>
              </a:rPr>
              <a:t>days</a:t>
            </a:r>
            <a:r>
              <a:rPr lang="en-US" altLang="ru-RU" sz="2800" i="1" dirty="0" smtClean="0">
                <a:solidFill>
                  <a:srgbClr val="000000"/>
                </a:solidFill>
              </a:rPr>
              <a:t> (byte).</a:t>
            </a:r>
          </a:p>
        </p:txBody>
      </p:sp>
    </p:spTree>
    <p:extLst>
      <p:ext uri="{BB962C8B-B14F-4D97-AF65-F5344CB8AC3E}">
        <p14:creationId xmlns:p14="http://schemas.microsoft.com/office/powerpoint/2010/main" val="378336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930400"/>
            <a:ext cx="9002125" cy="388077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ru-RU" altLang="ru-RU" sz="2800" dirty="0"/>
              <a:t>С известным числом повторений</a:t>
            </a:r>
            <a:endParaRPr lang="en-US" altLang="ru-RU" sz="2800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altLang="ru-RU" sz="600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altLang="ru-RU" sz="2800" dirty="0"/>
              <a:t>С неизвестным числом повторений (с условием):</a:t>
            </a:r>
            <a:endParaRPr lang="en-US" altLang="ru-RU" sz="28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ru-RU" altLang="ru-RU" sz="2800" dirty="0"/>
              <a:t> с постусловием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ru-RU" altLang="ru-RU" sz="2800" dirty="0"/>
              <a:t> с предусловием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145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Циклический процесс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91032"/>
            <a:ext cx="8596668" cy="3880773"/>
          </a:xfrm>
        </p:spPr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ru-RU" altLang="ru-RU" sz="2800" dirty="0"/>
              <a:t>Циклическим называется такой вычислительный процесс, в котором группа действий выполняется заданное количество раз, или столько раз, сколько необходимо для достижения некоторых условий. 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endParaRPr lang="ru-RU" altLang="ru-RU" sz="2800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ru-RU" altLang="ru-RU" sz="2800" dirty="0"/>
              <a:t>Каждый раз эта группа действий обычно применяется к </a:t>
            </a:r>
            <a:r>
              <a:rPr lang="ru-RU" altLang="ru-RU" sz="2800" dirty="0">
                <a:solidFill>
                  <a:srgbClr val="FF0000"/>
                </a:solidFill>
              </a:rPr>
              <a:t>новой совокупности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561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1554" y="698864"/>
            <a:ext cx="8917577" cy="711925"/>
          </a:xfrm>
        </p:spPr>
        <p:txBody>
          <a:bodyPr/>
          <a:lstStyle/>
          <a:p>
            <a:r>
              <a:rPr lang="ru-RU" altLang="ru-RU" b="1" dirty="0"/>
              <a:t>Цикл с известным числом повторений</a:t>
            </a:r>
            <a:endParaRPr lang="ru-RU" altLang="ru-RU" dirty="0">
              <a:solidFill>
                <a:schemeClr val="accent1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2789" y="1813153"/>
            <a:ext cx="8646341" cy="3342321"/>
          </a:xfrm>
        </p:spPr>
        <p:txBody>
          <a:bodyPr/>
          <a:lstStyle/>
          <a:p>
            <a:pPr algn="just">
              <a:spcBef>
                <a:spcPts val="1200"/>
              </a:spcBef>
              <a:buNone/>
            </a:pPr>
            <a:r>
              <a:rPr lang="en-US" altLang="ru-RU" sz="2800" dirty="0"/>
              <a:t>for 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=</a:t>
            </a:r>
            <a:r>
              <a:rPr lang="ru-RU" altLang="ru-RU" sz="2800" dirty="0"/>
              <a:t> </a:t>
            </a:r>
            <a:r>
              <a:rPr lang="en-US" altLang="ru-RU" sz="2800" dirty="0"/>
              <a:t>n;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&lt;=</a:t>
            </a:r>
            <a:r>
              <a:rPr lang="ru-RU" altLang="ru-RU" sz="2800" dirty="0"/>
              <a:t> </a:t>
            </a:r>
            <a:r>
              <a:rPr lang="en-US" altLang="ru-RU" sz="2800" dirty="0"/>
              <a:t>k; </a:t>
            </a:r>
            <a:r>
              <a:rPr lang="en-US" altLang="ru-RU" sz="2800" dirty="0" err="1"/>
              <a:t>i</a:t>
            </a:r>
            <a:r>
              <a:rPr lang="en-US" altLang="ru-RU" sz="2800" dirty="0"/>
              <a:t>++)  S;</a:t>
            </a:r>
          </a:p>
          <a:p>
            <a:pPr algn="just">
              <a:spcBef>
                <a:spcPts val="300"/>
              </a:spcBef>
              <a:buNone/>
            </a:pPr>
            <a:r>
              <a:rPr lang="en-US" altLang="ru-RU" sz="2800" dirty="0">
                <a:solidFill>
                  <a:srgbClr val="26A020"/>
                </a:solidFill>
              </a:rPr>
              <a:t>// S-</a:t>
            </a:r>
            <a:r>
              <a:rPr lang="ru-RU" altLang="ru-RU" sz="2800" dirty="0">
                <a:solidFill>
                  <a:srgbClr val="26A020"/>
                </a:solidFill>
              </a:rPr>
              <a:t>оператор,</a:t>
            </a:r>
            <a:r>
              <a:rPr lang="en-US" altLang="ru-RU" sz="2800" dirty="0">
                <a:solidFill>
                  <a:srgbClr val="26A020"/>
                </a:solidFill>
              </a:rPr>
              <a:t> </a:t>
            </a:r>
            <a:r>
              <a:rPr lang="ru-RU" altLang="ru-RU" sz="2800" dirty="0">
                <a:solidFill>
                  <a:srgbClr val="26A020"/>
                </a:solidFill>
              </a:rPr>
              <a:t>повторяемый в цикле</a:t>
            </a:r>
            <a:r>
              <a:rPr lang="en-US" altLang="ru-RU" sz="2800" dirty="0">
                <a:solidFill>
                  <a:srgbClr val="26A020"/>
                </a:solidFill>
              </a:rPr>
              <a:t>,</a:t>
            </a:r>
            <a:r>
              <a:rPr lang="ru-RU" altLang="ru-RU" sz="2800" dirty="0">
                <a:solidFill>
                  <a:srgbClr val="26A020"/>
                </a:solidFill>
              </a:rPr>
              <a:t> шаг равен 1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altLang="ru-RU" sz="2800" dirty="0"/>
              <a:t>for (</a:t>
            </a:r>
            <a:r>
              <a:rPr lang="en-US" altLang="ru-RU" sz="2800" dirty="0" err="1"/>
              <a:t>int</a:t>
            </a:r>
            <a:r>
              <a:rPr lang="en-US" altLang="ru-RU" sz="2800" dirty="0"/>
              <a:t>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=</a:t>
            </a:r>
            <a:r>
              <a:rPr lang="ru-RU" altLang="ru-RU" sz="2800" dirty="0"/>
              <a:t> </a:t>
            </a:r>
            <a:r>
              <a:rPr lang="en-US" altLang="ru-RU" sz="2800" dirty="0"/>
              <a:t>k;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&gt;=</a:t>
            </a:r>
            <a:r>
              <a:rPr lang="ru-RU" altLang="ru-RU" sz="2800" dirty="0"/>
              <a:t> </a:t>
            </a:r>
            <a:r>
              <a:rPr lang="en-US" altLang="ru-RU" sz="2800" dirty="0"/>
              <a:t>n; </a:t>
            </a:r>
            <a:r>
              <a:rPr lang="en-US" altLang="ru-RU" sz="2800" dirty="0" err="1"/>
              <a:t>i</a:t>
            </a:r>
            <a:r>
              <a:rPr lang="en-US" altLang="ru-RU" sz="2800" dirty="0"/>
              <a:t>--)   S;</a:t>
            </a:r>
          </a:p>
          <a:p>
            <a:pPr algn="just">
              <a:spcBef>
                <a:spcPts val="300"/>
              </a:spcBef>
              <a:buNone/>
            </a:pPr>
            <a:r>
              <a:rPr lang="en-US" altLang="ru-RU" sz="2800" dirty="0"/>
              <a:t>   </a:t>
            </a:r>
            <a:r>
              <a:rPr lang="en-US" altLang="ru-RU" sz="2800" dirty="0">
                <a:solidFill>
                  <a:srgbClr val="26A020"/>
                </a:solidFill>
              </a:rPr>
              <a:t>// </a:t>
            </a:r>
            <a:r>
              <a:rPr lang="ru-RU" altLang="ru-RU" sz="2800" dirty="0">
                <a:solidFill>
                  <a:srgbClr val="26A020"/>
                </a:solidFill>
              </a:rPr>
              <a:t>шаг равен -1</a:t>
            </a:r>
            <a:endParaRPr lang="en-US" altLang="ru-RU" sz="2800" dirty="0">
              <a:solidFill>
                <a:srgbClr val="26A020"/>
              </a:solidFill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altLang="ru-RU" sz="2800" dirty="0"/>
              <a:t>for (double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=</a:t>
            </a:r>
            <a:r>
              <a:rPr lang="ru-RU" altLang="ru-RU" sz="2800" dirty="0"/>
              <a:t> </a:t>
            </a:r>
            <a:r>
              <a:rPr lang="en-US" altLang="ru-RU" sz="2800" dirty="0"/>
              <a:t>n;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&lt;=</a:t>
            </a:r>
            <a:r>
              <a:rPr lang="ru-RU" altLang="ru-RU" sz="2800" dirty="0"/>
              <a:t> </a:t>
            </a:r>
            <a:r>
              <a:rPr lang="en-US" altLang="ru-RU" sz="2800" dirty="0"/>
              <a:t>k;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+=0.25)   S;</a:t>
            </a:r>
          </a:p>
          <a:p>
            <a:pPr algn="just">
              <a:spcBef>
                <a:spcPts val="300"/>
              </a:spcBef>
              <a:buNone/>
            </a:pPr>
            <a:r>
              <a:rPr lang="en-US" altLang="ru-RU" sz="2800" dirty="0"/>
              <a:t>   </a:t>
            </a:r>
            <a:r>
              <a:rPr lang="en-US" altLang="ru-RU" sz="2800" dirty="0">
                <a:solidFill>
                  <a:srgbClr val="26A020"/>
                </a:solidFill>
              </a:rPr>
              <a:t>// </a:t>
            </a:r>
            <a:r>
              <a:rPr lang="ru-RU" altLang="ru-RU" sz="2800" dirty="0">
                <a:solidFill>
                  <a:srgbClr val="26A020"/>
                </a:solidFill>
              </a:rPr>
              <a:t>шаг равен </a:t>
            </a:r>
            <a:r>
              <a:rPr lang="en-US" altLang="ru-RU" sz="2800" dirty="0">
                <a:solidFill>
                  <a:srgbClr val="26A020"/>
                </a:solidFill>
              </a:rPr>
              <a:t>+0.25</a:t>
            </a:r>
            <a:endParaRPr lang="ru-RU" altLang="ru-RU" sz="2800" dirty="0">
              <a:solidFill>
                <a:srgbClr val="26A020"/>
              </a:solidFill>
            </a:endParaRPr>
          </a:p>
          <a:p>
            <a:pPr algn="just">
              <a:spcBef>
                <a:spcPts val="300"/>
              </a:spcBef>
              <a:buNone/>
            </a:pPr>
            <a:endParaRPr lang="ru-RU" altLang="ru-RU" sz="2800" dirty="0">
              <a:solidFill>
                <a:srgbClr val="009999"/>
              </a:solidFill>
            </a:endParaRPr>
          </a:p>
          <a:p>
            <a:pPr algn="just">
              <a:buFont typeface="Monotype Sorts" pitchFamily="2" charset="2"/>
              <a:buNone/>
            </a:pPr>
            <a:endParaRPr lang="ru-RU" altLang="ru-RU" dirty="0">
              <a:solidFill>
                <a:srgbClr val="00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34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00594"/>
            <a:ext cx="8596668" cy="670560"/>
          </a:xfrm>
        </p:spPr>
        <p:txBody>
          <a:bodyPr/>
          <a:lstStyle/>
          <a:p>
            <a:r>
              <a:rPr lang="ru-RU" i="1" dirty="0"/>
              <a:t>Примеры использования цикла </a:t>
            </a:r>
            <a:r>
              <a:rPr lang="en-US" dirty="0"/>
              <a:t>for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93325"/>
            <a:ext cx="4695855" cy="117829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147384"/>
            <a:ext cx="6724952" cy="2605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314" y="1546323"/>
            <a:ext cx="201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Пример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314" y="3618963"/>
            <a:ext cx="201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Пример 2</a:t>
            </a:r>
          </a:p>
        </p:txBody>
      </p:sp>
    </p:spTree>
    <p:extLst>
      <p:ext uri="{BB962C8B-B14F-4D97-AF65-F5344CB8AC3E}">
        <p14:creationId xmlns:p14="http://schemas.microsoft.com/office/powerpoint/2010/main" val="95686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33494" y="513806"/>
            <a:ext cx="8596668" cy="775063"/>
          </a:xfrm>
        </p:spPr>
        <p:txBody>
          <a:bodyPr>
            <a:normAutofit/>
          </a:bodyPr>
          <a:lstStyle/>
          <a:p>
            <a:r>
              <a:rPr lang="ru-RU" altLang="ru-RU" sz="3200" b="1" i="1" dirty="0"/>
              <a:t>Если в теле цикла несколько действий: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273" y="1538107"/>
            <a:ext cx="8190138" cy="4322762"/>
          </a:xfrm>
        </p:spPr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ru-RU" sz="2800" dirty="0"/>
              <a:t>for (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=</a:t>
            </a:r>
            <a:r>
              <a:rPr lang="ru-RU" altLang="ru-RU" sz="2800" dirty="0"/>
              <a:t> </a:t>
            </a:r>
            <a:r>
              <a:rPr lang="en-US" altLang="ru-RU" sz="2800" dirty="0"/>
              <a:t>n; </a:t>
            </a:r>
            <a:r>
              <a:rPr lang="en-US" altLang="ru-RU" sz="2800" dirty="0" err="1"/>
              <a:t>i</a:t>
            </a:r>
            <a:r>
              <a:rPr lang="ru-RU" altLang="ru-RU" sz="2800" dirty="0"/>
              <a:t> </a:t>
            </a:r>
            <a:r>
              <a:rPr lang="en-US" altLang="ru-RU" sz="2800" dirty="0"/>
              <a:t>&lt;=</a:t>
            </a:r>
            <a:r>
              <a:rPr lang="ru-RU" altLang="ru-RU" sz="2800" dirty="0"/>
              <a:t> </a:t>
            </a:r>
            <a:r>
              <a:rPr lang="en-US" altLang="ru-RU" sz="2800" dirty="0"/>
              <a:t>k; </a:t>
            </a:r>
            <a:r>
              <a:rPr lang="en-US" altLang="ru-RU" sz="2800" dirty="0" err="1"/>
              <a:t>i</a:t>
            </a:r>
            <a:r>
              <a:rPr lang="en-US" altLang="ru-RU" sz="2800" dirty="0"/>
              <a:t>++)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ru-RU" sz="2800" b="1" dirty="0"/>
              <a:t>{</a:t>
            </a:r>
            <a:r>
              <a:rPr lang="en-US" altLang="ru-RU" sz="2800" dirty="0"/>
              <a:t>  S1;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ru-RU" sz="2800" dirty="0"/>
              <a:t>   S2;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ru-RU" sz="2800" dirty="0"/>
              <a:t>     …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ru-RU" sz="2800" dirty="0"/>
              <a:t>   Sn;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ru-RU" sz="2800" b="1" dirty="0"/>
              <a:t> }</a:t>
            </a:r>
            <a:r>
              <a:rPr lang="en-US" altLang="ru-RU" sz="2800" dirty="0"/>
              <a:t>	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ru-RU" sz="2800" dirty="0">
                <a:solidFill>
                  <a:srgbClr val="C00000"/>
                </a:solidFill>
              </a:rPr>
              <a:t>	</a:t>
            </a:r>
            <a:r>
              <a:rPr lang="en-US" altLang="ru-RU" sz="2800" dirty="0">
                <a:solidFill>
                  <a:srgbClr val="26A020"/>
                </a:solidFill>
              </a:rPr>
              <a:t>// S1-Sn </a:t>
            </a:r>
            <a:r>
              <a:rPr lang="ru-RU" altLang="ru-RU" sz="2800" dirty="0">
                <a:solidFill>
                  <a:srgbClr val="26A020"/>
                </a:solidFill>
              </a:rPr>
              <a:t>операторы, повторяемые в цикле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97951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 с условием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2312557"/>
          </a:xfrm>
        </p:spPr>
        <p:txBody>
          <a:bodyPr/>
          <a:lstStyle/>
          <a:p>
            <a:r>
              <a:rPr lang="ru-RU" sz="2400" dirty="0"/>
              <a:t>Если число повторений цикла заранее не известно, используем операторы цикла с условием. </a:t>
            </a:r>
          </a:p>
          <a:p>
            <a:r>
              <a:rPr lang="ru-RU" sz="2400" dirty="0"/>
              <a:t>Цикл продолжается, пока истинно указанное условие повторения, и завершается, если условие становится ложно.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954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>
          <a:xfrm>
            <a:off x="176984" y="275999"/>
            <a:ext cx="7196138" cy="576262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b="1" dirty="0"/>
              <a:t>Алгоритм цикла с условием</a:t>
            </a:r>
          </a:p>
        </p:txBody>
      </p:sp>
      <p:graphicFrame>
        <p:nvGraphicFramePr>
          <p:cNvPr id="143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723520"/>
              </p:ext>
            </p:extLst>
          </p:nvPr>
        </p:nvGraphicFramePr>
        <p:xfrm>
          <a:off x="1495516" y="1056095"/>
          <a:ext cx="6337300" cy="568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Visio" r:id="rId3" imgW="4865684" imgH="4510860" progId="">
                  <p:embed/>
                </p:oleObj>
              </mc:Choice>
              <mc:Fallback>
                <p:oleObj name="Visio" r:id="rId3" imgW="4865684" imgH="451086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516" y="1056095"/>
                        <a:ext cx="6337300" cy="568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12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64937" y="357052"/>
            <a:ext cx="7705725" cy="981075"/>
          </a:xfrm>
        </p:spPr>
        <p:txBody>
          <a:bodyPr/>
          <a:lstStyle/>
          <a:p>
            <a:r>
              <a:rPr lang="ru-RU" altLang="ru-RU" b="1" dirty="0"/>
              <a:t>Цикл с предусловием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9996" y="1198790"/>
            <a:ext cx="9618072" cy="5876925"/>
          </a:xfrm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r>
              <a:rPr lang="ru-RU" sz="3600" dirty="0"/>
              <a:t>	</a:t>
            </a:r>
            <a:r>
              <a:rPr lang="en-US" sz="2800" dirty="0"/>
              <a:t>while </a:t>
            </a:r>
            <a:r>
              <a:rPr lang="ru-RU" sz="2800" dirty="0"/>
              <a:t>(условие)</a:t>
            </a:r>
            <a:r>
              <a:rPr lang="en-US" sz="2800" dirty="0"/>
              <a:t>  S;</a:t>
            </a:r>
          </a:p>
          <a:p>
            <a:pPr>
              <a:buFont typeface="Monotype Sorts" pitchFamily="2" charset="2"/>
              <a:buNone/>
              <a:defRPr/>
            </a:pPr>
            <a:endParaRPr lang="ru-RU" sz="2800" dirty="0"/>
          </a:p>
          <a:p>
            <a:pPr>
              <a:buFont typeface="Monotype Sorts" pitchFamily="2" charset="2"/>
              <a:buNone/>
              <a:defRPr/>
            </a:pPr>
            <a:r>
              <a:rPr lang="ru-RU" sz="28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Если в теле цикла предусмотрено несколько действий</a:t>
            </a:r>
            <a:r>
              <a:rPr lang="en-US" sz="28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buFont typeface="Monotype Sorts" pitchFamily="2" charset="2"/>
              <a:buNone/>
              <a:defRPr/>
            </a:pPr>
            <a:r>
              <a:rPr lang="ru-RU" sz="2800" dirty="0"/>
              <a:t>	</a:t>
            </a:r>
            <a:r>
              <a:rPr lang="en-US" sz="2800" dirty="0"/>
              <a:t>while </a:t>
            </a:r>
            <a:r>
              <a:rPr lang="ru-RU" sz="2800" dirty="0"/>
              <a:t>(условие)</a:t>
            </a:r>
            <a:endParaRPr lang="en-US" sz="2800" dirty="0"/>
          </a:p>
          <a:p>
            <a:pPr>
              <a:buFont typeface="Monotype Sorts" pitchFamily="2" charset="2"/>
              <a:buNone/>
              <a:defRPr/>
            </a:pPr>
            <a:r>
              <a:rPr lang="ru-RU" sz="2800" dirty="0"/>
              <a:t>	</a:t>
            </a:r>
            <a:r>
              <a:rPr lang="en-US" sz="2800" b="1" dirty="0"/>
              <a:t>{</a:t>
            </a:r>
            <a:r>
              <a:rPr lang="en-US" sz="2800" dirty="0"/>
              <a:t>	S1;</a:t>
            </a:r>
          </a:p>
          <a:p>
            <a:pPr>
              <a:buFont typeface="Monotype Sorts" pitchFamily="2" charset="2"/>
              <a:buNone/>
              <a:defRPr/>
            </a:pPr>
            <a:r>
              <a:rPr lang="ru-RU" sz="2800" dirty="0"/>
              <a:t>		    </a:t>
            </a:r>
            <a:r>
              <a:rPr lang="en-US" sz="2800" dirty="0"/>
              <a:t>S2;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800" dirty="0"/>
              <a:t> </a:t>
            </a:r>
            <a:r>
              <a:rPr lang="ru-RU" sz="2800" dirty="0"/>
              <a:t>		    </a:t>
            </a:r>
            <a:r>
              <a:rPr lang="en-US" sz="2800" dirty="0"/>
              <a:t>…</a:t>
            </a:r>
          </a:p>
          <a:p>
            <a:pPr>
              <a:buFont typeface="Monotype Sorts" pitchFamily="2" charset="2"/>
              <a:buNone/>
              <a:defRPr/>
            </a:pPr>
            <a:r>
              <a:rPr lang="ru-RU" sz="2800" dirty="0"/>
              <a:t>		    </a:t>
            </a:r>
            <a:r>
              <a:rPr lang="en-US" sz="2800" dirty="0"/>
              <a:t>Sn;</a:t>
            </a:r>
          </a:p>
          <a:p>
            <a:pPr>
              <a:buFont typeface="Monotype Sorts" pitchFamily="2" charset="2"/>
              <a:buNone/>
              <a:defRPr/>
            </a:pPr>
            <a:r>
              <a:rPr lang="ru-RU" sz="2800" dirty="0"/>
              <a:t>	</a:t>
            </a:r>
            <a:r>
              <a:rPr lang="en-US" sz="2800" b="1" dirty="0"/>
              <a:t>}</a:t>
            </a:r>
          </a:p>
          <a:p>
            <a:pPr>
              <a:buFont typeface="Monotype Sorts" pitchFamily="2" charset="2"/>
              <a:buNone/>
              <a:defRPr/>
            </a:pP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4330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4523" y="336959"/>
            <a:ext cx="7772400" cy="576262"/>
          </a:xfrm>
        </p:spPr>
        <p:txBody>
          <a:bodyPr>
            <a:normAutofit fontScale="90000"/>
          </a:bodyPr>
          <a:lstStyle/>
          <a:p>
            <a:r>
              <a:rPr lang="ru-RU" altLang="ru-RU" b="1" dirty="0"/>
              <a:t>Цикл с постусловием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938" y="1191850"/>
            <a:ext cx="8353425" cy="5472112"/>
          </a:xfrm>
        </p:spPr>
        <p:txBody>
          <a:bodyPr>
            <a:norm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ru-RU" sz="2800" dirty="0"/>
              <a:t>do S while (</a:t>
            </a:r>
            <a:r>
              <a:rPr lang="ru-RU" altLang="ru-RU" sz="2800" dirty="0"/>
              <a:t>условие</a:t>
            </a:r>
            <a:r>
              <a:rPr lang="en-US" altLang="ru-RU" sz="2800" dirty="0"/>
              <a:t>);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ru-RU" sz="2800" dirty="0"/>
          </a:p>
          <a:p>
            <a:pPr>
              <a:buFont typeface="Monotype Sorts" pitchFamily="2" charset="2"/>
              <a:buNone/>
              <a:defRPr/>
            </a:pPr>
            <a:r>
              <a:rPr lang="ru-RU" sz="28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Если в теле цикла предусмотрено несколько действий</a:t>
            </a:r>
            <a:r>
              <a:rPr lang="en-US" sz="28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:</a:t>
            </a:r>
            <a:endParaRPr lang="en-US" altLang="ru-RU" sz="2800" i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altLang="ru-RU" sz="2800" dirty="0"/>
              <a:t>do 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ru-RU" sz="2800" b="1" dirty="0"/>
              <a:t>{</a:t>
            </a:r>
            <a:r>
              <a:rPr lang="en-US" altLang="ru-RU" sz="2800" dirty="0"/>
              <a:t>	S1;</a:t>
            </a:r>
          </a:p>
          <a:p>
            <a:pPr>
              <a:buFont typeface="Monotype Sorts" pitchFamily="2" charset="2"/>
              <a:buNone/>
              <a:defRPr/>
            </a:pPr>
            <a:r>
              <a:rPr lang="ru-RU" altLang="ru-RU" sz="2800" dirty="0"/>
              <a:t>	</a:t>
            </a:r>
            <a:r>
              <a:rPr lang="en-US" altLang="ru-RU" sz="2800" dirty="0"/>
              <a:t>S2;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ru-RU" sz="2800" dirty="0"/>
              <a:t> </a:t>
            </a:r>
            <a:r>
              <a:rPr lang="ru-RU" altLang="ru-RU" sz="2800" dirty="0"/>
              <a:t>	</a:t>
            </a:r>
            <a:r>
              <a:rPr lang="en-US" altLang="ru-RU" sz="2800" dirty="0"/>
              <a:t>…</a:t>
            </a:r>
          </a:p>
          <a:p>
            <a:pPr>
              <a:buFont typeface="Monotype Sorts" pitchFamily="2" charset="2"/>
              <a:buNone/>
              <a:defRPr/>
            </a:pPr>
            <a:r>
              <a:rPr lang="ru-RU" altLang="ru-RU" sz="2800" dirty="0"/>
              <a:t>	</a:t>
            </a:r>
            <a:r>
              <a:rPr lang="en-US" altLang="ru-RU" sz="2800" dirty="0"/>
              <a:t>Sn;</a:t>
            </a:r>
            <a:r>
              <a:rPr lang="ru-RU" altLang="ru-RU" sz="2800" dirty="0"/>
              <a:t>  </a:t>
            </a:r>
            <a:r>
              <a:rPr lang="en-US" altLang="ru-RU" sz="2800" b="1" dirty="0"/>
              <a:t>}</a:t>
            </a:r>
            <a:r>
              <a:rPr lang="ru-RU" altLang="ru-RU" sz="2800" b="1" dirty="0"/>
              <a:t>  </a:t>
            </a:r>
            <a:r>
              <a:rPr lang="en-US" altLang="ru-RU" sz="2800" dirty="0"/>
              <a:t>while (</a:t>
            </a:r>
            <a:r>
              <a:rPr lang="ru-RU" altLang="ru-RU" sz="2800" dirty="0"/>
              <a:t>условие</a:t>
            </a:r>
            <a:r>
              <a:rPr lang="en-US" altLang="ru-RU" sz="2800" dirty="0"/>
              <a:t>);</a:t>
            </a:r>
            <a:endParaRPr lang="ru-RU" altLang="ru-RU" sz="28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69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500" y="348343"/>
            <a:ext cx="8596668" cy="722811"/>
          </a:xfrm>
        </p:spPr>
        <p:txBody>
          <a:bodyPr/>
          <a:lstStyle/>
          <a:p>
            <a:r>
              <a:rPr lang="ru-RU" i="1" dirty="0"/>
              <a:t>Пример использования цикла</a:t>
            </a:r>
            <a:r>
              <a:rPr lang="en-US" i="1" dirty="0"/>
              <a:t> </a:t>
            </a:r>
            <a:r>
              <a:rPr lang="en-US" dirty="0"/>
              <a:t>while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81" y="4898635"/>
            <a:ext cx="7895953" cy="15737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93" y="1254557"/>
            <a:ext cx="10555976" cy="314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перебора </a:t>
            </a:r>
            <a:r>
              <a:rPr lang="en-US" dirty="0" err="1"/>
              <a:t>foreach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11949"/>
            <a:ext cx="8596668" cy="3880773"/>
          </a:xfrm>
        </p:spPr>
        <p:txBody>
          <a:bodyPr>
            <a:normAutofit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просмотра всех объектов из некоторой группы данных, например, массива, списка или другого контейнера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" y="3260756"/>
            <a:ext cx="8780746" cy="9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2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передачи управления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46784"/>
            <a:ext cx="8981016" cy="2672668"/>
          </a:xfrm>
        </p:spPr>
        <p:txBody>
          <a:bodyPr>
            <a:normAutofit fontScale="92500"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безусловного перехода </a:t>
            </a:r>
            <a:r>
              <a:rPr lang="en-US" sz="2800" dirty="0" err="1"/>
              <a:t>goto</a:t>
            </a:r>
            <a:endParaRPr lang="en-US" sz="2800" dirty="0"/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выхода из цикла </a:t>
            </a:r>
            <a:r>
              <a:rPr lang="en-US" sz="2800" dirty="0"/>
              <a:t>break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перехода к следующей итерации цикла </a:t>
            </a:r>
            <a:r>
              <a:rPr lang="en-US" sz="2800" dirty="0"/>
              <a:t>continue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возврата результата из функции </a:t>
            </a:r>
            <a:r>
              <a:rPr lang="en-US" sz="2800" dirty="0"/>
              <a:t>return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генерации исключения </a:t>
            </a:r>
            <a:r>
              <a:rPr lang="en-US" sz="2800" dirty="0"/>
              <a:t>throw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80172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CEBB6-0D04-4A4A-9DE4-69AF96DC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07883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Упражнения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6869C8-CBBF-4DF8-A7D0-4EC6A9F5E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414" y="1946104"/>
            <a:ext cx="9232421" cy="4108708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  <a:buClr>
                <a:srgbClr val="C00000"/>
              </a:buClr>
              <a:buSzPct val="110000"/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помощью цикла вывести на экран целые 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чётные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числа  в диапазоне 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15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до 180.</a:t>
            </a:r>
          </a:p>
          <a:p>
            <a:pPr marL="457200" indent="-457200">
              <a:spcBef>
                <a:spcPts val="1200"/>
              </a:spcBef>
              <a:buClr>
                <a:srgbClr val="C00000"/>
              </a:buClr>
              <a:buSzPct val="110000"/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помощью цикла вывести на экран целые 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кратные </a:t>
            </a: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числа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диапазоне от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N1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N2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spcBef>
                <a:spcPts val="1200"/>
              </a:spcBef>
              <a:buClr>
                <a:srgbClr val="C00000"/>
              </a:buClr>
              <a:buSzPct val="110000"/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помощью цикла вывести на </a:t>
            </a:r>
            <a:r>
              <a:rPr lang="ru-RU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экран </a:t>
            </a:r>
            <a:r>
              <a:rPr lang="ru-RU" sz="2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первых </a:t>
            </a:r>
            <a:r>
              <a:rPr lang="ru-RU" sz="2400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ru-RU" sz="24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натуральных чисел, 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кратных 13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spcBef>
                <a:spcPts val="1200"/>
              </a:spcBef>
              <a:buClr>
                <a:srgbClr val="C00000"/>
              </a:buClr>
              <a:buSzPct val="110000"/>
              <a:buFont typeface="+mj-lt"/>
              <a:buAutoNum type="arabicPeriod"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Найти сумму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первых </a:t>
            </a: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натуральных чисел, которые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кратны </a:t>
            </a: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или </a:t>
            </a: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9556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>
          <a:xfrm>
            <a:off x="2136990" y="544428"/>
            <a:ext cx="6578643" cy="566737"/>
          </a:xfrm>
        </p:spPr>
        <p:txBody>
          <a:bodyPr>
            <a:noAutofit/>
          </a:bodyPr>
          <a:lstStyle/>
          <a:p>
            <a:r>
              <a:rPr lang="ru-RU" b="1" dirty="0"/>
              <a:t>Выводы:</a:t>
            </a:r>
          </a:p>
        </p:txBody>
      </p:sp>
      <p:sp>
        <p:nvSpPr>
          <p:cNvPr id="22531" name="Объект 2"/>
          <p:cNvSpPr>
            <a:spLocks noGrp="1"/>
          </p:cNvSpPr>
          <p:nvPr>
            <p:ph idx="1"/>
          </p:nvPr>
        </p:nvSpPr>
        <p:spPr>
          <a:xfrm>
            <a:off x="629465" y="1809151"/>
            <a:ext cx="8440394" cy="41632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400" dirty="0"/>
              <a:t>Проверьте, присвоены ли переменным начальные значения </a:t>
            </a:r>
            <a:r>
              <a:rPr lang="ru-RU" sz="2400" b="1" dirty="0">
                <a:solidFill>
                  <a:schemeClr val="tx1"/>
                </a:solidFill>
              </a:rPr>
              <a:t>до входа в цикл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/>
              <a:t>Проверьте, изменяется ли в цикле хотя бы одна переменная, входящая в условие выхода из цикла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/>
              <a:t>В циклах с условием лучше предусмотреть аварийный выход из цикла при достижении максимально допустимого числа итераций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/>
              <a:t>Проверьте, заключили ли вы в фигурные скобки тело цикла</a:t>
            </a:r>
          </a:p>
        </p:txBody>
      </p:sp>
      <p:pic>
        <p:nvPicPr>
          <p:cNvPr id="22532" name="Picture 2" descr="C:\Users\Рабочая\AppData\Local\Microsoft\Windows\Temporary Internet Files\Content.IE5\FKDTZVPE\MC90041132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9465" y="305058"/>
            <a:ext cx="1309041" cy="104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62648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33" y="1065929"/>
            <a:ext cx="4959855" cy="3900392"/>
          </a:xfrm>
          <a:prstGeom prst="rect">
            <a:avLst/>
          </a:prstGeom>
        </p:spPr>
      </p:pic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738506" y="287657"/>
            <a:ext cx="7543800" cy="1177037"/>
          </a:xfrm>
        </p:spPr>
        <p:txBody>
          <a:bodyPr>
            <a:normAutofit/>
          </a:bodyPr>
          <a:lstStyle/>
          <a:p>
            <a:r>
              <a:rPr lang="ru-RU" altLang="ru-RU" sz="4300" b="1" dirty="0">
                <a:solidFill>
                  <a:srgbClr val="C00000"/>
                </a:solidFill>
                <a:latin typeface="+mn-lt"/>
              </a:rPr>
              <a:t>Задача 4</a:t>
            </a:r>
            <a:r>
              <a:rPr lang="en-US" altLang="ru-RU" sz="4300" b="1" dirty="0">
                <a:solidFill>
                  <a:srgbClr val="FF0000"/>
                </a:solidFill>
              </a:rPr>
              <a:t/>
            </a:r>
            <a:br>
              <a:rPr lang="en-US" altLang="ru-RU" sz="4300" b="1" dirty="0">
                <a:solidFill>
                  <a:srgbClr val="FF0000"/>
                </a:solidFill>
              </a:rPr>
            </a:br>
            <a:r>
              <a:rPr lang="ru-RU" altLang="ru-RU" sz="3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Стрельба по мишени</a:t>
            </a:r>
            <a:endParaRPr lang="ru-RU" altLang="ru-RU" sz="4300" b="1" dirty="0">
              <a:solidFill>
                <a:srgbClr val="FF0000"/>
              </a:solidFill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300253" y="2026387"/>
            <a:ext cx="6701909" cy="4020186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Имеется мишень с центром в начале координат, с тремя окружностями: радиусом 1, радиусом 2 и радиусом 3.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Производится 3 выстрела по мишени, причём при попадании в малый круг начисляется </a:t>
            </a:r>
            <a:b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очков, в кольцо между первым и вторым </a:t>
            </a:r>
            <a:b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очков, в кольцо между вторым и третьим </a:t>
            </a:r>
            <a:b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очка, вне мишени 0 очков.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ru-RU" alt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сумму очков за три выстрела.</a:t>
            </a:r>
          </a:p>
          <a:p>
            <a:pPr algn="just" eaLnBrk="1" hangingPunct="1">
              <a:buFont typeface="Wingdings" pitchFamily="2" charset="2"/>
              <a:buNone/>
            </a:pPr>
            <a:endParaRPr lang="ru-RU" altLang="ru-RU" sz="2400" b="1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2852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-.5"/>
                                          </p:val>
                                        </p:tav>
                                        <p:tav tm="50000">
                                          <p:val>
                                            <p:strVal val="#ppt_w-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-.5"/>
                                          </p:val>
                                        </p:tav>
                                        <p:tav tm="100000">
                                          <p:val>
                                            <p:strVal val="ppt_w-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0">
                                          <p:val>
                                            <p:strVal val="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8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2" grpId="1"/>
      <p:bldP spid="92163" grpId="0" build="p"/>
      <p:bldP spid="92163" grpId="1" build="allAtOnce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82" y="-1"/>
            <a:ext cx="3123421" cy="686000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0251" y="278674"/>
            <a:ext cx="6295671" cy="670560"/>
          </a:xfrm>
        </p:spPr>
        <p:txBody>
          <a:bodyPr/>
          <a:lstStyle/>
          <a:p>
            <a:r>
              <a:rPr lang="ru-RU" dirty="0">
                <a:solidFill>
                  <a:srgbClr val="C00000"/>
                </a:solidFill>
              </a:rPr>
              <a:t>Алгоритм решения задачи 4</a:t>
            </a:r>
          </a:p>
        </p:txBody>
      </p:sp>
    </p:spTree>
    <p:extLst>
      <p:ext uri="{BB962C8B-B14F-4D97-AF65-F5344CB8AC3E}">
        <p14:creationId xmlns:p14="http://schemas.microsoft.com/office/powerpoint/2010/main" val="436744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84316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  <a:latin typeface="+mn-lt"/>
              </a:rPr>
              <a:t>Задача 5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68419" y="2127482"/>
            <a:ext cx="6822934" cy="1876002"/>
          </a:xfrm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Используя операторы цикла, нарисовать на экране «ромб» из звездочек. 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Ширина ромба (то есть, количество звездочек в его самой широкой части), может быть разным. 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при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68920"/>
            <a:ext cx="1669567" cy="282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469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471" y="578370"/>
            <a:ext cx="9601196" cy="751665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+mn-lt"/>
              </a:rPr>
              <a:t>Домашнее 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7328" y="2160589"/>
            <a:ext cx="5699716" cy="3112055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Нарисовать на экране фигуру из звездочек в виде «кулис». 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звездочек в верхней строке любое (нечетное).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839" y="2035775"/>
            <a:ext cx="3490827" cy="373894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469933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TM02900743[[fn=Натуральные материалы]]</Template>
  <TotalTime>1929</TotalTime>
  <Words>1363</Words>
  <Application>Microsoft Office PowerPoint</Application>
  <PresentationFormat>Широкоэкранный</PresentationFormat>
  <Paragraphs>293</Paragraphs>
  <Slides>55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9" baseType="lpstr">
      <vt:lpstr>Arial</vt:lpstr>
      <vt:lpstr>Calibri</vt:lpstr>
      <vt:lpstr>Calibri Light</vt:lpstr>
      <vt:lpstr>Consolas</vt:lpstr>
      <vt:lpstr>Courier New</vt:lpstr>
      <vt:lpstr>Monotype Sorts</vt:lpstr>
      <vt:lpstr>Symbol</vt:lpstr>
      <vt:lpstr>Times New Roman</vt:lpstr>
      <vt:lpstr>Trebuchet MS</vt:lpstr>
      <vt:lpstr>Wingdings</vt:lpstr>
      <vt:lpstr>Wingdings 3</vt:lpstr>
      <vt:lpstr>Аспект</vt:lpstr>
      <vt:lpstr>Ретро</vt:lpstr>
      <vt:lpstr>Visio</vt:lpstr>
      <vt:lpstr>Основные сведения о языке C# </vt:lpstr>
      <vt:lpstr>Основные понятия языка</vt:lpstr>
      <vt:lpstr>Состав языка</vt:lpstr>
      <vt:lpstr>Лексемы (token)</vt:lpstr>
      <vt:lpstr>Выражения и операторы</vt:lpstr>
      <vt:lpstr>Идентификаторы</vt:lpstr>
      <vt:lpstr>Комментарии</vt:lpstr>
      <vt:lpstr>Ключевые слова C#</vt:lpstr>
      <vt:lpstr>Операции и приоритет операций</vt:lpstr>
      <vt:lpstr>Типы данных</vt:lpstr>
      <vt:lpstr>Классификация типов данных C#</vt:lpstr>
      <vt:lpstr>Презентация PowerPoint</vt:lpstr>
      <vt:lpstr>Константы (литералы)</vt:lpstr>
      <vt:lpstr>Суффиксы при описании констант</vt:lpstr>
      <vt:lpstr>Примеры литералов C#</vt:lpstr>
      <vt:lpstr>Примеры объявления переменных и констант</vt:lpstr>
      <vt:lpstr>Синтаксис и семантика основных конструкций</vt:lpstr>
      <vt:lpstr>Оператор присваивания</vt:lpstr>
      <vt:lpstr>Оператор вывода на консоль</vt:lpstr>
      <vt:lpstr>Работа с цветом, перенос курсора</vt:lpstr>
      <vt:lpstr>Оператор ввода с консоли</vt:lpstr>
      <vt:lpstr>Преобразование к указанному типу с помощью Parse</vt:lpstr>
      <vt:lpstr>Ввод значений и вывод их на экран:</vt:lpstr>
      <vt:lpstr>Условный оператор</vt:lpstr>
      <vt:lpstr>Условия могут быть простыми и составными</vt:lpstr>
      <vt:lpstr>Условная тернарная операция</vt:lpstr>
      <vt:lpstr>Код значительно укорачивается</vt:lpstr>
      <vt:lpstr>Условная тернарная операция</vt:lpstr>
      <vt:lpstr>Пример вложения условных тернарных операций</vt:lpstr>
      <vt:lpstr>Задача 1</vt:lpstr>
      <vt:lpstr>Алгоритм решения задачи 1</vt:lpstr>
      <vt:lpstr>Найди ошибку!</vt:lpstr>
      <vt:lpstr>Презентация PowerPoint</vt:lpstr>
      <vt:lpstr>Можно и так:</vt:lpstr>
      <vt:lpstr>Задача 2</vt:lpstr>
      <vt:lpstr>Оператор множественного ветвления switch</vt:lpstr>
      <vt:lpstr>Задача 3</vt:lpstr>
      <vt:lpstr>Циклы</vt:lpstr>
      <vt:lpstr>Циклический процесс</vt:lpstr>
      <vt:lpstr>Цикл с известным числом повторений</vt:lpstr>
      <vt:lpstr>Примеры использования цикла for</vt:lpstr>
      <vt:lpstr>Если в теле цикла несколько действий:</vt:lpstr>
      <vt:lpstr>Циклы с условием</vt:lpstr>
      <vt:lpstr>Алгоритм цикла с условием</vt:lpstr>
      <vt:lpstr>Цикл с предусловием</vt:lpstr>
      <vt:lpstr>Цикл с постусловием</vt:lpstr>
      <vt:lpstr>Пример использования цикла while</vt:lpstr>
      <vt:lpstr>Цикл перебора foreach</vt:lpstr>
      <vt:lpstr>Операторы передачи управления</vt:lpstr>
      <vt:lpstr>Упражнения</vt:lpstr>
      <vt:lpstr>Выводы:</vt:lpstr>
      <vt:lpstr>Задача 4 Стрельба по мишени</vt:lpstr>
      <vt:lpstr>Алгоритм решения задачи 4</vt:lpstr>
      <vt:lpstr>Задача 5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сведения о языке C#</dc:title>
  <dc:creator>Наталья</dc:creator>
  <cp:lastModifiedBy>user</cp:lastModifiedBy>
  <cp:revision>87</cp:revision>
  <dcterms:created xsi:type="dcterms:W3CDTF">2022-09-13T12:58:25Z</dcterms:created>
  <dcterms:modified xsi:type="dcterms:W3CDTF">2025-09-10T15:05:11Z</dcterms:modified>
</cp:coreProperties>
</file>